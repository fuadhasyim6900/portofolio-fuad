
<file path=[Content_Types].xml><?xml version="1.0" encoding="utf-8"?>
<Types xmlns="http://schemas.openxmlformats.org/package/2006/content-types">
  <Default ContentType="image/jpeg" Extension="jpg"/>
  <Default ContentType="application/vnd.openxmlformats-officedocument.spreadsheetml.sheet" Extension="xlsx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3.xml"/>
  <Override ContentType="application/vnd.openxmlformats-officedocument.drawingml.chart+xml" PartName="/ppt/charts/chart8.xml"/>
  <Override ContentType="application/vnd.openxmlformats-officedocument.drawingml.chart+xml" PartName="/ppt/charts/chart9.xml"/>
  <Override ContentType="application/vnd.openxmlformats-officedocument.drawingml.chart+xml" PartName="/ppt/charts/chart2.xml"/>
  <Override ContentType="application/vnd.openxmlformats-officedocument.drawingml.chart+xml" PartName="/ppt/charts/chart7.xml"/>
  <Override ContentType="application/vnd.openxmlformats-officedocument.drawingml.chart+xml" PartName="/ppt/charts/chart5.xml"/>
  <Override ContentType="application/vnd.openxmlformats-officedocument.drawingml.chart+xml" PartName="/ppt/charts/chart4.xml"/>
  <Override ContentType="application/vnd.openxmlformats-officedocument.drawingml.chart+xml" PartName="/ppt/charts/chart6.xml"/>
  <Override ContentType="application/vnd.openxmlformats-officedocument.drawingml.chart+xml" PartName="/ppt/charts/chart1.xml"/>
  <Override ContentType="application/vnd.openxmlformats-officedocument.drawingml.chart+xml" PartName="/ppt/charts/chart1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10287000" cx="18288000"/>
  <p:notesSz cx="6858000" cy="9144000"/>
  <p:embeddedFontLst>
    <p:embeddedFont>
      <p:font typeface="Corben"/>
      <p:regular r:id="rId28"/>
      <p:bold r:id="rId29"/>
    </p:embeddedFont>
    <p:embeddedFont>
      <p:font typeface="Open Sans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4" roundtripDataSignature="AMtx7mgWXMxdBPd8qsCBqsCAoubJ0FkrW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FAF07DB-3F23-439C-A64D-C9F2B86FFE39}">
  <a:tblStyle styleId="{FFAF07DB-3F23-439C-A64D-C9F2B86FFE3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fill>
          <a:solidFill>
            <a:schemeClr val="dk1">
              <a:alpha val="20000"/>
            </a:schemeClr>
          </a:solidFill>
        </a:fill>
      </a:tcStyle>
    </a:band1H>
    <a:band2H>
      <a:tcTxStyle/>
    </a:band2H>
    <a:band1V>
      <a:tcTxStyle/>
      <a:tcStyle>
        <a:fill>
          <a:solidFill>
            <a:schemeClr val="dk1">
              <a:alpha val="20000"/>
            </a:schemeClr>
          </a:solidFill>
        </a:fill>
      </a:tcStyle>
    </a:band1V>
    <a:band2V>
      <a:tcTxStyle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</a:seCell>
    <a:swCell>
      <a:tcTxStyle/>
    </a:swCell>
    <a:firstRow>
      <a:tcTxStyle b="on" i="off"/>
      <a:tcStyle>
        <a:tcBdr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</a:neCell>
    <a:nwCell>
      <a:tcTxStyle/>
    </a:nwCell>
  </a:tblStyle>
  <a:tblStyle styleId="{1589B4EB-BA30-4EBB-8806-44578B72CA82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fill>
          <a:solidFill>
            <a:schemeClr val="accent1">
              <a:alpha val="20000"/>
            </a:schemeClr>
          </a:solidFill>
        </a:fill>
      </a:tcStyle>
    </a:band1H>
    <a:band2H>
      <a:tcTxStyle/>
    </a:band2H>
    <a:band1V>
      <a:tcTxStyle/>
      <a:tcStyle>
        <a:fill>
          <a:solidFill>
            <a:schemeClr val="accent1">
              <a:alpha val="20000"/>
            </a:schemeClr>
          </a:solidFill>
        </a:fill>
      </a:tcStyle>
    </a:band1V>
    <a:band2V>
      <a:tcTxStyle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</a:seCell>
    <a:swCell>
      <a:tcTxStyle/>
    </a:swCell>
    <a:firstRow>
      <a:tcTxStyle b="on" i="off"/>
      <a:tcStyle>
        <a:tcBdr>
          <a:bottom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</a:neCell>
    <a:nwCell>
      <a:tcTxStyle/>
    </a:nwCell>
  </a:tblStyle>
  <a:tblStyle styleId="{3544428E-F410-42F9-ADE3-3E539B698486}" styleName="Table_2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fill>
          <a:solidFill>
            <a:srgbClr val="CACACA"/>
          </a:solidFill>
        </a:fill>
      </a:tcStyle>
    </a:band1H>
    <a:band2H>
      <a:tcTxStyle/>
    </a:band2H>
    <a:band1V>
      <a:tcTxStyle/>
      <a:tcStyle>
        <a:fill>
          <a:solidFill>
            <a:srgbClr val="CACACA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dk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dk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dk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dk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Corben-regular.fntdata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Corben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OpenSans-bold.fntdata"/><Relationship Id="rId30" Type="http://schemas.openxmlformats.org/officeDocument/2006/relationships/font" Target="fonts/OpenSans-regular.fntdata"/><Relationship Id="rId11" Type="http://schemas.openxmlformats.org/officeDocument/2006/relationships/slide" Target="slides/slide5.xml"/><Relationship Id="rId33" Type="http://schemas.openxmlformats.org/officeDocument/2006/relationships/font" Target="fonts/OpenSans-boldItalic.fntdata"/><Relationship Id="rId10" Type="http://schemas.openxmlformats.org/officeDocument/2006/relationships/slide" Target="slides/slide4.xml"/><Relationship Id="rId32" Type="http://schemas.openxmlformats.org/officeDocument/2006/relationships/font" Target="fonts/OpenSans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customschemas.google.com/relationships/presentationmetadata" Target="meta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40"/>
    </mc:Choice>
    <mc:Fallback>
      <c:style val="40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/>
              <a:t>Total sales by Channel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Pharmacy</c:v>
                </c:pt>
              </c:strCache>
            </c:strRef>
          </c:tx>
          <c:invertIfNegative val="0"/>
          <c:dLbls>
            <c:dLbl>
              <c:idx val="0"/>
              <c:layout/>
              <c:tx>
                <c:rich>
                  <a:bodyPr/>
                  <a:lstStyle/>
                  <a:p>
                    <a:r>
                      <a:rPr lang="en-US" dirty="0" smtClean="0"/>
                      <a:t>1,45bn</a:t>
                    </a:r>
                    <a:endParaRPr lang="en-US" dirty="0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/>
              <c:tx>
                <c:rich>
                  <a:bodyPr/>
                  <a:lstStyle/>
                  <a:p>
                    <a:r>
                      <a:rPr lang="en-US" smtClean="0"/>
                      <a:t>1,83bn</a:t>
                    </a:r>
                    <a:endParaRPr 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/>
              <c:tx>
                <c:rich>
                  <a:bodyPr/>
                  <a:lstStyle/>
                  <a:p>
                    <a:r>
                      <a:rPr lang="en-US" smtClean="0"/>
                      <a:t>1,53bn</a:t>
                    </a:r>
                    <a:endParaRPr 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/>
              <c:tx>
                <c:rich>
                  <a:bodyPr/>
                  <a:lstStyle/>
                  <a:p>
                    <a:r>
                      <a:rPr lang="en-US" smtClean="0"/>
                      <a:t>1,46bn</a:t>
                    </a:r>
                    <a:endParaRPr 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Sheet1!$A$2:$A$5</c:f>
              <c:numCache>
                <c:formatCode>General</c:formatCode>
                <c:ptCount val="4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1.45</c:v>
                </c:pt>
                <c:pt idx="1">
                  <c:v>1.83</c:v>
                </c:pt>
                <c:pt idx="2">
                  <c:v>1.53</c:v>
                </c:pt>
                <c:pt idx="3">
                  <c:v>1.46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Hospital</c:v>
                </c:pt>
              </c:strCache>
            </c:strRef>
          </c:tx>
          <c:invertIfNegative val="0"/>
          <c:dLbls>
            <c:dLbl>
              <c:idx val="0"/>
              <c:layout/>
              <c:tx>
                <c:rich>
                  <a:bodyPr/>
                  <a:lstStyle/>
                  <a:p>
                    <a:r>
                      <a:rPr lang="en-US" smtClean="0"/>
                      <a:t>1,25bn</a:t>
                    </a:r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/>
              <c:tx>
                <c:rich>
                  <a:bodyPr/>
                  <a:lstStyle/>
                  <a:p>
                    <a:r>
                      <a:rPr lang="en-US" smtClean="0"/>
                      <a:t>1,7bn</a:t>
                    </a:r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/>
              <c:tx>
                <c:rich>
                  <a:bodyPr/>
                  <a:lstStyle/>
                  <a:p>
                    <a:r>
                      <a:rPr lang="en-US" smtClean="0"/>
                      <a:t>1,43bn</a:t>
                    </a:r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/>
              <c:tx>
                <c:rich>
                  <a:bodyPr/>
                  <a:lstStyle/>
                  <a:p>
                    <a:r>
                      <a:rPr lang="en-US" smtClean="0"/>
                      <a:t>1,25bn</a:t>
                    </a:r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Sheet1!$A$2:$A$5</c:f>
              <c:numCache>
                <c:formatCode>General</c:formatCode>
                <c:ptCount val="4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</c:numCache>
            </c:num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1.25</c:v>
                </c:pt>
                <c:pt idx="1">
                  <c:v>1.7</c:v>
                </c:pt>
                <c:pt idx="2">
                  <c:v>1.43</c:v>
                </c:pt>
                <c:pt idx="3">
                  <c:v>1.25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5"/>
        <c:overlap val="-25"/>
        <c:axId val="175072768"/>
        <c:axId val="176104576"/>
      </c:barChart>
      <c:catAx>
        <c:axId val="1750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crossAx val="176104576"/>
        <c:crosses val="autoZero"/>
        <c:auto val="1"/>
        <c:lblAlgn val="ctr"/>
        <c:lblOffset val="100"/>
        <c:noMultiLvlLbl val="0"/>
      </c:catAx>
      <c:valAx>
        <c:axId val="176104576"/>
        <c:scaling>
          <c:orientation val="minMax"/>
        </c:scaling>
        <c:delete val="0"/>
        <c:axPos val="l"/>
        <c:majorGridlines/>
        <c:numFmt formatCode="[$$-409]#,##0.00" sourceLinked="0"/>
        <c:majorTickMark val="none"/>
        <c:minorTickMark val="none"/>
        <c:tickLblPos val="nextTo"/>
        <c:crossAx val="175072768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40"/>
    </mc:Choice>
    <mc:Fallback>
      <c:style val="40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/>
              <a:t>Total Sales by Country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</c:v>
                </c:pt>
              </c:strCache>
            </c:strRef>
          </c:tx>
          <c:invertIfNegative val="0"/>
          <c:dLbls>
            <c:dLbl>
              <c:idx val="0"/>
              <c:layout/>
              <c:tx>
                <c:rich>
                  <a:bodyPr/>
                  <a:lstStyle/>
                  <a:p>
                    <a:r>
                      <a:rPr lang="en-US" smtClean="0"/>
                      <a:t>0,68 bn</a:t>
                    </a:r>
                    <a:endParaRPr lang="en-US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/>
              <c:tx>
                <c:rich>
                  <a:bodyPr/>
                  <a:lstStyle/>
                  <a:p>
                    <a:r>
                      <a:rPr lang="en-US" smtClean="0"/>
                      <a:t>11,26 bn</a:t>
                    </a:r>
                    <a:endParaRPr lang="en-US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Poland</c:v>
                </c:pt>
                <c:pt idx="1">
                  <c:v>Germany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0.68</c:v>
                </c:pt>
                <c:pt idx="1">
                  <c:v>11.26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5"/>
        <c:overlap val="-25"/>
        <c:axId val="177414912"/>
        <c:axId val="177417600"/>
      </c:barChart>
      <c:catAx>
        <c:axId val="1774149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crossAx val="177417600"/>
        <c:crosses val="autoZero"/>
        <c:auto val="1"/>
        <c:lblAlgn val="ctr"/>
        <c:lblOffset val="100"/>
        <c:noMultiLvlLbl val="0"/>
      </c:catAx>
      <c:valAx>
        <c:axId val="177417600"/>
        <c:scaling>
          <c:orientation val="minMax"/>
        </c:scaling>
        <c:delete val="0"/>
        <c:axPos val="b"/>
        <c:majorGridlines/>
        <c:numFmt formatCode="[$$-409]#,##0.00" sourceLinked="0"/>
        <c:majorTickMark val="none"/>
        <c:minorTickMark val="none"/>
        <c:tickLblPos val="nextTo"/>
        <c:crossAx val="177414912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40"/>
    </mc:Choice>
    <mc:Fallback>
      <c:style val="40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/>
              <a:t>Top 10 Total Sales by City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Sum of Sales</c:v>
                </c:pt>
              </c:strCache>
            </c:strRef>
          </c:tx>
          <c:invertIfNegative val="0"/>
          <c:dLbls>
            <c:dLbl>
              <c:idx val="0"/>
              <c:layout/>
              <c:tx>
                <c:rich>
                  <a:bodyPr/>
                  <a:lstStyle/>
                  <a:p>
                    <a:r>
                      <a:rPr lang="en-US" dirty="0" smtClean="0"/>
                      <a:t>43,8 m</a:t>
                    </a:r>
                    <a:endParaRPr lang="en-US" dirty="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/>
              <c:tx>
                <c:rich>
                  <a:bodyPr/>
                  <a:lstStyle/>
                  <a:p>
                    <a:r>
                      <a:rPr lang="en-US" dirty="0" smtClean="0"/>
                      <a:t>43,8 m</a:t>
                    </a:r>
                    <a:endParaRPr lang="en-US" dirty="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/>
              <c:tx>
                <c:rich>
                  <a:bodyPr/>
                  <a:lstStyle/>
                  <a:p>
                    <a:r>
                      <a:rPr lang="en-US" smtClean="0"/>
                      <a:t>44,7m</a:t>
                    </a:r>
                    <a:endParaRPr lang="en-US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/>
              <c:tx>
                <c:rich>
                  <a:bodyPr/>
                  <a:lstStyle/>
                  <a:p>
                    <a:r>
                      <a:rPr lang="en-US" smtClean="0"/>
                      <a:t>46,1m</a:t>
                    </a:r>
                    <a:endParaRPr lang="en-US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layout/>
              <c:tx>
                <c:rich>
                  <a:bodyPr/>
                  <a:lstStyle/>
                  <a:p>
                    <a:r>
                      <a:rPr lang="en-US" smtClean="0"/>
                      <a:t>50,9m</a:t>
                    </a:r>
                    <a:endParaRPr lang="en-US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layout/>
              <c:tx>
                <c:rich>
                  <a:bodyPr/>
                  <a:lstStyle/>
                  <a:p>
                    <a:r>
                      <a:rPr lang="en-US" smtClean="0"/>
                      <a:t>52,3m</a:t>
                    </a:r>
                    <a:endParaRPr lang="en-US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layout/>
              <c:tx>
                <c:rich>
                  <a:bodyPr/>
                  <a:lstStyle/>
                  <a:p>
                    <a:r>
                      <a:rPr lang="en-US" smtClean="0"/>
                      <a:t>56,3m</a:t>
                    </a:r>
                    <a:endParaRPr lang="en-US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layout/>
              <c:tx>
                <c:rich>
                  <a:bodyPr/>
                  <a:lstStyle/>
                  <a:p>
                    <a:r>
                      <a:rPr lang="en-US" smtClean="0"/>
                      <a:t>64,9m</a:t>
                    </a:r>
                    <a:endParaRPr lang="en-US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layout/>
              <c:tx>
                <c:rich>
                  <a:bodyPr/>
                  <a:lstStyle/>
                  <a:p>
                    <a:r>
                      <a:rPr lang="en-US" smtClean="0"/>
                      <a:t>94,9m</a:t>
                    </a:r>
                    <a:endParaRPr lang="en-US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Sheet1!$A$2:$A$10</c:f>
              <c:strCache>
                <c:ptCount val="9"/>
                <c:pt idx="0">
                  <c:v>Freising</c:v>
                </c:pt>
                <c:pt idx="1">
                  <c:v>Trier</c:v>
                </c:pt>
                <c:pt idx="2">
                  <c:v>Bottrop</c:v>
                </c:pt>
                <c:pt idx="3">
                  <c:v>Emsdetten</c:v>
                </c:pt>
                <c:pt idx="4">
                  <c:v>Altenburg</c:v>
                </c:pt>
                <c:pt idx="5">
                  <c:v>Friedberg</c:v>
                </c:pt>
                <c:pt idx="6">
                  <c:v>Cuxhaven</c:v>
                </c:pt>
                <c:pt idx="7">
                  <c:v>Baesweiler</c:v>
                </c:pt>
                <c:pt idx="8">
                  <c:v>Butzbach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43.8</c:v>
                </c:pt>
                <c:pt idx="1">
                  <c:v>43.8</c:v>
                </c:pt>
                <c:pt idx="2">
                  <c:v>44.7</c:v>
                </c:pt>
                <c:pt idx="3">
                  <c:v>46.1</c:v>
                </c:pt>
                <c:pt idx="4">
                  <c:v>50.9</c:v>
                </c:pt>
                <c:pt idx="5">
                  <c:v>52.3</c:v>
                </c:pt>
                <c:pt idx="6">
                  <c:v>56.3</c:v>
                </c:pt>
                <c:pt idx="7">
                  <c:v>64.900000000000006</c:v>
                </c:pt>
                <c:pt idx="8">
                  <c:v>94.9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5"/>
        <c:overlap val="-25"/>
        <c:axId val="177460736"/>
        <c:axId val="177468160"/>
      </c:barChart>
      <c:catAx>
        <c:axId val="17746073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crossAx val="177468160"/>
        <c:crosses val="autoZero"/>
        <c:auto val="1"/>
        <c:lblAlgn val="ctr"/>
        <c:lblOffset val="100"/>
        <c:noMultiLvlLbl val="0"/>
      </c:catAx>
      <c:valAx>
        <c:axId val="177468160"/>
        <c:scaling>
          <c:orientation val="minMax"/>
        </c:scaling>
        <c:delete val="1"/>
        <c:axPos val="b"/>
        <c:majorGridlines/>
        <c:numFmt formatCode="[$$-409]#,##0.00" sourceLinked="0"/>
        <c:majorTickMark val="none"/>
        <c:minorTickMark val="none"/>
        <c:tickLblPos val="nextTo"/>
        <c:crossAx val="177460736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sz="1800" dirty="0" smtClean="0"/>
              <a:t>Total sales</a:t>
            </a:r>
            <a:r>
              <a:rPr lang="en-US" sz="1800" baseline="0" dirty="0" smtClean="0"/>
              <a:t> by channel</a:t>
            </a:r>
            <a:endParaRPr lang="en-US" sz="1800" dirty="0"/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Lbls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Pharmacy</c:v>
                </c:pt>
                <c:pt idx="1">
                  <c:v>Hospital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6295642619</c:v>
                </c:pt>
                <c:pt idx="1">
                  <c:v>5649814671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 val="r"/>
      <c:layout/>
      <c:overlay val="0"/>
    </c:legend>
    <c:plotVisOnly val="1"/>
    <c:dispBlanksAs val="gap"/>
    <c:showDLblsOverMax val="0"/>
  </c:chart>
  <c:spPr>
    <a:solidFill>
      <a:schemeClr val="bg1"/>
    </a:solidFill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sz="1800" dirty="0" smtClean="0"/>
              <a:t>Total sales</a:t>
            </a:r>
            <a:r>
              <a:rPr lang="en-US" sz="1800" baseline="0" dirty="0" smtClean="0"/>
              <a:t> by Sub-channel</a:t>
            </a:r>
            <a:endParaRPr lang="en-US" sz="1800" dirty="0"/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Lbls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Retail</c:v>
                </c:pt>
                <c:pt idx="1">
                  <c:v>Government</c:v>
                </c:pt>
                <c:pt idx="2">
                  <c:v>Institution</c:v>
                </c:pt>
                <c:pt idx="3">
                  <c:v>Private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3381187286</c:v>
                </c:pt>
                <c:pt idx="1">
                  <c:v>3094930867</c:v>
                </c:pt>
                <c:pt idx="2">
                  <c:v>2914455333</c:v>
                </c:pt>
                <c:pt idx="3">
                  <c:v>2554883804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 val="r"/>
      <c:layout/>
      <c:overlay val="0"/>
    </c:legend>
    <c:plotVisOnly val="1"/>
    <c:dispBlanksAs val="gap"/>
    <c:showDLblsOverMax val="0"/>
  </c:chart>
  <c:spPr>
    <a:solidFill>
      <a:schemeClr val="bg1"/>
    </a:solidFill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32"/>
    </mc:Choice>
    <mc:Fallback>
      <c:style val="3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/>
              <a:t>Top 10 sales by Distributor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Sum of Sales</c:v>
                </c:pt>
              </c:strCache>
            </c:strRef>
          </c:tx>
          <c:invertIfNegative val="0"/>
          <c:dLbls>
            <c:dLbl>
              <c:idx val="0"/>
              <c:layout/>
              <c:tx>
                <c:rich>
                  <a:bodyPr/>
                  <a:lstStyle/>
                  <a:p>
                    <a:r>
                      <a:rPr lang="en-US" dirty="0" smtClean="0"/>
                      <a:t>0,14bn</a:t>
                    </a:r>
                    <a:endParaRPr lang="en-US" dirty="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/>
              <c:tx>
                <c:rich>
                  <a:bodyPr/>
                  <a:lstStyle/>
                  <a:p>
                    <a:r>
                      <a:rPr lang="en-US" dirty="0" smtClean="0"/>
                      <a:t>0,15bn</a:t>
                    </a:r>
                    <a:endParaRPr lang="en-US" dirty="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/>
              <c:tx>
                <c:rich>
                  <a:bodyPr/>
                  <a:lstStyle/>
                  <a:p>
                    <a:r>
                      <a:rPr lang="en-US" dirty="0" smtClean="0"/>
                      <a:t>0,23bn</a:t>
                    </a:r>
                    <a:endParaRPr lang="en-US" dirty="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/>
              <c:tx>
                <c:rich>
                  <a:bodyPr/>
                  <a:lstStyle/>
                  <a:p>
                    <a:r>
                      <a:rPr lang="en-US" dirty="0" smtClean="0"/>
                      <a:t>0,26bn</a:t>
                    </a:r>
                    <a:endParaRPr lang="en-US" dirty="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layout/>
              <c:tx>
                <c:rich>
                  <a:bodyPr/>
                  <a:lstStyle/>
                  <a:p>
                    <a:r>
                      <a:rPr lang="en-US" dirty="0" smtClean="0"/>
                      <a:t>0,34bn</a:t>
                    </a:r>
                    <a:endParaRPr lang="en-US" dirty="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layout/>
              <c:tx>
                <c:rich>
                  <a:bodyPr/>
                  <a:lstStyle/>
                  <a:p>
                    <a:r>
                      <a:rPr lang="en-US" dirty="0" smtClean="0"/>
                      <a:t>0,44bn</a:t>
                    </a:r>
                    <a:endParaRPr lang="en-US" dirty="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layout/>
              <c:tx>
                <c:rich>
                  <a:bodyPr/>
                  <a:lstStyle/>
                  <a:p>
                    <a:r>
                      <a:rPr lang="en-US" dirty="0" smtClean="0"/>
                      <a:t>1,23bn</a:t>
                    </a:r>
                    <a:endParaRPr lang="en-US" dirty="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layout/>
              <c:tx>
                <c:rich>
                  <a:bodyPr/>
                  <a:lstStyle/>
                  <a:p>
                    <a:r>
                      <a:rPr lang="en-US" dirty="0" smtClean="0"/>
                      <a:t>1,54bn</a:t>
                    </a:r>
                    <a:endParaRPr lang="en-US" dirty="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layout/>
              <c:tx>
                <c:rich>
                  <a:bodyPr/>
                  <a:lstStyle/>
                  <a:p>
                    <a:r>
                      <a:rPr lang="en-US" dirty="0" smtClean="0"/>
                      <a:t>3,16bn</a:t>
                    </a:r>
                    <a:endParaRPr lang="en-US" dirty="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layout/>
              <c:tx>
                <c:rich>
                  <a:bodyPr/>
                  <a:lstStyle/>
                  <a:p>
                    <a:r>
                      <a:rPr lang="en-US" smtClean="0"/>
                      <a:t>3,54 bn</a:t>
                    </a:r>
                    <a:endParaRPr lang="en-US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Sheet1!$A$2:$A$11</c:f>
              <c:strCache>
                <c:ptCount val="10"/>
                <c:pt idx="0">
                  <c:v>Rohan and Sons</c:v>
                </c:pt>
                <c:pt idx="1">
                  <c:v>Beier</c:v>
                </c:pt>
                <c:pt idx="2">
                  <c:v>Daugherty-Rempel</c:v>
                </c:pt>
                <c:pt idx="3">
                  <c:v>Welch-Langworth</c:v>
                </c:pt>
                <c:pt idx="4">
                  <c:v>Bashirian-Kassulke</c:v>
                </c:pt>
                <c:pt idx="5">
                  <c:v>Romaguera-Fay</c:v>
                </c:pt>
                <c:pt idx="6">
                  <c:v>Kozey-Emmerich</c:v>
                </c:pt>
                <c:pt idx="7">
                  <c:v>Erdman</c:v>
                </c:pt>
                <c:pt idx="8">
                  <c:v>Koss</c:v>
                </c:pt>
                <c:pt idx="9">
                  <c:v>Gerlach LLC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0.14000000000000001</c:v>
                </c:pt>
                <c:pt idx="1">
                  <c:v>0.15</c:v>
                </c:pt>
                <c:pt idx="2">
                  <c:v>0.23</c:v>
                </c:pt>
                <c:pt idx="3">
                  <c:v>0.26</c:v>
                </c:pt>
                <c:pt idx="4">
                  <c:v>0.34</c:v>
                </c:pt>
                <c:pt idx="5">
                  <c:v>0.44</c:v>
                </c:pt>
                <c:pt idx="6">
                  <c:v>1.23</c:v>
                </c:pt>
                <c:pt idx="7">
                  <c:v>1.54</c:v>
                </c:pt>
                <c:pt idx="8">
                  <c:v>3.16</c:v>
                </c:pt>
                <c:pt idx="9">
                  <c:v>3.54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5"/>
        <c:overlap val="-25"/>
        <c:axId val="176125056"/>
        <c:axId val="177317760"/>
      </c:barChart>
      <c:catAx>
        <c:axId val="17612505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crossAx val="177317760"/>
        <c:crosses val="autoZero"/>
        <c:auto val="1"/>
        <c:lblAlgn val="ctr"/>
        <c:lblOffset val="100"/>
        <c:noMultiLvlLbl val="0"/>
      </c:catAx>
      <c:valAx>
        <c:axId val="177317760"/>
        <c:scaling>
          <c:orientation val="minMax"/>
        </c:scaling>
        <c:delete val="1"/>
        <c:axPos val="b"/>
        <c:majorGridlines/>
        <c:numFmt formatCode="[$$-409]#,##0.00" sourceLinked="0"/>
        <c:majorTickMark val="none"/>
        <c:minorTickMark val="none"/>
        <c:tickLblPos val="nextTo"/>
        <c:crossAx val="176125056"/>
        <c:crosses val="autoZero"/>
        <c:crossBetween val="between"/>
      </c:valAx>
      <c:spPr>
        <a:solidFill>
          <a:schemeClr val="bg2"/>
        </a:solidFill>
      </c:spPr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32"/>
    </mc:Choice>
    <mc:Fallback>
      <c:style val="3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/>
              <a:t>Top 10  sales by Customer name</a:t>
            </a:r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0.47854976388295684"/>
          <c:y val="0.11758621130356156"/>
          <c:w val="0.52145023611704311"/>
          <c:h val="0.76891029327658866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Sum of Sales</c:v>
                </c:pt>
              </c:strCache>
            </c:strRef>
          </c:tx>
          <c:invertIfNegative val="0"/>
          <c:dLbls>
            <c:dLbl>
              <c:idx val="0"/>
              <c:layout/>
              <c:tx>
                <c:rich>
                  <a:bodyPr/>
                  <a:lstStyle/>
                  <a:p>
                    <a:r>
                      <a:rPr lang="en-US" smtClean="0"/>
                      <a:t>41,66M</a:t>
                    </a:r>
                    <a:endParaRPr lang="en-US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/>
              <c:tx>
                <c:rich>
                  <a:bodyPr/>
                  <a:lstStyle/>
                  <a:p>
                    <a:r>
                      <a:rPr lang="en-US" smtClean="0"/>
                      <a:t>42,29M</a:t>
                    </a:r>
                    <a:endParaRPr lang="en-US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/>
              <c:tx>
                <c:rich>
                  <a:bodyPr/>
                  <a:lstStyle/>
                  <a:p>
                    <a:r>
                      <a:rPr lang="en-US" smtClean="0"/>
                      <a:t>43,85M</a:t>
                    </a:r>
                    <a:endParaRPr lang="en-US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/>
              <c:tx>
                <c:rich>
                  <a:bodyPr/>
                  <a:lstStyle/>
                  <a:p>
                    <a:r>
                      <a:rPr lang="en-US" smtClean="0"/>
                      <a:t>43,88M</a:t>
                    </a:r>
                    <a:endParaRPr lang="en-US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layout/>
              <c:tx>
                <c:rich>
                  <a:bodyPr/>
                  <a:lstStyle/>
                  <a:p>
                    <a:r>
                      <a:rPr lang="en-US" smtClean="0"/>
                      <a:t>44,71M</a:t>
                    </a:r>
                    <a:endParaRPr lang="en-US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layout/>
              <c:tx>
                <c:rich>
                  <a:bodyPr/>
                  <a:lstStyle/>
                  <a:p>
                    <a:r>
                      <a:rPr lang="en-US" smtClean="0"/>
                      <a:t>46,11M</a:t>
                    </a:r>
                    <a:endParaRPr lang="en-US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layout/>
              <c:tx>
                <c:rich>
                  <a:bodyPr/>
                  <a:lstStyle/>
                  <a:p>
                    <a:r>
                      <a:rPr lang="en-US" smtClean="0"/>
                      <a:t>50,98M</a:t>
                    </a:r>
                    <a:endParaRPr lang="en-US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layout/>
              <c:tx>
                <c:rich>
                  <a:bodyPr/>
                  <a:lstStyle/>
                  <a:p>
                    <a:r>
                      <a:rPr lang="en-US" smtClean="0"/>
                      <a:t>56,39M</a:t>
                    </a:r>
                    <a:endParaRPr lang="en-US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layout/>
              <c:tx>
                <c:rich>
                  <a:bodyPr/>
                  <a:lstStyle/>
                  <a:p>
                    <a:r>
                      <a:rPr lang="en-US" smtClean="0"/>
                      <a:t>64,91M</a:t>
                    </a:r>
                    <a:endParaRPr lang="en-US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layout/>
              <c:tx>
                <c:rich>
                  <a:bodyPr/>
                  <a:lstStyle/>
                  <a:p>
                    <a:r>
                      <a:rPr lang="en-US" smtClean="0"/>
                      <a:t>94,96M</a:t>
                    </a:r>
                    <a:endParaRPr lang="en-US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Sheet1!$A$2:$A$11</c:f>
              <c:strCache>
                <c:ptCount val="10"/>
                <c:pt idx="0">
                  <c:v>Torphy, Pfeffer and Jakubowski Pharm</c:v>
                </c:pt>
                <c:pt idx="1">
                  <c:v>Romaguera, Moen and Hagenes Pharmacy</c:v>
                </c:pt>
                <c:pt idx="2">
                  <c:v>Gleichner, Bahringer and Morar Pharmaceutical Limited</c:v>
                </c:pt>
                <c:pt idx="3">
                  <c:v>Reichel Inc</c:v>
                </c:pt>
                <c:pt idx="4">
                  <c:v>Streich PLC</c:v>
                </c:pt>
                <c:pt idx="5">
                  <c:v>Mills Inc Pharmaceutical Ltd</c:v>
                </c:pt>
                <c:pt idx="6">
                  <c:v>Moen, Murazik and Smith Pharm</c:v>
                </c:pt>
                <c:pt idx="7">
                  <c:v>Zemlak-Witting</c:v>
                </c:pt>
                <c:pt idx="8">
                  <c:v>Parker, Green and Emmerich Pharma Plc</c:v>
                </c:pt>
                <c:pt idx="9">
                  <c:v>Mraz-Kutch Pharma Plc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41.66</c:v>
                </c:pt>
                <c:pt idx="1">
                  <c:v>42.29</c:v>
                </c:pt>
                <c:pt idx="2">
                  <c:v>43.85</c:v>
                </c:pt>
                <c:pt idx="3">
                  <c:v>43.88</c:v>
                </c:pt>
                <c:pt idx="4">
                  <c:v>44.71</c:v>
                </c:pt>
                <c:pt idx="5">
                  <c:v>46.11</c:v>
                </c:pt>
                <c:pt idx="6">
                  <c:v>50.98</c:v>
                </c:pt>
                <c:pt idx="7">
                  <c:v>56.39</c:v>
                </c:pt>
                <c:pt idx="8">
                  <c:v>64.91</c:v>
                </c:pt>
                <c:pt idx="9">
                  <c:v>94.96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5"/>
        <c:overlap val="-25"/>
        <c:axId val="177560192"/>
        <c:axId val="178134400"/>
      </c:barChart>
      <c:catAx>
        <c:axId val="17756019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crossAx val="178134400"/>
        <c:crosses val="autoZero"/>
        <c:auto val="1"/>
        <c:lblAlgn val="ctr"/>
        <c:lblOffset val="100"/>
        <c:noMultiLvlLbl val="0"/>
      </c:catAx>
      <c:valAx>
        <c:axId val="178134400"/>
        <c:scaling>
          <c:orientation val="minMax"/>
        </c:scaling>
        <c:delete val="1"/>
        <c:axPos val="b"/>
        <c:majorGridlines/>
        <c:numFmt formatCode="[$$-409]#,##0.00" sourceLinked="0"/>
        <c:majorTickMark val="none"/>
        <c:minorTickMark val="none"/>
        <c:tickLblPos val="nextTo"/>
        <c:crossAx val="177560192"/>
        <c:crosses val="autoZero"/>
        <c:crossBetween val="between"/>
      </c:valAx>
      <c:spPr>
        <a:solidFill>
          <a:schemeClr val="bg2"/>
        </a:solidFill>
      </c:spPr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40"/>
    </mc:Choice>
    <mc:Fallback>
      <c:style val="40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/>
              <a:t># of Customer by cluser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invertIfNegative val="0"/>
          <c:cat>
            <c:strRef>
              <c:f>Sheet1!$A$2:$A$4</c:f>
              <c:strCache>
                <c:ptCount val="3"/>
                <c:pt idx="0">
                  <c:v>Cluster 0</c:v>
                </c:pt>
                <c:pt idx="1">
                  <c:v>Cluster 1</c:v>
                </c:pt>
                <c:pt idx="2">
                  <c:v>Cluster 2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452</c:v>
                </c:pt>
                <c:pt idx="1">
                  <c:v>200</c:v>
                </c:pt>
                <c:pt idx="2">
                  <c:v>99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79325184"/>
        <c:axId val="180682752"/>
      </c:barChart>
      <c:catAx>
        <c:axId val="179325184"/>
        <c:scaling>
          <c:orientation val="minMax"/>
        </c:scaling>
        <c:delete val="0"/>
        <c:axPos val="b"/>
        <c:majorTickMark val="out"/>
        <c:minorTickMark val="none"/>
        <c:tickLblPos val="nextTo"/>
        <c:crossAx val="180682752"/>
        <c:crosses val="autoZero"/>
        <c:auto val="1"/>
        <c:lblAlgn val="ctr"/>
        <c:lblOffset val="100"/>
        <c:noMultiLvlLbl val="0"/>
      </c:catAx>
      <c:valAx>
        <c:axId val="18068275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79325184"/>
        <c:crosses val="autoZero"/>
        <c:crossBetween val="between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40"/>
    </mc:Choice>
    <mc:Fallback>
      <c:style val="40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/>
              <a:t>Revenue by Cluster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invertIfNegative val="0"/>
          <c:dLbls>
            <c:dLbl>
              <c:idx val="0"/>
              <c:layout/>
              <c:tx>
                <c:rich>
                  <a:bodyPr/>
                  <a:lstStyle/>
                  <a:p>
                    <a:r>
                      <a:rPr lang="en-US" smtClean="0"/>
                      <a:t>0,68 bn</a:t>
                    </a:r>
                    <a:endParaRPr lang="en-US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/>
              <c:tx>
                <c:rich>
                  <a:bodyPr/>
                  <a:lstStyle/>
                  <a:p>
                    <a:r>
                      <a:rPr lang="en-US" smtClean="0"/>
                      <a:t>3,2 bn</a:t>
                    </a:r>
                    <a:endParaRPr lang="en-US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/>
              <c:tx>
                <c:rich>
                  <a:bodyPr/>
                  <a:lstStyle/>
                  <a:p>
                    <a:r>
                      <a:rPr lang="en-US" smtClean="0"/>
                      <a:t>8,05 bn</a:t>
                    </a:r>
                    <a:endParaRPr lang="en-US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Cluster 1</c:v>
                </c:pt>
                <c:pt idx="1">
                  <c:v>Cluster 2</c:v>
                </c:pt>
                <c:pt idx="2">
                  <c:v>Cluster 0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0.68</c:v>
                </c:pt>
                <c:pt idx="1">
                  <c:v>3.2</c:v>
                </c:pt>
                <c:pt idx="2">
                  <c:v>8.0500000000000007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81095040"/>
        <c:axId val="180688384"/>
      </c:barChart>
      <c:catAx>
        <c:axId val="181095040"/>
        <c:scaling>
          <c:orientation val="minMax"/>
        </c:scaling>
        <c:delete val="0"/>
        <c:axPos val="l"/>
        <c:majorTickMark val="out"/>
        <c:minorTickMark val="none"/>
        <c:tickLblPos val="nextTo"/>
        <c:crossAx val="180688384"/>
        <c:crosses val="autoZero"/>
        <c:auto val="1"/>
        <c:lblAlgn val="ctr"/>
        <c:lblOffset val="100"/>
        <c:noMultiLvlLbl val="0"/>
      </c:catAx>
      <c:valAx>
        <c:axId val="180688384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181095040"/>
        <c:crosses val="autoZero"/>
        <c:crossBetween val="between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40"/>
    </mc:Choice>
    <mc:Fallback>
      <c:style val="40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/>
              <a:t>Avg Monetary by Cluster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monetary</c:v>
                </c:pt>
              </c:strCache>
            </c:strRef>
          </c:tx>
          <c:invertIfNegative val="0"/>
          <c:dLbls>
            <c:dLbl>
              <c:idx val="0"/>
              <c:layout/>
              <c:tx>
                <c:rich>
                  <a:bodyPr/>
                  <a:lstStyle/>
                  <a:p>
                    <a:r>
                      <a:rPr lang="en-US" baseline="0" dirty="0" smtClean="0"/>
                      <a:t>3,24 M</a:t>
                    </a:r>
                    <a:endParaRPr lang="en-US" dirty="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/>
              <c:tx>
                <c:rich>
                  <a:bodyPr/>
                  <a:lstStyle/>
                  <a:p>
                    <a:r>
                      <a:rPr lang="en-US" dirty="0" smtClean="0"/>
                      <a:t>17,86 M</a:t>
                    </a:r>
                    <a:endParaRPr lang="en-US" dirty="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/>
              <c:tx>
                <c:rich>
                  <a:bodyPr/>
                  <a:lstStyle/>
                  <a:p>
                    <a:r>
                      <a:rPr lang="en-US" dirty="0" smtClean="0"/>
                      <a:t>32,32M</a:t>
                    </a:r>
                    <a:endParaRPr lang="en-US" dirty="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Cluster 1</c:v>
                </c:pt>
                <c:pt idx="1">
                  <c:v>Cluster 0</c:v>
                </c:pt>
                <c:pt idx="2">
                  <c:v>Cluster 2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3.24</c:v>
                </c:pt>
                <c:pt idx="1">
                  <c:v>17.86</c:v>
                </c:pt>
                <c:pt idx="2">
                  <c:v>32.32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80720768"/>
        <c:axId val="180727808"/>
      </c:barChart>
      <c:catAx>
        <c:axId val="180720768"/>
        <c:scaling>
          <c:orientation val="minMax"/>
        </c:scaling>
        <c:delete val="0"/>
        <c:axPos val="l"/>
        <c:majorTickMark val="out"/>
        <c:minorTickMark val="none"/>
        <c:tickLblPos val="nextTo"/>
        <c:crossAx val="180727808"/>
        <c:crosses val="autoZero"/>
        <c:auto val="1"/>
        <c:lblAlgn val="ctr"/>
        <c:lblOffset val="100"/>
        <c:noMultiLvlLbl val="0"/>
      </c:catAx>
      <c:valAx>
        <c:axId val="180727808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180720768"/>
        <c:crosses val="autoZero"/>
        <c:crossBetween val="between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$$$</a:t>
            </a:r>
            <a:endParaRPr/>
          </a:p>
        </p:txBody>
      </p:sp>
      <p:sp>
        <p:nvSpPr>
          <p:cNvPr id="217" name="Google Shape;217;p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$$$</a:t>
            </a:r>
            <a:endParaRPr/>
          </a:p>
        </p:txBody>
      </p:sp>
      <p:sp>
        <p:nvSpPr>
          <p:cNvPr id="278" name="Google Shape;278;p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$$$</a:t>
            </a:r>
            <a:endParaRPr/>
          </a:p>
        </p:txBody>
      </p:sp>
      <p:sp>
        <p:nvSpPr>
          <p:cNvPr id="301" name="Google Shape;301;p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6" name="Google Shape;32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$$$</a:t>
            </a:r>
            <a:endParaRPr/>
          </a:p>
        </p:txBody>
      </p:sp>
      <p:sp>
        <p:nvSpPr>
          <p:cNvPr id="327" name="Google Shape;327;p1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2" name="Google Shape;40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$$$</a:t>
            </a:r>
            <a:endParaRPr/>
          </a:p>
        </p:txBody>
      </p:sp>
      <p:sp>
        <p:nvSpPr>
          <p:cNvPr id="403" name="Google Shape;403;p1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2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2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3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5.png"/><Relationship Id="rId10" Type="http://schemas.openxmlformats.org/officeDocument/2006/relationships/image" Target="../media/image7.png"/><Relationship Id="rId13" Type="http://schemas.openxmlformats.org/officeDocument/2006/relationships/image" Target="../media/image4.png"/><Relationship Id="rId1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jpg"/><Relationship Id="rId4" Type="http://schemas.openxmlformats.org/officeDocument/2006/relationships/image" Target="../media/image2.png"/><Relationship Id="rId9" Type="http://schemas.openxmlformats.org/officeDocument/2006/relationships/image" Target="../media/image11.png"/><Relationship Id="rId15" Type="http://schemas.openxmlformats.org/officeDocument/2006/relationships/hyperlink" Target="https://colab.research.google.com/drive/1X_RaHJqmt3IE8XhAUXQ1-8Dm-Dv5UQli?usp=sharing" TargetMode="External"/><Relationship Id="rId14" Type="http://schemas.openxmlformats.org/officeDocument/2006/relationships/hyperlink" Target="https://drive.google.com/file/d/1HHPo7BeMIyWtF7tHN01-rj10xnEAtYiS/view?usp=drive_link" TargetMode="External"/><Relationship Id="rId5" Type="http://schemas.openxmlformats.org/officeDocument/2006/relationships/image" Target="../media/image10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2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hyperlink" Target="https://www.kaggle.com/datasets/akanksha995579/pharma-data-analysis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1.xml"/><Relationship Id="rId4" Type="http://schemas.openxmlformats.org/officeDocument/2006/relationships/chart" Target="../charts/chart2.xml"/><Relationship Id="rId5" Type="http://schemas.openxmlformats.org/officeDocument/2006/relationships/chart" Target="../charts/chart3.xml"/><Relationship Id="rId6" Type="http://schemas.openxmlformats.org/officeDocument/2006/relationships/chart" Target="../charts/chart4.xml"/><Relationship Id="rId7" Type="http://schemas.openxmlformats.org/officeDocument/2006/relationships/chart" Target="../charts/chart5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Relationship Id="rId4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6.xml"/><Relationship Id="rId4" Type="http://schemas.openxmlformats.org/officeDocument/2006/relationships/chart" Target="../charts/chart7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26.png"/><Relationship Id="rId5" Type="http://schemas.openxmlformats.org/officeDocument/2006/relationships/image" Target="../media/image17.png"/><Relationship Id="rId6" Type="http://schemas.openxmlformats.org/officeDocument/2006/relationships/image" Target="../media/image2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Relationship Id="rId4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Relationship Id="rId4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chart" Target="../charts/chart8.xml"/><Relationship Id="rId4" Type="http://schemas.openxmlformats.org/officeDocument/2006/relationships/chart" Target="../charts/chart9.xml"/><Relationship Id="rId5" Type="http://schemas.openxmlformats.org/officeDocument/2006/relationships/chart" Target="../charts/chart10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Relationship Id="rId4" Type="http://schemas.openxmlformats.org/officeDocument/2006/relationships/image" Target="../media/image3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oogle Shape;89;p1"/>
          <p:cNvGrpSpPr/>
          <p:nvPr/>
        </p:nvGrpSpPr>
        <p:grpSpPr>
          <a:xfrm>
            <a:off x="13920124" y="-144661"/>
            <a:ext cx="4367876" cy="10431661"/>
            <a:chOff x="0" y="-38100"/>
            <a:chExt cx="1150387" cy="2747433"/>
          </a:xfrm>
        </p:grpSpPr>
        <p:sp>
          <p:nvSpPr>
            <p:cNvPr id="90" name="Google Shape;90;p1"/>
            <p:cNvSpPr/>
            <p:nvPr/>
          </p:nvSpPr>
          <p:spPr>
            <a:xfrm>
              <a:off x="0" y="0"/>
              <a:ext cx="1150387" cy="2709333"/>
            </a:xfrm>
            <a:custGeom>
              <a:rect b="b" l="l" r="r" t="t"/>
              <a:pathLst>
                <a:path extrusionOk="0" h="2709333" w="1150387">
                  <a:moveTo>
                    <a:pt x="0" y="0"/>
                  </a:moveTo>
                  <a:lnTo>
                    <a:pt x="1150387" y="0"/>
                  </a:lnTo>
                  <a:lnTo>
                    <a:pt x="115038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1A3A6"/>
            </a:solidFill>
            <a:ln>
              <a:noFill/>
            </a:ln>
          </p:spPr>
        </p:sp>
        <p:sp>
          <p:nvSpPr>
            <p:cNvPr id="91" name="Google Shape;91;p1"/>
            <p:cNvSpPr txBox="1"/>
            <p:nvPr/>
          </p:nvSpPr>
          <p:spPr>
            <a:xfrm>
              <a:off x="0" y="-38100"/>
              <a:ext cx="1150387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92" name="Google Shape;92;p1"/>
          <p:cNvPicPr preferRelativeResize="0"/>
          <p:nvPr/>
        </p:nvPicPr>
        <p:blipFill rotWithShape="1">
          <a:blip r:embed="rId3">
            <a:alphaModFix/>
          </a:blip>
          <a:srcRect b="4342" l="0" r="0" t="4342"/>
          <a:stretch/>
        </p:blipFill>
        <p:spPr>
          <a:xfrm>
            <a:off x="11588028" y="1976471"/>
            <a:ext cx="4664191" cy="6392622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"/>
          <p:cNvSpPr/>
          <p:nvPr/>
        </p:nvSpPr>
        <p:spPr>
          <a:xfrm>
            <a:off x="3127912" y="1627231"/>
            <a:ext cx="787036" cy="1251069"/>
          </a:xfrm>
          <a:custGeom>
            <a:rect b="b" l="l" r="r" t="t"/>
            <a:pathLst>
              <a:path extrusionOk="0" h="1251069" w="787036">
                <a:moveTo>
                  <a:pt x="0" y="0"/>
                </a:moveTo>
                <a:lnTo>
                  <a:pt x="787036" y="0"/>
                </a:lnTo>
                <a:lnTo>
                  <a:pt x="787036" y="1251069"/>
                </a:lnTo>
                <a:lnTo>
                  <a:pt x="0" y="12510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94" name="Google Shape;94;p1"/>
          <p:cNvCxnSpPr/>
          <p:nvPr/>
        </p:nvCxnSpPr>
        <p:spPr>
          <a:xfrm>
            <a:off x="2130055" y="3782821"/>
            <a:ext cx="0" cy="4876948"/>
          </a:xfrm>
          <a:prstGeom prst="straightConnector1">
            <a:avLst/>
          </a:prstGeom>
          <a:noFill/>
          <a:ln cap="rnd" cmpd="sng" w="95250">
            <a:solidFill>
              <a:srgbClr val="F2542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5" name="Google Shape;95;p1"/>
          <p:cNvCxnSpPr/>
          <p:nvPr/>
        </p:nvCxnSpPr>
        <p:spPr>
          <a:xfrm>
            <a:off x="2130055" y="1627231"/>
            <a:ext cx="0" cy="1423759"/>
          </a:xfrm>
          <a:prstGeom prst="straightConnector1">
            <a:avLst/>
          </a:prstGeom>
          <a:noFill/>
          <a:ln cap="rnd" cmpd="sng" w="95250">
            <a:solidFill>
              <a:srgbClr val="F25426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96" name="Google Shape;96;p1"/>
          <p:cNvGrpSpPr/>
          <p:nvPr/>
        </p:nvGrpSpPr>
        <p:grpSpPr>
          <a:xfrm>
            <a:off x="0" y="-144661"/>
            <a:ext cx="1028700" cy="10431661"/>
            <a:chOff x="0" y="-38100"/>
            <a:chExt cx="270933" cy="2747433"/>
          </a:xfrm>
        </p:grpSpPr>
        <p:sp>
          <p:nvSpPr>
            <p:cNvPr id="97" name="Google Shape;97;p1"/>
            <p:cNvSpPr/>
            <p:nvPr/>
          </p:nvSpPr>
          <p:spPr>
            <a:xfrm>
              <a:off x="0" y="0"/>
              <a:ext cx="270933" cy="2709333"/>
            </a:xfrm>
            <a:custGeom>
              <a:rect b="b" l="l" r="r" t="t"/>
              <a:pathLst>
                <a:path extrusionOk="0" h="270933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1A3A6"/>
            </a:solidFill>
            <a:ln>
              <a:noFill/>
            </a:ln>
          </p:spPr>
        </p:sp>
        <p:sp>
          <p:nvSpPr>
            <p:cNvPr id="98" name="Google Shape;98;p1"/>
            <p:cNvSpPr txBox="1"/>
            <p:nvPr/>
          </p:nvSpPr>
          <p:spPr>
            <a:xfrm>
              <a:off x="0" y="-38100"/>
              <a:ext cx="270933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9" name="Google Shape;99;p1"/>
          <p:cNvSpPr/>
          <p:nvPr/>
        </p:nvSpPr>
        <p:spPr>
          <a:xfrm>
            <a:off x="14311088" y="8509934"/>
            <a:ext cx="2948212" cy="748366"/>
          </a:xfrm>
          <a:custGeom>
            <a:rect b="b" l="l" r="r" t="t"/>
            <a:pathLst>
              <a:path extrusionOk="0" h="748366" w="2948212">
                <a:moveTo>
                  <a:pt x="0" y="0"/>
                </a:moveTo>
                <a:lnTo>
                  <a:pt x="2948212" y="0"/>
                </a:lnTo>
                <a:lnTo>
                  <a:pt x="2948212" y="748366"/>
                </a:lnTo>
                <a:lnTo>
                  <a:pt x="0" y="7483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0" name="Google Shape;100;p1"/>
          <p:cNvSpPr/>
          <p:nvPr/>
        </p:nvSpPr>
        <p:spPr>
          <a:xfrm>
            <a:off x="14311088" y="1087264"/>
            <a:ext cx="2948212" cy="748366"/>
          </a:xfrm>
          <a:custGeom>
            <a:rect b="b" l="l" r="r" t="t"/>
            <a:pathLst>
              <a:path extrusionOk="0" h="748366" w="2948212">
                <a:moveTo>
                  <a:pt x="0" y="0"/>
                </a:moveTo>
                <a:lnTo>
                  <a:pt x="2948212" y="0"/>
                </a:lnTo>
                <a:lnTo>
                  <a:pt x="2948212" y="748366"/>
                </a:lnTo>
                <a:lnTo>
                  <a:pt x="0" y="7483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1" name="Google Shape;101;p1"/>
          <p:cNvSpPr txBox="1"/>
          <p:nvPr/>
        </p:nvSpPr>
        <p:spPr>
          <a:xfrm>
            <a:off x="3127912" y="3673172"/>
            <a:ext cx="7794075" cy="1609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0" u="none" cap="none" strike="noStrike">
                <a:solidFill>
                  <a:srgbClr val="F25426"/>
                </a:solidFill>
                <a:latin typeface="Corben"/>
                <a:ea typeface="Corben"/>
                <a:cs typeface="Corben"/>
                <a:sym typeface="Corben"/>
              </a:rPr>
              <a:t>SALES</a:t>
            </a:r>
            <a:endParaRPr/>
          </a:p>
        </p:txBody>
      </p:sp>
      <p:sp>
        <p:nvSpPr>
          <p:cNvPr id="102" name="Google Shape;102;p1"/>
          <p:cNvSpPr txBox="1"/>
          <p:nvPr/>
        </p:nvSpPr>
        <p:spPr>
          <a:xfrm>
            <a:off x="4343316" y="1778480"/>
            <a:ext cx="3093022" cy="1099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4B4545"/>
                </a:solidFill>
                <a:latin typeface="Open Sans"/>
                <a:ea typeface="Open Sans"/>
                <a:cs typeface="Open Sans"/>
                <a:sym typeface="Open Sans"/>
              </a:rPr>
              <a:t>Pharmaceutical Company</a:t>
            </a:r>
            <a:endParaRPr/>
          </a:p>
        </p:txBody>
      </p:sp>
      <p:cxnSp>
        <p:nvCxnSpPr>
          <p:cNvPr id="103" name="Google Shape;103;p1"/>
          <p:cNvCxnSpPr/>
          <p:nvPr/>
        </p:nvCxnSpPr>
        <p:spPr>
          <a:xfrm>
            <a:off x="17259300" y="2705026"/>
            <a:ext cx="0" cy="4876948"/>
          </a:xfrm>
          <a:prstGeom prst="straightConnector1">
            <a:avLst/>
          </a:prstGeom>
          <a:noFill/>
          <a:ln cap="rnd" cmpd="sng" w="123825">
            <a:solidFill>
              <a:srgbClr val="FFFFFF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104" name="Google Shape;104;p1"/>
          <p:cNvSpPr txBox="1"/>
          <p:nvPr/>
        </p:nvSpPr>
        <p:spPr>
          <a:xfrm>
            <a:off x="2985817" y="4610100"/>
            <a:ext cx="7794075" cy="14311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0" u="none" cap="none" strike="noStrike">
                <a:solidFill>
                  <a:srgbClr val="0C4E50"/>
                </a:solidFill>
                <a:latin typeface="Corben"/>
                <a:ea typeface="Corben"/>
                <a:cs typeface="Corben"/>
                <a:sym typeface="Corben"/>
              </a:rPr>
              <a:t>PERFORMANCE</a:t>
            </a:r>
            <a:endParaRPr b="0" i="0" sz="7200" u="none" cap="none" strike="noStrike">
              <a:solidFill>
                <a:srgbClr val="0C4E50"/>
              </a:solidFill>
              <a:latin typeface="Corben"/>
              <a:ea typeface="Corben"/>
              <a:cs typeface="Corben"/>
              <a:sym typeface="Corben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2985817" y="6121450"/>
            <a:ext cx="7794075" cy="1308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00" u="none" cap="none" strike="noStrike">
                <a:solidFill>
                  <a:srgbClr val="0C4E50"/>
                </a:solidFill>
                <a:latin typeface="Corben"/>
                <a:ea typeface="Corben"/>
                <a:cs typeface="Corben"/>
                <a:sym typeface="Corben"/>
              </a:rPr>
              <a:t>&amp; CUSTOMER SEGMENTATION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00" u="none" cap="none" strike="noStrike">
                <a:solidFill>
                  <a:srgbClr val="0C4E50"/>
                </a:solidFill>
                <a:latin typeface="Corben"/>
                <a:ea typeface="Corben"/>
                <a:cs typeface="Corben"/>
                <a:sym typeface="Corben"/>
              </a:rPr>
              <a:t>Analysis in Pharmaceutical Distribution</a:t>
            </a:r>
            <a:endParaRPr/>
          </a:p>
        </p:txBody>
      </p:sp>
      <p:pic>
        <p:nvPicPr>
          <p:cNvPr id="106" name="Google Shape;106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733800" y="8242503"/>
            <a:ext cx="1168197" cy="11681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97784" y="8369093"/>
            <a:ext cx="736616" cy="7366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971800" y="8572576"/>
            <a:ext cx="609524" cy="60952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"/>
          <p:cNvSpPr txBox="1"/>
          <p:nvPr/>
        </p:nvSpPr>
        <p:spPr>
          <a:xfrm>
            <a:off x="2971800" y="8016143"/>
            <a:ext cx="7794075" cy="4039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C4E50"/>
                </a:solidFill>
                <a:latin typeface="Corben"/>
                <a:ea typeface="Corben"/>
                <a:cs typeface="Corben"/>
                <a:sym typeface="Corben"/>
              </a:rPr>
              <a:t>Tools : </a:t>
            </a:r>
            <a:endParaRPr/>
          </a:p>
        </p:txBody>
      </p:sp>
      <p:pic>
        <p:nvPicPr>
          <p:cNvPr id="110" name="Google Shape;110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029200" y="8509934"/>
            <a:ext cx="609524" cy="609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715076" y="8496300"/>
            <a:ext cx="609524" cy="609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400876" y="8496300"/>
            <a:ext cx="609524" cy="609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162800" y="8496300"/>
            <a:ext cx="595051" cy="595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534400" y="8481827"/>
            <a:ext cx="609524" cy="609524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"/>
          <p:cNvSpPr/>
          <p:nvPr/>
        </p:nvSpPr>
        <p:spPr>
          <a:xfrm>
            <a:off x="1668843" y="9478382"/>
            <a:ext cx="2247731" cy="6181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2266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B4545"/>
                </a:solidFill>
                <a:latin typeface="Open Sans"/>
                <a:ea typeface="Open Sans"/>
                <a:cs typeface="Open Sans"/>
                <a:sym typeface="Open Sans"/>
              </a:rPr>
              <a:t>You can Download </a:t>
            </a:r>
            <a:endParaRPr b="1" i="0" sz="1800" u="none" cap="none" strike="noStrike">
              <a:solidFill>
                <a:srgbClr val="4B454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6" name="Google Shape;116;p1"/>
          <p:cNvSpPr/>
          <p:nvPr/>
        </p:nvSpPr>
        <p:spPr>
          <a:xfrm>
            <a:off x="4007361" y="9473997"/>
            <a:ext cx="1789272" cy="5463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2266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sng" cap="none" strike="noStrike">
                <a:solidFill>
                  <a:srgbClr val="4B4545"/>
                </a:solidFill>
                <a:latin typeface="Open Sans"/>
                <a:ea typeface="Open Sans"/>
                <a:cs typeface="Open Sans"/>
                <a:sym typeface="Open Sans"/>
                <a:hlinkClick r:id="rId1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Dashboard PBI</a:t>
            </a:r>
            <a:endParaRPr b="1" i="0" sz="1800" u="none" cap="none" strike="noStrike">
              <a:solidFill>
                <a:srgbClr val="4B454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7" name="Google Shape;117;p1"/>
          <p:cNvSpPr/>
          <p:nvPr/>
        </p:nvSpPr>
        <p:spPr>
          <a:xfrm>
            <a:off x="5898562" y="9478382"/>
            <a:ext cx="2223686" cy="5463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2266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sng" cap="none" strike="noStrike">
                <a:solidFill>
                  <a:srgbClr val="4B4545"/>
                </a:solidFill>
                <a:latin typeface="Open Sans"/>
                <a:ea typeface="Open Sans"/>
                <a:cs typeface="Open Sans"/>
                <a:sym typeface="Open Sans"/>
                <a:hlinkClick r:id="rId1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Notebook Gcollabs</a:t>
            </a:r>
            <a:endParaRPr b="1" i="0" sz="1800" u="none" cap="none" strike="noStrike">
              <a:solidFill>
                <a:srgbClr val="4B454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Google Shape;122;p2"/>
          <p:cNvGrpSpPr/>
          <p:nvPr/>
        </p:nvGrpSpPr>
        <p:grpSpPr>
          <a:xfrm>
            <a:off x="17441" y="-144661"/>
            <a:ext cx="1011259" cy="10431661"/>
            <a:chOff x="0" y="-38100"/>
            <a:chExt cx="266340" cy="2747433"/>
          </a:xfrm>
        </p:grpSpPr>
        <p:sp>
          <p:nvSpPr>
            <p:cNvPr id="123" name="Google Shape;123;p2"/>
            <p:cNvSpPr/>
            <p:nvPr/>
          </p:nvSpPr>
          <p:spPr>
            <a:xfrm>
              <a:off x="0" y="0"/>
              <a:ext cx="266340" cy="2709333"/>
            </a:xfrm>
            <a:custGeom>
              <a:rect b="b" l="l" r="r" t="t"/>
              <a:pathLst>
                <a:path extrusionOk="0" h="2709333" w="266340">
                  <a:moveTo>
                    <a:pt x="0" y="0"/>
                  </a:moveTo>
                  <a:lnTo>
                    <a:pt x="266340" y="0"/>
                  </a:lnTo>
                  <a:lnTo>
                    <a:pt x="26634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1A3A6"/>
            </a:solidFill>
            <a:ln>
              <a:noFill/>
            </a:ln>
          </p:spPr>
        </p:sp>
        <p:sp>
          <p:nvSpPr>
            <p:cNvPr id="124" name="Google Shape;124;p2"/>
            <p:cNvSpPr txBox="1"/>
            <p:nvPr/>
          </p:nvSpPr>
          <p:spPr>
            <a:xfrm>
              <a:off x="0" y="-38100"/>
              <a:ext cx="266340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5" name="Google Shape;125;p2"/>
          <p:cNvSpPr txBox="1"/>
          <p:nvPr/>
        </p:nvSpPr>
        <p:spPr>
          <a:xfrm>
            <a:off x="5460717" y="390080"/>
            <a:ext cx="7366567" cy="1226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0" u="none" cap="none" strike="noStrike">
                <a:solidFill>
                  <a:srgbClr val="0C4E50"/>
                </a:solidFill>
                <a:latin typeface="Corben"/>
                <a:ea typeface="Corben"/>
                <a:cs typeface="Corben"/>
                <a:sym typeface="Corben"/>
              </a:rPr>
              <a:t>Agenda</a:t>
            </a:r>
            <a:endParaRPr/>
          </a:p>
        </p:txBody>
      </p:sp>
      <p:sp>
        <p:nvSpPr>
          <p:cNvPr id="126" name="Google Shape;126;p2"/>
          <p:cNvSpPr txBox="1"/>
          <p:nvPr/>
        </p:nvSpPr>
        <p:spPr>
          <a:xfrm>
            <a:off x="2694220" y="2403973"/>
            <a:ext cx="5901593" cy="5378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4B4545"/>
                </a:solidFill>
                <a:latin typeface="Open Sans"/>
                <a:ea typeface="Open Sans"/>
                <a:cs typeface="Open Sans"/>
                <a:sym typeface="Open Sans"/>
              </a:rPr>
              <a:t>Introduction</a:t>
            </a:r>
            <a:endParaRPr/>
          </a:p>
        </p:txBody>
      </p:sp>
      <p:sp>
        <p:nvSpPr>
          <p:cNvPr id="127" name="Google Shape;127;p2"/>
          <p:cNvSpPr txBox="1"/>
          <p:nvPr/>
        </p:nvSpPr>
        <p:spPr>
          <a:xfrm>
            <a:off x="2694220" y="3634333"/>
            <a:ext cx="5901593" cy="5378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4B4545"/>
                </a:solidFill>
                <a:latin typeface="Open Sans"/>
                <a:ea typeface="Open Sans"/>
                <a:cs typeface="Open Sans"/>
                <a:sym typeface="Open Sans"/>
              </a:rPr>
              <a:t>Project Background</a:t>
            </a:r>
            <a:endParaRPr/>
          </a:p>
        </p:txBody>
      </p:sp>
      <p:sp>
        <p:nvSpPr>
          <p:cNvPr id="128" name="Google Shape;128;p2"/>
          <p:cNvSpPr txBox="1"/>
          <p:nvPr/>
        </p:nvSpPr>
        <p:spPr>
          <a:xfrm>
            <a:off x="2694220" y="4864693"/>
            <a:ext cx="5901593" cy="5378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4B4545"/>
                </a:solidFill>
                <a:latin typeface="Open Sans"/>
                <a:ea typeface="Open Sans"/>
                <a:cs typeface="Open Sans"/>
                <a:sym typeface="Open Sans"/>
              </a:rPr>
              <a:t>Objective Analysis </a:t>
            </a:r>
            <a:endParaRPr/>
          </a:p>
        </p:txBody>
      </p:sp>
      <p:sp>
        <p:nvSpPr>
          <p:cNvPr id="129" name="Google Shape;129;p2"/>
          <p:cNvSpPr txBox="1"/>
          <p:nvPr/>
        </p:nvSpPr>
        <p:spPr>
          <a:xfrm>
            <a:off x="2694220" y="6095052"/>
            <a:ext cx="5901593" cy="5378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4B4545"/>
                </a:solidFill>
                <a:latin typeface="Open Sans"/>
                <a:ea typeface="Open Sans"/>
                <a:cs typeface="Open Sans"/>
                <a:sym typeface="Open Sans"/>
              </a:rPr>
              <a:t>Dataset</a:t>
            </a:r>
            <a:endParaRPr/>
          </a:p>
        </p:txBody>
      </p:sp>
      <p:sp>
        <p:nvSpPr>
          <p:cNvPr id="130" name="Google Shape;130;p2"/>
          <p:cNvSpPr txBox="1"/>
          <p:nvPr/>
        </p:nvSpPr>
        <p:spPr>
          <a:xfrm>
            <a:off x="2694220" y="7325412"/>
            <a:ext cx="5901593" cy="5378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4B4545"/>
                </a:solidFill>
                <a:latin typeface="Open Sans"/>
                <a:ea typeface="Open Sans"/>
                <a:cs typeface="Open Sans"/>
                <a:sym typeface="Open Sans"/>
              </a:rPr>
              <a:t>Data Preparation</a:t>
            </a:r>
            <a:endParaRPr/>
          </a:p>
        </p:txBody>
      </p:sp>
      <p:sp>
        <p:nvSpPr>
          <p:cNvPr id="131" name="Google Shape;131;p2"/>
          <p:cNvSpPr txBox="1"/>
          <p:nvPr/>
        </p:nvSpPr>
        <p:spPr>
          <a:xfrm>
            <a:off x="11793932" y="2403973"/>
            <a:ext cx="5901593" cy="5378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4B4545"/>
                </a:solidFill>
                <a:latin typeface="Open Sans"/>
                <a:ea typeface="Open Sans"/>
                <a:cs typeface="Open Sans"/>
                <a:sym typeface="Open Sans"/>
              </a:rPr>
              <a:t>Excecutive Summary</a:t>
            </a:r>
            <a:endParaRPr/>
          </a:p>
        </p:txBody>
      </p:sp>
      <p:sp>
        <p:nvSpPr>
          <p:cNvPr id="132" name="Google Shape;132;p2"/>
          <p:cNvSpPr txBox="1"/>
          <p:nvPr/>
        </p:nvSpPr>
        <p:spPr>
          <a:xfrm>
            <a:off x="11793932" y="3634333"/>
            <a:ext cx="5901593" cy="1099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4B4545"/>
                </a:solidFill>
                <a:latin typeface="Open Sans"/>
                <a:ea typeface="Open Sans"/>
                <a:cs typeface="Open Sans"/>
                <a:sym typeface="Open Sans"/>
              </a:rPr>
              <a:t>Customer &amp; Distributor analysis</a:t>
            </a:r>
            <a:endParaRPr/>
          </a:p>
        </p:txBody>
      </p:sp>
      <p:sp>
        <p:nvSpPr>
          <p:cNvPr id="133" name="Google Shape;133;p2"/>
          <p:cNvSpPr txBox="1"/>
          <p:nvPr/>
        </p:nvSpPr>
        <p:spPr>
          <a:xfrm>
            <a:off x="11793932" y="4864693"/>
            <a:ext cx="5901593" cy="5378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4B4545"/>
                </a:solidFill>
                <a:latin typeface="Open Sans"/>
                <a:ea typeface="Open Sans"/>
                <a:cs typeface="Open Sans"/>
                <a:sym typeface="Open Sans"/>
              </a:rPr>
              <a:t>Sales Performance</a:t>
            </a:r>
            <a:endParaRPr/>
          </a:p>
        </p:txBody>
      </p:sp>
      <p:sp>
        <p:nvSpPr>
          <p:cNvPr id="134" name="Google Shape;134;p2"/>
          <p:cNvSpPr txBox="1"/>
          <p:nvPr/>
        </p:nvSpPr>
        <p:spPr>
          <a:xfrm>
            <a:off x="11793932" y="6095052"/>
            <a:ext cx="5901593" cy="5378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4B4545"/>
                </a:solidFill>
                <a:latin typeface="Open Sans"/>
                <a:ea typeface="Open Sans"/>
                <a:cs typeface="Open Sans"/>
                <a:sym typeface="Open Sans"/>
              </a:rPr>
              <a:t>Customer Segmentation</a:t>
            </a:r>
            <a:endParaRPr/>
          </a:p>
        </p:txBody>
      </p:sp>
      <p:sp>
        <p:nvSpPr>
          <p:cNvPr id="135" name="Google Shape;135;p2"/>
          <p:cNvSpPr txBox="1"/>
          <p:nvPr/>
        </p:nvSpPr>
        <p:spPr>
          <a:xfrm>
            <a:off x="11793932" y="7325412"/>
            <a:ext cx="5901593" cy="5378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4B4545"/>
                </a:solidFill>
                <a:latin typeface="Open Sans"/>
                <a:ea typeface="Open Sans"/>
                <a:cs typeface="Open Sans"/>
                <a:sym typeface="Open Sans"/>
              </a:rPr>
              <a:t>Conclution &amp; Recomendation</a:t>
            </a:r>
            <a:endParaRPr/>
          </a:p>
        </p:txBody>
      </p:sp>
      <p:sp>
        <p:nvSpPr>
          <p:cNvPr id="136" name="Google Shape;136;p2"/>
          <p:cNvSpPr txBox="1"/>
          <p:nvPr/>
        </p:nvSpPr>
        <p:spPr>
          <a:xfrm>
            <a:off x="1396094" y="2162990"/>
            <a:ext cx="1063581" cy="962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41A3A6"/>
                </a:solidFill>
                <a:latin typeface="Open Sans"/>
                <a:ea typeface="Open Sans"/>
                <a:cs typeface="Open Sans"/>
                <a:sym typeface="Open Sans"/>
              </a:rPr>
              <a:t>01</a:t>
            </a:r>
            <a:endParaRPr/>
          </a:p>
        </p:txBody>
      </p:sp>
      <p:sp>
        <p:nvSpPr>
          <p:cNvPr id="137" name="Google Shape;137;p2"/>
          <p:cNvSpPr txBox="1"/>
          <p:nvPr/>
        </p:nvSpPr>
        <p:spPr>
          <a:xfrm>
            <a:off x="1396094" y="3393350"/>
            <a:ext cx="1063581" cy="962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41A3A6"/>
                </a:solidFill>
                <a:latin typeface="Open Sans"/>
                <a:ea typeface="Open Sans"/>
                <a:cs typeface="Open Sans"/>
                <a:sym typeface="Open Sans"/>
              </a:rPr>
              <a:t>02</a:t>
            </a:r>
            <a:endParaRPr/>
          </a:p>
        </p:txBody>
      </p:sp>
      <p:sp>
        <p:nvSpPr>
          <p:cNvPr id="138" name="Google Shape;138;p2"/>
          <p:cNvSpPr txBox="1"/>
          <p:nvPr/>
        </p:nvSpPr>
        <p:spPr>
          <a:xfrm>
            <a:off x="1396094" y="4623710"/>
            <a:ext cx="1063581" cy="962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41A3A6"/>
                </a:solidFill>
                <a:latin typeface="Open Sans"/>
                <a:ea typeface="Open Sans"/>
                <a:cs typeface="Open Sans"/>
                <a:sym typeface="Open Sans"/>
              </a:rPr>
              <a:t>03</a:t>
            </a:r>
            <a:endParaRPr/>
          </a:p>
        </p:txBody>
      </p:sp>
      <p:sp>
        <p:nvSpPr>
          <p:cNvPr id="139" name="Google Shape;139;p2"/>
          <p:cNvSpPr txBox="1"/>
          <p:nvPr/>
        </p:nvSpPr>
        <p:spPr>
          <a:xfrm>
            <a:off x="1396094" y="5854070"/>
            <a:ext cx="1063581" cy="962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41A3A6"/>
                </a:solidFill>
                <a:latin typeface="Open Sans"/>
                <a:ea typeface="Open Sans"/>
                <a:cs typeface="Open Sans"/>
                <a:sym typeface="Open Sans"/>
              </a:rPr>
              <a:t>04</a:t>
            </a:r>
            <a:endParaRPr/>
          </a:p>
        </p:txBody>
      </p:sp>
      <p:sp>
        <p:nvSpPr>
          <p:cNvPr id="140" name="Google Shape;140;p2"/>
          <p:cNvSpPr txBox="1"/>
          <p:nvPr/>
        </p:nvSpPr>
        <p:spPr>
          <a:xfrm>
            <a:off x="1396094" y="7084430"/>
            <a:ext cx="1063581" cy="962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41A3A6"/>
                </a:solidFill>
                <a:latin typeface="Open Sans"/>
                <a:ea typeface="Open Sans"/>
                <a:cs typeface="Open Sans"/>
                <a:sym typeface="Open Sans"/>
              </a:rPr>
              <a:t>05</a:t>
            </a:r>
            <a:endParaRPr/>
          </a:p>
        </p:txBody>
      </p:sp>
      <p:sp>
        <p:nvSpPr>
          <p:cNvPr id="141" name="Google Shape;141;p2"/>
          <p:cNvSpPr txBox="1"/>
          <p:nvPr/>
        </p:nvSpPr>
        <p:spPr>
          <a:xfrm>
            <a:off x="10262688" y="2162990"/>
            <a:ext cx="1063581" cy="962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41A3A6"/>
                </a:solidFill>
                <a:latin typeface="Open Sans"/>
                <a:ea typeface="Open Sans"/>
                <a:cs typeface="Open Sans"/>
                <a:sym typeface="Open Sans"/>
              </a:rPr>
              <a:t>06</a:t>
            </a:r>
            <a:endParaRPr/>
          </a:p>
        </p:txBody>
      </p:sp>
      <p:sp>
        <p:nvSpPr>
          <p:cNvPr id="142" name="Google Shape;142;p2"/>
          <p:cNvSpPr txBox="1"/>
          <p:nvPr/>
        </p:nvSpPr>
        <p:spPr>
          <a:xfrm>
            <a:off x="10262688" y="3393350"/>
            <a:ext cx="1063581" cy="962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41A3A6"/>
                </a:solidFill>
                <a:latin typeface="Open Sans"/>
                <a:ea typeface="Open Sans"/>
                <a:cs typeface="Open Sans"/>
                <a:sym typeface="Open Sans"/>
              </a:rPr>
              <a:t>07</a:t>
            </a:r>
            <a:endParaRPr/>
          </a:p>
        </p:txBody>
      </p:sp>
      <p:sp>
        <p:nvSpPr>
          <p:cNvPr id="143" name="Google Shape;143;p2"/>
          <p:cNvSpPr txBox="1"/>
          <p:nvPr/>
        </p:nvSpPr>
        <p:spPr>
          <a:xfrm>
            <a:off x="10262688" y="4623710"/>
            <a:ext cx="1063581" cy="962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41A3A6"/>
                </a:solidFill>
                <a:latin typeface="Open Sans"/>
                <a:ea typeface="Open Sans"/>
                <a:cs typeface="Open Sans"/>
                <a:sym typeface="Open Sans"/>
              </a:rPr>
              <a:t>08</a:t>
            </a:r>
            <a:endParaRPr/>
          </a:p>
        </p:txBody>
      </p:sp>
      <p:sp>
        <p:nvSpPr>
          <p:cNvPr id="144" name="Google Shape;144;p2"/>
          <p:cNvSpPr txBox="1"/>
          <p:nvPr/>
        </p:nvSpPr>
        <p:spPr>
          <a:xfrm>
            <a:off x="10262688" y="5854070"/>
            <a:ext cx="1063581" cy="962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41A3A6"/>
                </a:solidFill>
                <a:latin typeface="Open Sans"/>
                <a:ea typeface="Open Sans"/>
                <a:cs typeface="Open Sans"/>
                <a:sym typeface="Open Sans"/>
              </a:rPr>
              <a:t>09</a:t>
            </a:r>
            <a:endParaRPr/>
          </a:p>
        </p:txBody>
      </p:sp>
      <p:sp>
        <p:nvSpPr>
          <p:cNvPr id="145" name="Google Shape;145;p2"/>
          <p:cNvSpPr txBox="1"/>
          <p:nvPr/>
        </p:nvSpPr>
        <p:spPr>
          <a:xfrm>
            <a:off x="10262688" y="7084430"/>
            <a:ext cx="1063581" cy="962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41A3A6"/>
                </a:solidFill>
                <a:latin typeface="Open Sans"/>
                <a:ea typeface="Open Sans"/>
                <a:cs typeface="Open Sans"/>
                <a:sym typeface="Open Sans"/>
              </a:rPr>
              <a:t>10</a:t>
            </a:r>
            <a:endParaRPr/>
          </a:p>
        </p:txBody>
      </p:sp>
      <p:sp>
        <p:nvSpPr>
          <p:cNvPr id="146" name="Google Shape;146;p2"/>
          <p:cNvSpPr/>
          <p:nvPr/>
        </p:nvSpPr>
        <p:spPr>
          <a:xfrm>
            <a:off x="1396094" y="8999826"/>
            <a:ext cx="2948212" cy="748366"/>
          </a:xfrm>
          <a:custGeom>
            <a:rect b="b" l="l" r="r" t="t"/>
            <a:pathLst>
              <a:path extrusionOk="0" h="748366" w="2948212">
                <a:moveTo>
                  <a:pt x="0" y="0"/>
                </a:moveTo>
                <a:lnTo>
                  <a:pt x="2948212" y="0"/>
                </a:lnTo>
                <a:lnTo>
                  <a:pt x="2948212" y="748365"/>
                </a:lnTo>
                <a:lnTo>
                  <a:pt x="0" y="7483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7" name="Google Shape;147;p2"/>
          <p:cNvSpPr/>
          <p:nvPr/>
        </p:nvSpPr>
        <p:spPr>
          <a:xfrm>
            <a:off x="14564753" y="464540"/>
            <a:ext cx="2948212" cy="748366"/>
          </a:xfrm>
          <a:custGeom>
            <a:rect b="b" l="l" r="r" t="t"/>
            <a:pathLst>
              <a:path extrusionOk="0" h="748366" w="2948212">
                <a:moveTo>
                  <a:pt x="0" y="0"/>
                </a:moveTo>
                <a:lnTo>
                  <a:pt x="2948212" y="0"/>
                </a:lnTo>
                <a:lnTo>
                  <a:pt x="2948212" y="748365"/>
                </a:lnTo>
                <a:lnTo>
                  <a:pt x="0" y="7483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" name="Google Shape;152;p3"/>
          <p:cNvGrpSpPr/>
          <p:nvPr/>
        </p:nvGrpSpPr>
        <p:grpSpPr>
          <a:xfrm>
            <a:off x="0" y="-144661"/>
            <a:ext cx="9144000" cy="10431661"/>
            <a:chOff x="0" y="-38100"/>
            <a:chExt cx="2408296" cy="2747433"/>
          </a:xfrm>
        </p:grpSpPr>
        <p:sp>
          <p:nvSpPr>
            <p:cNvPr id="153" name="Google Shape;153;p3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7E9EB"/>
            </a:solidFill>
            <a:ln>
              <a:noFill/>
            </a:ln>
          </p:spPr>
        </p:sp>
        <p:sp>
          <p:nvSpPr>
            <p:cNvPr id="154" name="Google Shape;154;p3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5" name="Google Shape;155;p3"/>
          <p:cNvSpPr/>
          <p:nvPr/>
        </p:nvSpPr>
        <p:spPr>
          <a:xfrm>
            <a:off x="1028700" y="8007231"/>
            <a:ext cx="787036" cy="1251069"/>
          </a:xfrm>
          <a:custGeom>
            <a:rect b="b" l="l" r="r" t="t"/>
            <a:pathLst>
              <a:path extrusionOk="0" h="1251069" w="787036">
                <a:moveTo>
                  <a:pt x="0" y="0"/>
                </a:moveTo>
                <a:lnTo>
                  <a:pt x="787036" y="0"/>
                </a:lnTo>
                <a:lnTo>
                  <a:pt x="787036" y="1251069"/>
                </a:lnTo>
                <a:lnTo>
                  <a:pt x="0" y="12510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56" name="Google Shape;156;p3"/>
          <p:cNvGrpSpPr/>
          <p:nvPr/>
        </p:nvGrpSpPr>
        <p:grpSpPr>
          <a:xfrm>
            <a:off x="17259300" y="-144661"/>
            <a:ext cx="1028700" cy="10431661"/>
            <a:chOff x="0" y="-38100"/>
            <a:chExt cx="270933" cy="2747433"/>
          </a:xfrm>
        </p:grpSpPr>
        <p:sp>
          <p:nvSpPr>
            <p:cNvPr id="157" name="Google Shape;157;p3"/>
            <p:cNvSpPr/>
            <p:nvPr/>
          </p:nvSpPr>
          <p:spPr>
            <a:xfrm>
              <a:off x="0" y="0"/>
              <a:ext cx="270933" cy="2709333"/>
            </a:xfrm>
            <a:custGeom>
              <a:rect b="b" l="l" r="r" t="t"/>
              <a:pathLst>
                <a:path extrusionOk="0" h="270933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1A3A6"/>
            </a:solidFill>
            <a:ln>
              <a:noFill/>
            </a:ln>
          </p:spPr>
        </p:sp>
        <p:sp>
          <p:nvSpPr>
            <p:cNvPr id="158" name="Google Shape;158;p3"/>
            <p:cNvSpPr txBox="1"/>
            <p:nvPr/>
          </p:nvSpPr>
          <p:spPr>
            <a:xfrm>
              <a:off x="0" y="-38100"/>
              <a:ext cx="270933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9" name="Google Shape;159;p3"/>
          <p:cNvSpPr/>
          <p:nvPr/>
        </p:nvSpPr>
        <p:spPr>
          <a:xfrm>
            <a:off x="996359" y="523430"/>
            <a:ext cx="2948212" cy="748366"/>
          </a:xfrm>
          <a:custGeom>
            <a:rect b="b" l="l" r="r" t="t"/>
            <a:pathLst>
              <a:path extrusionOk="0" h="748366" w="2948212">
                <a:moveTo>
                  <a:pt x="0" y="0"/>
                </a:moveTo>
                <a:lnTo>
                  <a:pt x="2948212" y="0"/>
                </a:lnTo>
                <a:lnTo>
                  <a:pt x="2948212" y="748365"/>
                </a:lnTo>
                <a:lnTo>
                  <a:pt x="0" y="7483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0" name="Google Shape;160;p3"/>
          <p:cNvSpPr/>
          <p:nvPr/>
        </p:nvSpPr>
        <p:spPr>
          <a:xfrm>
            <a:off x="12240650" y="464540"/>
            <a:ext cx="1921999" cy="2633851"/>
          </a:xfrm>
          <a:custGeom>
            <a:rect b="b" l="l" r="r" t="t"/>
            <a:pathLst>
              <a:path extrusionOk="0" h="2633851" w="1921999">
                <a:moveTo>
                  <a:pt x="0" y="0"/>
                </a:moveTo>
                <a:lnTo>
                  <a:pt x="1922000" y="0"/>
                </a:lnTo>
                <a:lnTo>
                  <a:pt x="1922000" y="2633851"/>
                </a:lnTo>
                <a:lnTo>
                  <a:pt x="0" y="26338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1" name="Google Shape;161;p3"/>
          <p:cNvSpPr txBox="1"/>
          <p:nvPr/>
        </p:nvSpPr>
        <p:spPr>
          <a:xfrm>
            <a:off x="996359" y="4463415"/>
            <a:ext cx="7151283" cy="1226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0" u="none" cap="none" strike="noStrike">
                <a:solidFill>
                  <a:srgbClr val="0C4E50"/>
                </a:solidFill>
                <a:latin typeface="Corben"/>
                <a:ea typeface="Corben"/>
                <a:cs typeface="Corben"/>
                <a:sym typeface="Corben"/>
              </a:rPr>
              <a:t>Introduction</a:t>
            </a:r>
            <a:endParaRPr/>
          </a:p>
        </p:txBody>
      </p:sp>
      <p:sp>
        <p:nvSpPr>
          <p:cNvPr id="162" name="Google Shape;162;p3"/>
          <p:cNvSpPr txBox="1"/>
          <p:nvPr/>
        </p:nvSpPr>
        <p:spPr>
          <a:xfrm>
            <a:off x="9618955" y="3200400"/>
            <a:ext cx="7165390" cy="7153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4B4545"/>
                </a:solidFill>
                <a:latin typeface="Open Sans"/>
                <a:ea typeface="Open Sans"/>
                <a:cs typeface="Open Sans"/>
                <a:sym typeface="Open Sans"/>
              </a:rPr>
              <a:t>I have a background in Geography with expertise in GIS Analysis and a strong interest in Data Science and Analytics. Skilled in Python, SQL, and data visualization, I aim to grow as a Data Scientist and deliver meaningful insights for data-driven decision making.</a:t>
            </a:r>
            <a:endParaRPr/>
          </a:p>
          <a:p>
            <a:pPr indent="0" lvl="0" marL="0" marR="0" rtl="0" algn="ctr">
              <a:lnSpc>
                <a:spcPct val="16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4B4545"/>
                </a:solidFill>
                <a:latin typeface="Open Sans"/>
                <a:ea typeface="Open Sans"/>
                <a:cs typeface="Open Sans"/>
                <a:sym typeface="Open Sans"/>
              </a:rPr>
              <a:t>Highlights:</a:t>
            </a:r>
            <a:endParaRPr/>
          </a:p>
          <a:p>
            <a:pPr indent="-259079" lvl="1" marL="518160" marR="0" rtl="0" algn="ctr">
              <a:lnSpc>
                <a:spcPct val="169958"/>
              </a:lnSpc>
              <a:spcBef>
                <a:spcPts val="0"/>
              </a:spcBef>
              <a:spcAft>
                <a:spcPts val="0"/>
              </a:spcAft>
              <a:buClr>
                <a:srgbClr val="4B4545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4B4545"/>
                </a:solidFill>
                <a:latin typeface="Open Sans"/>
                <a:ea typeface="Open Sans"/>
                <a:cs typeface="Open Sans"/>
                <a:sym typeface="Open Sans"/>
              </a:rPr>
              <a:t>Conducted geospatial data analysis and mapping for urban planning projects.</a:t>
            </a:r>
            <a:endParaRPr/>
          </a:p>
          <a:p>
            <a:pPr indent="-259079" lvl="1" marL="518160" marR="0" rtl="0" algn="ctr">
              <a:lnSpc>
                <a:spcPct val="169958"/>
              </a:lnSpc>
              <a:spcBef>
                <a:spcPts val="0"/>
              </a:spcBef>
              <a:spcAft>
                <a:spcPts val="0"/>
              </a:spcAft>
              <a:buClr>
                <a:srgbClr val="4B4545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4B4545"/>
                </a:solidFill>
                <a:latin typeface="Open Sans"/>
                <a:ea typeface="Open Sans"/>
                <a:cs typeface="Open Sans"/>
                <a:sym typeface="Open Sans"/>
              </a:rPr>
              <a:t>Processed large geospatial datasets using ArcGIS &amp; Python for 5+ projects.</a:t>
            </a:r>
            <a:endParaRPr/>
          </a:p>
          <a:p>
            <a:pPr indent="-259079" lvl="1" marL="518160" marR="0" rtl="0" algn="ctr">
              <a:lnSpc>
                <a:spcPct val="169958"/>
              </a:lnSpc>
              <a:spcBef>
                <a:spcPts val="0"/>
              </a:spcBef>
              <a:spcAft>
                <a:spcPts val="0"/>
              </a:spcAft>
              <a:buClr>
                <a:srgbClr val="4B4545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4B4545"/>
                </a:solidFill>
                <a:latin typeface="Open Sans"/>
                <a:ea typeface="Open Sans"/>
                <a:cs typeface="Open Sans"/>
                <a:sym typeface="Open Sans"/>
              </a:rPr>
              <a:t>Delivered actionable insights to stakeholders, improving data reliability and efficiency.</a:t>
            </a:r>
            <a:endParaRPr/>
          </a:p>
          <a:p>
            <a:pPr indent="0" lvl="0" marL="0" marR="0" rtl="0" algn="ctr">
              <a:lnSpc>
                <a:spcPct val="16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4B454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3" name="Google Shape;163;p3"/>
          <p:cNvSpPr txBox="1"/>
          <p:nvPr/>
        </p:nvSpPr>
        <p:spPr>
          <a:xfrm>
            <a:off x="2219612" y="8054281"/>
            <a:ext cx="2908667" cy="1099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4B4545"/>
                </a:solidFill>
                <a:latin typeface="Open Sans"/>
                <a:ea typeface="Open Sans"/>
                <a:cs typeface="Open Sans"/>
                <a:sym typeface="Open Sans"/>
              </a:rPr>
              <a:t>Pharmacy Company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" name="Google Shape;168;p4"/>
          <p:cNvGrpSpPr/>
          <p:nvPr/>
        </p:nvGrpSpPr>
        <p:grpSpPr>
          <a:xfrm>
            <a:off x="0" y="-144661"/>
            <a:ext cx="9144000" cy="10431661"/>
            <a:chOff x="0" y="-38100"/>
            <a:chExt cx="2408296" cy="2747433"/>
          </a:xfrm>
        </p:grpSpPr>
        <p:sp>
          <p:nvSpPr>
            <p:cNvPr id="169" name="Google Shape;169;p4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7E9EB"/>
            </a:solidFill>
            <a:ln>
              <a:noFill/>
            </a:ln>
          </p:spPr>
        </p:sp>
        <p:sp>
          <p:nvSpPr>
            <p:cNvPr id="170" name="Google Shape;170;p4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1" name="Google Shape;171;p4"/>
          <p:cNvSpPr/>
          <p:nvPr/>
        </p:nvSpPr>
        <p:spPr>
          <a:xfrm>
            <a:off x="862543" y="2818603"/>
            <a:ext cx="787036" cy="1251069"/>
          </a:xfrm>
          <a:custGeom>
            <a:rect b="b" l="l" r="r" t="t"/>
            <a:pathLst>
              <a:path extrusionOk="0" h="1251069" w="787036">
                <a:moveTo>
                  <a:pt x="0" y="0"/>
                </a:moveTo>
                <a:lnTo>
                  <a:pt x="787036" y="0"/>
                </a:lnTo>
                <a:lnTo>
                  <a:pt x="787036" y="1251069"/>
                </a:lnTo>
                <a:lnTo>
                  <a:pt x="0" y="12510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72" name="Google Shape;172;p4"/>
          <p:cNvGrpSpPr/>
          <p:nvPr/>
        </p:nvGrpSpPr>
        <p:grpSpPr>
          <a:xfrm>
            <a:off x="17259300" y="-144661"/>
            <a:ext cx="1028700" cy="10431661"/>
            <a:chOff x="0" y="-38100"/>
            <a:chExt cx="270933" cy="2747433"/>
          </a:xfrm>
        </p:grpSpPr>
        <p:sp>
          <p:nvSpPr>
            <p:cNvPr id="173" name="Google Shape;173;p4"/>
            <p:cNvSpPr/>
            <p:nvPr/>
          </p:nvSpPr>
          <p:spPr>
            <a:xfrm>
              <a:off x="0" y="0"/>
              <a:ext cx="270933" cy="2709333"/>
            </a:xfrm>
            <a:custGeom>
              <a:rect b="b" l="l" r="r" t="t"/>
              <a:pathLst>
                <a:path extrusionOk="0" h="270933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1A3A6"/>
            </a:solidFill>
            <a:ln>
              <a:noFill/>
            </a:ln>
          </p:spPr>
        </p:sp>
        <p:sp>
          <p:nvSpPr>
            <p:cNvPr id="174" name="Google Shape;174;p4"/>
            <p:cNvSpPr txBox="1"/>
            <p:nvPr/>
          </p:nvSpPr>
          <p:spPr>
            <a:xfrm>
              <a:off x="0" y="-38100"/>
              <a:ext cx="270933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5" name="Google Shape;175;p4"/>
          <p:cNvSpPr/>
          <p:nvPr/>
        </p:nvSpPr>
        <p:spPr>
          <a:xfrm>
            <a:off x="996359" y="523430"/>
            <a:ext cx="2948212" cy="748366"/>
          </a:xfrm>
          <a:custGeom>
            <a:rect b="b" l="l" r="r" t="t"/>
            <a:pathLst>
              <a:path extrusionOk="0" h="748366" w="2948212">
                <a:moveTo>
                  <a:pt x="0" y="0"/>
                </a:moveTo>
                <a:lnTo>
                  <a:pt x="2948212" y="0"/>
                </a:lnTo>
                <a:lnTo>
                  <a:pt x="2948212" y="748365"/>
                </a:lnTo>
                <a:lnTo>
                  <a:pt x="0" y="7483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6" name="Google Shape;176;p4"/>
          <p:cNvSpPr txBox="1"/>
          <p:nvPr/>
        </p:nvSpPr>
        <p:spPr>
          <a:xfrm>
            <a:off x="10108017" y="69850"/>
            <a:ext cx="7151283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0C4E50"/>
                </a:solidFill>
                <a:latin typeface="Corben"/>
                <a:ea typeface="Corben"/>
                <a:cs typeface="Corben"/>
                <a:sym typeface="Corben"/>
              </a:rPr>
              <a:t>Project background</a:t>
            </a:r>
            <a:endParaRPr/>
          </a:p>
        </p:txBody>
      </p:sp>
      <p:sp>
        <p:nvSpPr>
          <p:cNvPr id="177" name="Google Shape;177;p4"/>
          <p:cNvSpPr txBox="1"/>
          <p:nvPr/>
        </p:nvSpPr>
        <p:spPr>
          <a:xfrm>
            <a:off x="9510526" y="1167020"/>
            <a:ext cx="7382248" cy="89383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6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4B4545"/>
                </a:solidFill>
                <a:latin typeface="Open Sans"/>
                <a:ea typeface="Open Sans"/>
                <a:cs typeface="Open Sans"/>
                <a:sym typeface="Open Sans"/>
              </a:rPr>
              <a:t>In addition to </a:t>
            </a:r>
            <a:r>
              <a:rPr b="1" i="0" lang="en-US" sz="2400" u="none" cap="none" strike="noStrike">
                <a:solidFill>
                  <a:srgbClr val="4B4545"/>
                </a:solidFill>
                <a:latin typeface="Open Sans"/>
                <a:ea typeface="Open Sans"/>
                <a:cs typeface="Open Sans"/>
                <a:sym typeface="Open Sans"/>
              </a:rPr>
              <a:t>sales analysis</a:t>
            </a:r>
            <a:r>
              <a:rPr b="0" i="0" lang="en-US" sz="2400" u="none" cap="none" strike="noStrike">
                <a:solidFill>
                  <a:srgbClr val="4B4545"/>
                </a:solidFill>
                <a:latin typeface="Open Sans"/>
                <a:ea typeface="Open Sans"/>
                <a:cs typeface="Open Sans"/>
                <a:sym typeface="Open Sans"/>
              </a:rPr>
              <a:t>, pharmaceutical companies want to </a:t>
            </a:r>
            <a:r>
              <a:rPr b="1" i="0" lang="en-US" sz="2400" u="none" cap="none" strike="noStrike">
                <a:solidFill>
                  <a:srgbClr val="4B4545"/>
                </a:solidFill>
                <a:latin typeface="Open Sans"/>
                <a:ea typeface="Open Sans"/>
                <a:cs typeface="Open Sans"/>
                <a:sym typeface="Open Sans"/>
              </a:rPr>
              <a:t>understand customer profiles</a:t>
            </a:r>
            <a:r>
              <a:rPr b="0" i="0" lang="en-US" sz="2400" u="none" cap="none" strike="noStrike">
                <a:solidFill>
                  <a:srgbClr val="4B4545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  <a:endParaRPr/>
          </a:p>
          <a:p>
            <a:pPr indent="-259079" lvl="1" marL="518160" marR="0" rtl="0" algn="just">
              <a:lnSpc>
                <a:spcPct val="169958"/>
              </a:lnSpc>
              <a:spcBef>
                <a:spcPts val="0"/>
              </a:spcBef>
              <a:spcAft>
                <a:spcPts val="0"/>
              </a:spcAft>
              <a:buClr>
                <a:srgbClr val="4B4545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4B4545"/>
                </a:solidFill>
                <a:latin typeface="Open Sans"/>
                <a:ea typeface="Open Sans"/>
                <a:cs typeface="Open Sans"/>
                <a:sym typeface="Open Sans"/>
              </a:rPr>
              <a:t>Customer segments with high revenue contribution</a:t>
            </a:r>
            <a:endParaRPr/>
          </a:p>
          <a:p>
            <a:pPr indent="-259079" lvl="1" marL="518160" marR="0" rtl="0" algn="just">
              <a:lnSpc>
                <a:spcPct val="169958"/>
              </a:lnSpc>
              <a:spcBef>
                <a:spcPts val="0"/>
              </a:spcBef>
              <a:spcAft>
                <a:spcPts val="0"/>
              </a:spcAft>
              <a:buClr>
                <a:srgbClr val="4B4545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4B4545"/>
                </a:solidFill>
                <a:latin typeface="Open Sans"/>
                <a:ea typeface="Open Sans"/>
                <a:cs typeface="Open Sans"/>
                <a:sym typeface="Open Sans"/>
              </a:rPr>
              <a:t>Frequent, low-value customers</a:t>
            </a:r>
            <a:endParaRPr/>
          </a:p>
          <a:p>
            <a:pPr indent="-259079" lvl="1" marL="518160" marR="0" rtl="0" algn="just">
              <a:lnSpc>
                <a:spcPct val="169958"/>
              </a:lnSpc>
              <a:spcBef>
                <a:spcPts val="0"/>
              </a:spcBef>
              <a:spcAft>
                <a:spcPts val="0"/>
              </a:spcAft>
              <a:buClr>
                <a:srgbClr val="4B4545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4B4545"/>
                </a:solidFill>
                <a:latin typeface="Open Sans"/>
                <a:ea typeface="Open Sans"/>
                <a:cs typeface="Open Sans"/>
                <a:sym typeface="Open Sans"/>
              </a:rPr>
              <a:t>One-time, high-value customers</a:t>
            </a:r>
            <a:endParaRPr/>
          </a:p>
          <a:p>
            <a:pPr indent="0" lvl="0" marL="0" marR="0" rtl="0" algn="just">
              <a:lnSpc>
                <a:spcPct val="16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4B4545"/>
                </a:solidFill>
                <a:latin typeface="Open Sans"/>
                <a:ea typeface="Open Sans"/>
                <a:cs typeface="Open Sans"/>
                <a:sym typeface="Open Sans"/>
              </a:rPr>
              <a:t>Requirment</a:t>
            </a:r>
            <a:endParaRPr b="1" i="0" sz="2400" u="none" cap="none" strike="noStrike">
              <a:solidFill>
                <a:srgbClr val="4B4545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6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4B4545"/>
                </a:solidFill>
                <a:latin typeface="Open Sans"/>
                <a:ea typeface="Open Sans"/>
                <a:cs typeface="Open Sans"/>
                <a:sym typeface="Open Sans"/>
              </a:rPr>
              <a:t>There are three levels of report users with different focuses:</a:t>
            </a:r>
            <a:endParaRPr/>
          </a:p>
          <a:p>
            <a:pPr indent="-259079" lvl="1" marL="518160" marR="0" rtl="0" algn="just">
              <a:lnSpc>
                <a:spcPct val="169958"/>
              </a:lnSpc>
              <a:spcBef>
                <a:spcPts val="0"/>
              </a:spcBef>
              <a:spcAft>
                <a:spcPts val="0"/>
              </a:spcAft>
              <a:buClr>
                <a:srgbClr val="4B4545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4B4545"/>
                </a:solidFill>
                <a:latin typeface="Open Sans"/>
                <a:ea typeface="Open Sans"/>
                <a:cs typeface="Open Sans"/>
                <a:sym typeface="Open Sans"/>
              </a:rPr>
              <a:t>Executive Committee → sales overview (trends, city, channel, top product/city)</a:t>
            </a:r>
            <a:endParaRPr/>
          </a:p>
          <a:p>
            <a:pPr indent="-259079" lvl="1" marL="518160" marR="0" rtl="0" algn="just">
              <a:lnSpc>
                <a:spcPct val="169958"/>
              </a:lnSpc>
              <a:spcBef>
                <a:spcPts val="0"/>
              </a:spcBef>
              <a:spcAft>
                <a:spcPts val="0"/>
              </a:spcAft>
              <a:buClr>
                <a:srgbClr val="4B4545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4B4545"/>
                </a:solidFill>
                <a:latin typeface="Open Sans"/>
                <a:ea typeface="Open Sans"/>
                <a:cs typeface="Open Sans"/>
                <a:sym typeface="Open Sans"/>
              </a:rPr>
              <a:t>Sales Manager → sales details (by  distributor, product, top 5, distribution channel)</a:t>
            </a:r>
            <a:endParaRPr/>
          </a:p>
          <a:p>
            <a:pPr indent="-259079" lvl="1" marL="518160" marR="0" rtl="0" algn="just">
              <a:lnSpc>
                <a:spcPct val="169958"/>
              </a:lnSpc>
              <a:spcBef>
                <a:spcPts val="0"/>
              </a:spcBef>
              <a:spcAft>
                <a:spcPts val="0"/>
              </a:spcAft>
              <a:buClr>
                <a:srgbClr val="4B4545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4B4545"/>
                </a:solidFill>
                <a:latin typeface="Open Sans"/>
                <a:ea typeface="Open Sans"/>
                <a:cs typeface="Open Sans"/>
                <a:sym typeface="Open Sans"/>
              </a:rPr>
              <a:t>Head of Sales → team performance (by product/class, sales ranking, period filter) or customer segmentation.</a:t>
            </a:r>
            <a:endParaRPr b="0" i="0" sz="2400" u="none" cap="none" strike="noStrike">
              <a:solidFill>
                <a:srgbClr val="4B4545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6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4B454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8" name="Google Shape;178;p4"/>
          <p:cNvSpPr txBox="1"/>
          <p:nvPr/>
        </p:nvSpPr>
        <p:spPr>
          <a:xfrm>
            <a:off x="1992479" y="2818603"/>
            <a:ext cx="3904184" cy="1099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4B4545"/>
                </a:solidFill>
                <a:latin typeface="Open Sans"/>
                <a:ea typeface="Open Sans"/>
                <a:cs typeface="Open Sans"/>
                <a:sym typeface="Open Sans"/>
              </a:rPr>
              <a:t>Pharmaceutical Company</a:t>
            </a:r>
            <a:endParaRPr/>
          </a:p>
        </p:txBody>
      </p:sp>
      <p:sp>
        <p:nvSpPr>
          <p:cNvPr id="179" name="Google Shape;179;p4"/>
          <p:cNvSpPr txBox="1"/>
          <p:nvPr/>
        </p:nvSpPr>
        <p:spPr>
          <a:xfrm>
            <a:off x="1028700" y="4522531"/>
            <a:ext cx="7382248" cy="2009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6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4B4545"/>
                </a:solidFill>
                <a:latin typeface="Open Sans"/>
                <a:ea typeface="Open Sans"/>
                <a:cs typeface="Open Sans"/>
                <a:sym typeface="Open Sans"/>
              </a:rPr>
              <a:t>This company sells drugs through distributors (not directly to consumers). Distributors are required to share their sales data so the company can analyze it down to the retail level.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Google Shape;185;p5"/>
          <p:cNvGrpSpPr/>
          <p:nvPr/>
        </p:nvGrpSpPr>
        <p:grpSpPr>
          <a:xfrm>
            <a:off x="0" y="-144661"/>
            <a:ext cx="8077200" cy="10431661"/>
            <a:chOff x="0" y="-38100"/>
            <a:chExt cx="2408296" cy="2747433"/>
          </a:xfrm>
        </p:grpSpPr>
        <p:sp>
          <p:nvSpPr>
            <p:cNvPr id="186" name="Google Shape;186;p5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7E9EB"/>
            </a:solidFill>
            <a:ln>
              <a:noFill/>
            </a:ln>
          </p:spPr>
        </p:sp>
        <p:sp>
          <p:nvSpPr>
            <p:cNvPr id="187" name="Google Shape;187;p5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8" name="Google Shape;188;p5"/>
          <p:cNvGrpSpPr/>
          <p:nvPr/>
        </p:nvGrpSpPr>
        <p:grpSpPr>
          <a:xfrm>
            <a:off x="17259300" y="-144661"/>
            <a:ext cx="1028700" cy="10431661"/>
            <a:chOff x="0" y="-38100"/>
            <a:chExt cx="270933" cy="2747433"/>
          </a:xfrm>
        </p:grpSpPr>
        <p:sp>
          <p:nvSpPr>
            <p:cNvPr id="189" name="Google Shape;189;p5"/>
            <p:cNvSpPr/>
            <p:nvPr/>
          </p:nvSpPr>
          <p:spPr>
            <a:xfrm>
              <a:off x="0" y="0"/>
              <a:ext cx="270933" cy="2709333"/>
            </a:xfrm>
            <a:custGeom>
              <a:rect b="b" l="l" r="r" t="t"/>
              <a:pathLst>
                <a:path extrusionOk="0" h="270933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1A3A6"/>
            </a:solidFill>
            <a:ln>
              <a:noFill/>
            </a:ln>
          </p:spPr>
        </p:sp>
        <p:sp>
          <p:nvSpPr>
            <p:cNvPr id="190" name="Google Shape;190;p5"/>
            <p:cNvSpPr txBox="1"/>
            <p:nvPr/>
          </p:nvSpPr>
          <p:spPr>
            <a:xfrm>
              <a:off x="0" y="-38100"/>
              <a:ext cx="270933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1" name="Google Shape;191;p5"/>
          <p:cNvSpPr/>
          <p:nvPr/>
        </p:nvSpPr>
        <p:spPr>
          <a:xfrm>
            <a:off x="996359" y="523430"/>
            <a:ext cx="2948212" cy="748366"/>
          </a:xfrm>
          <a:custGeom>
            <a:rect b="b" l="l" r="r" t="t"/>
            <a:pathLst>
              <a:path extrusionOk="0" h="748366" w="2948212">
                <a:moveTo>
                  <a:pt x="0" y="0"/>
                </a:moveTo>
                <a:lnTo>
                  <a:pt x="2948212" y="0"/>
                </a:lnTo>
                <a:lnTo>
                  <a:pt x="2948212" y="748365"/>
                </a:lnTo>
                <a:lnTo>
                  <a:pt x="0" y="7483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2" name="Google Shape;192;p5"/>
          <p:cNvSpPr txBox="1"/>
          <p:nvPr/>
        </p:nvSpPr>
        <p:spPr>
          <a:xfrm>
            <a:off x="773517" y="1638300"/>
            <a:ext cx="7151283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0C4E50"/>
                </a:solidFill>
                <a:latin typeface="Corben"/>
                <a:ea typeface="Corben"/>
                <a:cs typeface="Corben"/>
                <a:sym typeface="Corben"/>
              </a:rPr>
              <a:t>Objectives Analysis </a:t>
            </a:r>
            <a:endParaRPr/>
          </a:p>
        </p:txBody>
      </p:sp>
      <p:sp>
        <p:nvSpPr>
          <p:cNvPr id="193" name="Google Shape;193;p5"/>
          <p:cNvSpPr txBox="1"/>
          <p:nvPr/>
        </p:nvSpPr>
        <p:spPr>
          <a:xfrm>
            <a:off x="368928" y="2714625"/>
            <a:ext cx="7382248" cy="3038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59079" lvl="1" marL="518160" marR="0" rtl="0" algn="just">
              <a:lnSpc>
                <a:spcPct val="169958"/>
              </a:lnSpc>
              <a:spcBef>
                <a:spcPts val="0"/>
              </a:spcBef>
              <a:spcAft>
                <a:spcPts val="0"/>
              </a:spcAft>
              <a:buClr>
                <a:srgbClr val="4B4545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4B4545"/>
                </a:solidFill>
                <a:latin typeface="Open Sans"/>
                <a:ea typeface="Open Sans"/>
                <a:cs typeface="Open Sans"/>
                <a:sym typeface="Open Sans"/>
              </a:rPr>
              <a:t>Analyze the company's sales performance.</a:t>
            </a:r>
            <a:endParaRPr/>
          </a:p>
          <a:p>
            <a:pPr indent="-259079" lvl="1" marL="518160" marR="0" rtl="0" algn="just">
              <a:lnSpc>
                <a:spcPct val="169958"/>
              </a:lnSpc>
              <a:spcBef>
                <a:spcPts val="0"/>
              </a:spcBef>
              <a:spcAft>
                <a:spcPts val="0"/>
              </a:spcAft>
              <a:buClr>
                <a:srgbClr val="4B4545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4B4545"/>
                </a:solidFill>
                <a:latin typeface="Open Sans"/>
                <a:ea typeface="Open Sans"/>
                <a:cs typeface="Open Sans"/>
                <a:sym typeface="Open Sans"/>
              </a:rPr>
              <a:t>Identify top products, cities, distributors, and sales teams.</a:t>
            </a:r>
            <a:endParaRPr/>
          </a:p>
          <a:p>
            <a:pPr indent="-259079" lvl="1" marL="518160" marR="0" rtl="0" algn="just">
              <a:lnSpc>
                <a:spcPct val="169958"/>
              </a:lnSpc>
              <a:spcBef>
                <a:spcPts val="0"/>
              </a:spcBef>
              <a:spcAft>
                <a:spcPts val="0"/>
              </a:spcAft>
              <a:buClr>
                <a:srgbClr val="4B4545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4B4545"/>
                </a:solidFill>
                <a:latin typeface="Open Sans"/>
                <a:ea typeface="Open Sans"/>
                <a:cs typeface="Open Sans"/>
                <a:sym typeface="Open Sans"/>
              </a:rPr>
              <a:t>Provide data-driven strategic insights.</a:t>
            </a:r>
            <a:endParaRPr/>
          </a:p>
          <a:p>
            <a:pPr indent="-259079" lvl="1" marL="518160" marR="0" rtl="0" algn="just">
              <a:lnSpc>
                <a:spcPct val="169958"/>
              </a:lnSpc>
              <a:spcBef>
                <a:spcPts val="0"/>
              </a:spcBef>
              <a:spcAft>
                <a:spcPts val="0"/>
              </a:spcAft>
              <a:buClr>
                <a:srgbClr val="4B4545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4B4545"/>
                </a:solidFill>
                <a:latin typeface="Open Sans"/>
                <a:ea typeface="Open Sans"/>
                <a:cs typeface="Open Sans"/>
                <a:sym typeface="Open Sans"/>
              </a:rPr>
              <a:t>Add customer segmentation (K-Means) for more targeted marketing strategies.</a:t>
            </a:r>
            <a:endParaRPr/>
          </a:p>
        </p:txBody>
      </p:sp>
      <p:sp>
        <p:nvSpPr>
          <p:cNvPr id="194" name="Google Shape;194;p5"/>
          <p:cNvSpPr txBox="1"/>
          <p:nvPr/>
        </p:nvSpPr>
        <p:spPr>
          <a:xfrm>
            <a:off x="8686800" y="119360"/>
            <a:ext cx="7151283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0C4E50"/>
                </a:solidFill>
                <a:latin typeface="Corben"/>
                <a:ea typeface="Corben"/>
                <a:cs typeface="Corben"/>
                <a:sym typeface="Corben"/>
              </a:rPr>
              <a:t>Dataset</a:t>
            </a:r>
            <a:endParaRPr/>
          </a:p>
        </p:txBody>
      </p:sp>
      <p:sp>
        <p:nvSpPr>
          <p:cNvPr id="195" name="Google Shape;195;p5"/>
          <p:cNvSpPr txBox="1"/>
          <p:nvPr/>
        </p:nvSpPr>
        <p:spPr>
          <a:xfrm>
            <a:off x="8534400" y="982960"/>
            <a:ext cx="8534400" cy="1577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85750" lvl="1" marL="544830" marR="0" rtl="0" algn="just">
              <a:lnSpc>
                <a:spcPct val="203950"/>
              </a:lnSpc>
              <a:spcBef>
                <a:spcPts val="0"/>
              </a:spcBef>
              <a:spcAft>
                <a:spcPts val="0"/>
              </a:spcAft>
              <a:buClr>
                <a:srgbClr val="4B4545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rgbClr val="4B4545"/>
                </a:solidFill>
                <a:latin typeface="Open Sans"/>
                <a:ea typeface="Open Sans"/>
                <a:cs typeface="Open Sans"/>
                <a:sym typeface="Open Sans"/>
              </a:rPr>
              <a:t>Data from </a:t>
            </a:r>
            <a:r>
              <a:rPr b="0" i="0" lang="en-US" sz="2000" u="sng" cap="none" strike="noStrike">
                <a:solidFill>
                  <a:srgbClr val="4B4545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Kaggle</a:t>
            </a:r>
            <a:endParaRPr b="0" i="0" sz="2000" u="none" cap="none" strike="noStrike">
              <a:solidFill>
                <a:srgbClr val="4B4545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85750" lvl="1" marL="544830" marR="0" rtl="0" algn="just">
              <a:lnSpc>
                <a:spcPct val="203950"/>
              </a:lnSpc>
              <a:spcBef>
                <a:spcPts val="0"/>
              </a:spcBef>
              <a:spcAft>
                <a:spcPts val="0"/>
              </a:spcAft>
              <a:buClr>
                <a:srgbClr val="4B4545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rgbClr val="4B4545"/>
                </a:solidFill>
                <a:latin typeface="Open Sans"/>
                <a:ea typeface="Open Sans"/>
                <a:cs typeface="Open Sans"/>
                <a:sym typeface="Open Sans"/>
              </a:rPr>
              <a:t>Entries </a:t>
            </a:r>
            <a:r>
              <a:rPr b="1" i="0" lang="en-US" sz="2000" u="none" cap="none" strike="noStrike">
                <a:solidFill>
                  <a:srgbClr val="4B4545"/>
                </a:solidFill>
                <a:latin typeface="Open Sans"/>
                <a:ea typeface="Open Sans"/>
                <a:cs typeface="Open Sans"/>
                <a:sym typeface="Open Sans"/>
              </a:rPr>
              <a:t>dirty</a:t>
            </a:r>
            <a:r>
              <a:rPr b="0" i="0" lang="en-US" sz="2000" u="none" cap="none" strike="noStrike">
                <a:solidFill>
                  <a:srgbClr val="4B4545"/>
                </a:solidFill>
                <a:latin typeface="Open Sans"/>
                <a:ea typeface="Open Sans"/>
                <a:cs typeface="Open Sans"/>
                <a:sym typeface="Open Sans"/>
              </a:rPr>
              <a:t> = 254.082 rows 🡪 Entries </a:t>
            </a:r>
            <a:r>
              <a:rPr b="1" i="0" lang="en-US" sz="2000" u="none" cap="none" strike="noStrike">
                <a:solidFill>
                  <a:srgbClr val="4B4545"/>
                </a:solidFill>
                <a:latin typeface="Open Sans"/>
                <a:ea typeface="Open Sans"/>
                <a:cs typeface="Open Sans"/>
                <a:sym typeface="Open Sans"/>
              </a:rPr>
              <a:t>clean</a:t>
            </a:r>
            <a:r>
              <a:rPr b="0" i="0" lang="en-US" sz="2000" u="none" cap="none" strike="noStrike">
                <a:solidFill>
                  <a:srgbClr val="4B4545"/>
                </a:solidFill>
                <a:latin typeface="Open Sans"/>
                <a:ea typeface="Open Sans"/>
                <a:cs typeface="Open Sans"/>
                <a:sym typeface="Open Sans"/>
              </a:rPr>
              <a:t> = 251.445  rows</a:t>
            </a:r>
            <a:endParaRPr b="0" i="0" sz="2000" u="none" cap="none" strike="noStrike">
              <a:solidFill>
                <a:srgbClr val="4B4545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85750" lvl="1" marL="544830" marR="0" rtl="0" algn="just">
              <a:lnSpc>
                <a:spcPct val="203950"/>
              </a:lnSpc>
              <a:spcBef>
                <a:spcPts val="0"/>
              </a:spcBef>
              <a:spcAft>
                <a:spcPts val="0"/>
              </a:spcAft>
              <a:buClr>
                <a:srgbClr val="4B4545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rgbClr val="4B4545"/>
                </a:solidFill>
                <a:latin typeface="Open Sans"/>
                <a:ea typeface="Open Sans"/>
                <a:cs typeface="Open Sans"/>
                <a:sym typeface="Open Sans"/>
              </a:rPr>
              <a:t>Columns = 18 (</a:t>
            </a:r>
            <a:r>
              <a:rPr b="1" i="0" lang="en-US" sz="2000" u="none" cap="none" strike="noStrike">
                <a:solidFill>
                  <a:srgbClr val="4B4545"/>
                </a:solidFill>
                <a:latin typeface="Open Sans"/>
                <a:ea typeface="Open Sans"/>
                <a:cs typeface="Open Sans"/>
                <a:sym typeface="Open Sans"/>
              </a:rPr>
              <a:t>original</a:t>
            </a:r>
            <a:r>
              <a:rPr b="0" i="0" lang="en-US" sz="2000" u="none" cap="none" strike="noStrike">
                <a:solidFill>
                  <a:srgbClr val="4B4545"/>
                </a:solidFill>
                <a:latin typeface="Open Sans"/>
                <a:ea typeface="Open Sans"/>
                <a:cs typeface="Open Sans"/>
                <a:sym typeface="Open Sans"/>
              </a:rPr>
              <a:t>) 🡪 Columns = 22 (</a:t>
            </a:r>
            <a:r>
              <a:rPr b="1" i="0" lang="en-US" sz="2000" u="none" cap="none" strike="noStrike">
                <a:solidFill>
                  <a:srgbClr val="4B4545"/>
                </a:solidFill>
                <a:latin typeface="Open Sans"/>
                <a:ea typeface="Open Sans"/>
                <a:cs typeface="Open Sans"/>
                <a:sym typeface="Open Sans"/>
              </a:rPr>
              <a:t>feature &amp; engineered</a:t>
            </a:r>
            <a:r>
              <a:rPr b="0" i="0" lang="en-US" sz="2000" u="none" cap="none" strike="noStrike">
                <a:solidFill>
                  <a:srgbClr val="4B4545"/>
                </a:solidFill>
                <a:latin typeface="Open Sans"/>
                <a:ea typeface="Open Sans"/>
                <a:cs typeface="Open Sans"/>
                <a:sym typeface="Open Sans"/>
              </a:rPr>
              <a:t>)</a:t>
            </a:r>
            <a:endParaRPr b="0" i="0" sz="2000" u="none" cap="none" strike="noStrike">
              <a:solidFill>
                <a:srgbClr val="4B454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196" name="Google Shape;196;p5"/>
          <p:cNvGraphicFramePr/>
          <p:nvPr/>
        </p:nvGraphicFramePr>
        <p:xfrm>
          <a:off x="8642555" y="273551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{FFAF07DB-3F23-439C-A64D-C9F2B86FFE39}</a:tableStyleId>
              </a:tblPr>
              <a:tblGrid>
                <a:gridCol w="1447800"/>
                <a:gridCol w="6629400"/>
              </a:tblGrid>
              <a:tr h="449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Field</a:t>
                      </a:r>
                      <a:endParaRPr/>
                    </a:p>
                  </a:txBody>
                  <a:tcPr marT="19175" marB="19175" marR="38350" marL="383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Description</a:t>
                      </a:r>
                      <a:endParaRPr/>
                    </a:p>
                  </a:txBody>
                  <a:tcPr marT="19175" marB="19175" marR="38350" marL="38350" anchor="ctr"/>
                </a:tc>
              </a:tr>
              <a:tr h="517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/>
                        <a:t>Distributor</a:t>
                      </a:r>
                      <a:endParaRPr/>
                    </a:p>
                  </a:txBody>
                  <a:tcPr marT="19175" marB="19175" marR="38350" marL="383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Name of the distributing company. In this dataset, consistently "Gottlieb-Cruickshank."</a:t>
                      </a:r>
                      <a:endParaRPr/>
                    </a:p>
                  </a:txBody>
                  <a:tcPr marT="19175" marB="19175" marR="38350" marL="38350" anchor="ctr"/>
                </a:tc>
              </a:tr>
              <a:tr h="361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/>
                        <a:t>Customer Name</a:t>
                      </a:r>
                      <a:endParaRPr/>
                    </a:p>
                  </a:txBody>
                  <a:tcPr marT="19175" marB="19175" marR="38350" marL="383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Name of the customer or purchasing entity.</a:t>
                      </a:r>
                      <a:endParaRPr/>
                    </a:p>
                  </a:txBody>
                  <a:tcPr marT="19175" marB="19175" marR="38350" marL="38350" anchor="ctr"/>
                </a:tc>
              </a:tr>
              <a:tr h="361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/>
                        <a:t>City</a:t>
                      </a:r>
                      <a:endParaRPr/>
                    </a:p>
                  </a:txBody>
                  <a:tcPr marT="19175" marB="19175" marR="38350" marL="383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The city in Poland where the customer is located.</a:t>
                      </a:r>
                      <a:endParaRPr/>
                    </a:p>
                  </a:txBody>
                  <a:tcPr marT="19175" marB="19175" marR="38350" marL="38350" anchor="ctr"/>
                </a:tc>
              </a:tr>
              <a:tr h="361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/>
                        <a:t>Country</a:t>
                      </a:r>
                      <a:endParaRPr/>
                    </a:p>
                  </a:txBody>
                  <a:tcPr marT="19175" marB="19175" marR="38350" marL="383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Country of the transaction, consistently "Poland."</a:t>
                      </a:r>
                      <a:endParaRPr/>
                    </a:p>
                  </a:txBody>
                  <a:tcPr marT="19175" marB="19175" marR="38350" marL="38350" anchor="ctr"/>
                </a:tc>
              </a:tr>
              <a:tr h="361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/>
                        <a:t>Latitude</a:t>
                      </a:r>
                      <a:endParaRPr/>
                    </a:p>
                  </a:txBody>
                  <a:tcPr marT="19175" marB="19175" marR="38350" marL="383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Latitude coordinate of the customer's city.</a:t>
                      </a:r>
                      <a:endParaRPr/>
                    </a:p>
                  </a:txBody>
                  <a:tcPr marT="19175" marB="19175" marR="38350" marL="38350" anchor="ctr"/>
                </a:tc>
              </a:tr>
              <a:tr h="361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/>
                        <a:t>Longitude</a:t>
                      </a:r>
                      <a:endParaRPr/>
                    </a:p>
                  </a:txBody>
                  <a:tcPr marT="19175" marB="19175" marR="38350" marL="383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Longitude coordinate of the customer's city.</a:t>
                      </a:r>
                      <a:endParaRPr/>
                    </a:p>
                  </a:txBody>
                  <a:tcPr marT="19175" marB="19175" marR="38350" marL="38350" anchor="ctr"/>
                </a:tc>
              </a:tr>
              <a:tr h="361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/>
                        <a:t>Channel</a:t>
                      </a:r>
                      <a:endParaRPr/>
                    </a:p>
                  </a:txBody>
                  <a:tcPr marT="19175" marB="19175" marR="38350" marL="383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Distribution channel, either "Hospital" or "Pharmacy."</a:t>
                      </a:r>
                      <a:endParaRPr/>
                    </a:p>
                  </a:txBody>
                  <a:tcPr marT="19175" marB="19175" marR="38350" marL="38350" anchor="ctr"/>
                </a:tc>
              </a:tr>
              <a:tr h="361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/>
                        <a:t>Sub-channel</a:t>
                      </a:r>
                      <a:endParaRPr/>
                    </a:p>
                  </a:txBody>
                  <a:tcPr marT="19175" marB="19175" marR="38350" marL="383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More specific buyer sector: "Private," "Retail," or "Institution."</a:t>
                      </a:r>
                      <a:endParaRPr/>
                    </a:p>
                  </a:txBody>
                  <a:tcPr marT="19175" marB="19175" marR="38350" marL="38350" anchor="ctr"/>
                </a:tc>
              </a:tr>
              <a:tr h="361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/>
                        <a:t>Product Name</a:t>
                      </a:r>
                      <a:endParaRPr/>
                    </a:p>
                  </a:txBody>
                  <a:tcPr marT="19175" marB="19175" marR="38350" marL="383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Name of the pharmaceutical product sold.</a:t>
                      </a:r>
                      <a:endParaRPr/>
                    </a:p>
                  </a:txBody>
                  <a:tcPr marT="19175" marB="19175" marR="38350" marL="38350" anchor="ctr"/>
                </a:tc>
              </a:tr>
              <a:tr h="517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/>
                        <a:t>Product Class</a:t>
                      </a:r>
                      <a:endParaRPr/>
                    </a:p>
                  </a:txBody>
                  <a:tcPr marT="19175" marB="19175" marR="38350" marL="383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Classification of the product (e.g., "Mood Stabilizers," "Antibiotics," "Analgesics.")</a:t>
                      </a:r>
                      <a:endParaRPr/>
                    </a:p>
                  </a:txBody>
                  <a:tcPr marT="19175" marB="19175" marR="38350" marL="38350" anchor="ctr"/>
                </a:tc>
              </a:tr>
              <a:tr h="205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/>
                        <a:t>Quantity</a:t>
                      </a:r>
                      <a:endParaRPr/>
                    </a:p>
                  </a:txBody>
                  <a:tcPr marT="19175" marB="19175" marR="38350" marL="383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Number of units sold.</a:t>
                      </a:r>
                      <a:endParaRPr/>
                    </a:p>
                  </a:txBody>
                  <a:tcPr marT="19175" marB="19175" marR="38350" marL="38350" anchor="ctr"/>
                </a:tc>
              </a:tr>
              <a:tr h="205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/>
                        <a:t>Price</a:t>
                      </a:r>
                      <a:endParaRPr b="1" sz="1400"/>
                    </a:p>
                  </a:txBody>
                  <a:tcPr marT="19175" marB="19175" marR="38350" marL="383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Price per unit of the product.</a:t>
                      </a:r>
                      <a:endParaRPr/>
                    </a:p>
                  </a:txBody>
                  <a:tcPr marT="19175" marB="19175" marR="38350" marL="38350" anchor="ctr"/>
                </a:tc>
              </a:tr>
              <a:tr h="205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/>
                        <a:t>Sales</a:t>
                      </a:r>
                      <a:endParaRPr/>
                    </a:p>
                  </a:txBody>
                  <a:tcPr marT="19175" marB="19175" marR="38350" marL="383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Total sales amount (Quantity × Price).</a:t>
                      </a:r>
                      <a:endParaRPr/>
                    </a:p>
                  </a:txBody>
                  <a:tcPr marT="19175" marB="19175" marR="38350" marL="38350" anchor="ctr"/>
                </a:tc>
              </a:tr>
              <a:tr h="361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/>
                        <a:t>Month</a:t>
                      </a:r>
                      <a:endParaRPr/>
                    </a:p>
                  </a:txBody>
                  <a:tcPr marT="19175" marB="19175" marR="38350" marL="383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Month of the transaction (all records = "January").</a:t>
                      </a:r>
                      <a:endParaRPr/>
                    </a:p>
                  </a:txBody>
                  <a:tcPr marT="19175" marB="19175" marR="38350" marL="38350" anchor="ctr"/>
                </a:tc>
              </a:tr>
              <a:tr h="361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/>
                        <a:t>Year</a:t>
                      </a:r>
                      <a:endParaRPr/>
                    </a:p>
                  </a:txBody>
                  <a:tcPr marT="19175" marB="19175" marR="38350" marL="383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Year of the transaction (all records = 2018).</a:t>
                      </a:r>
                      <a:endParaRPr/>
                    </a:p>
                  </a:txBody>
                  <a:tcPr marT="19175" marB="19175" marR="38350" marL="38350" anchor="ctr"/>
                </a:tc>
              </a:tr>
              <a:tr h="361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/>
                        <a:t>Name of Sales Rep</a:t>
                      </a:r>
                      <a:endParaRPr/>
                    </a:p>
                  </a:txBody>
                  <a:tcPr marT="19175" marB="19175" marR="38350" marL="383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Sales representative handling the transaction.</a:t>
                      </a:r>
                      <a:endParaRPr/>
                    </a:p>
                  </a:txBody>
                  <a:tcPr marT="19175" marB="19175" marR="38350" marL="38350" anchor="ctr"/>
                </a:tc>
              </a:tr>
              <a:tr h="361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/>
                        <a:t>Manager</a:t>
                      </a:r>
                      <a:endParaRPr/>
                    </a:p>
                  </a:txBody>
                  <a:tcPr marT="19175" marB="19175" marR="38350" marL="383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Manager overseeing the sales representative.</a:t>
                      </a:r>
                      <a:endParaRPr/>
                    </a:p>
                  </a:txBody>
                  <a:tcPr marT="19175" marB="19175" marR="38350" marL="38350" anchor="ctr"/>
                </a:tc>
              </a:tr>
              <a:tr h="361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/>
                        <a:t>Sales Team</a:t>
                      </a:r>
                      <a:endParaRPr/>
                    </a:p>
                  </a:txBody>
                  <a:tcPr marT="19175" marB="19175" marR="38350" marL="383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Sales team of the sales representative (e.g., "Delta," "Bravo," "Alfa.")</a:t>
                      </a:r>
                      <a:endParaRPr/>
                    </a:p>
                  </a:txBody>
                  <a:tcPr marT="19175" marB="19175" marR="38350" marL="383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1" name="Google Shape;201;p6"/>
          <p:cNvGrpSpPr/>
          <p:nvPr/>
        </p:nvGrpSpPr>
        <p:grpSpPr>
          <a:xfrm>
            <a:off x="-47625" y="-97833"/>
            <a:ext cx="6829425" cy="10431661"/>
            <a:chOff x="0" y="-38100"/>
            <a:chExt cx="2408296" cy="2747433"/>
          </a:xfrm>
        </p:grpSpPr>
        <p:sp>
          <p:nvSpPr>
            <p:cNvPr id="202" name="Google Shape;202;p6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7E9EB"/>
            </a:solidFill>
            <a:ln>
              <a:noFill/>
            </a:ln>
          </p:spPr>
        </p:sp>
        <p:sp>
          <p:nvSpPr>
            <p:cNvPr id="203" name="Google Shape;203;p6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4" name="Google Shape;204;p6"/>
          <p:cNvGrpSpPr/>
          <p:nvPr/>
        </p:nvGrpSpPr>
        <p:grpSpPr>
          <a:xfrm>
            <a:off x="17259300" y="-144661"/>
            <a:ext cx="1028700" cy="10431661"/>
            <a:chOff x="0" y="-38100"/>
            <a:chExt cx="270933" cy="2747433"/>
          </a:xfrm>
        </p:grpSpPr>
        <p:sp>
          <p:nvSpPr>
            <p:cNvPr id="205" name="Google Shape;205;p6"/>
            <p:cNvSpPr/>
            <p:nvPr/>
          </p:nvSpPr>
          <p:spPr>
            <a:xfrm>
              <a:off x="0" y="0"/>
              <a:ext cx="270933" cy="2709333"/>
            </a:xfrm>
            <a:custGeom>
              <a:rect b="b" l="l" r="r" t="t"/>
              <a:pathLst>
                <a:path extrusionOk="0" h="270933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1A3A6"/>
            </a:solidFill>
            <a:ln>
              <a:noFill/>
            </a:ln>
          </p:spPr>
        </p:sp>
        <p:sp>
          <p:nvSpPr>
            <p:cNvPr id="206" name="Google Shape;206;p6"/>
            <p:cNvSpPr txBox="1"/>
            <p:nvPr/>
          </p:nvSpPr>
          <p:spPr>
            <a:xfrm>
              <a:off x="0" y="-38100"/>
              <a:ext cx="270933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7" name="Google Shape;207;p6"/>
          <p:cNvSpPr/>
          <p:nvPr/>
        </p:nvSpPr>
        <p:spPr>
          <a:xfrm>
            <a:off x="996359" y="523430"/>
            <a:ext cx="2948212" cy="748366"/>
          </a:xfrm>
          <a:custGeom>
            <a:rect b="b" l="l" r="r" t="t"/>
            <a:pathLst>
              <a:path extrusionOk="0" h="748366" w="2948212">
                <a:moveTo>
                  <a:pt x="0" y="0"/>
                </a:moveTo>
                <a:lnTo>
                  <a:pt x="2948212" y="0"/>
                </a:lnTo>
                <a:lnTo>
                  <a:pt x="2948212" y="748365"/>
                </a:lnTo>
                <a:lnTo>
                  <a:pt x="0" y="7483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8" name="Google Shape;208;p6"/>
          <p:cNvSpPr txBox="1"/>
          <p:nvPr/>
        </p:nvSpPr>
        <p:spPr>
          <a:xfrm>
            <a:off x="457200" y="1562100"/>
            <a:ext cx="7151283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0C4E50"/>
                </a:solidFill>
                <a:latin typeface="Corben"/>
                <a:ea typeface="Corben"/>
                <a:cs typeface="Corben"/>
                <a:sym typeface="Corben"/>
              </a:rPr>
              <a:t>Data Preparation</a:t>
            </a:r>
            <a:endParaRPr/>
          </a:p>
        </p:txBody>
      </p:sp>
      <p:sp>
        <p:nvSpPr>
          <p:cNvPr id="209" name="Google Shape;209;p6"/>
          <p:cNvSpPr txBox="1"/>
          <p:nvPr/>
        </p:nvSpPr>
        <p:spPr>
          <a:xfrm>
            <a:off x="7067550" y="7200900"/>
            <a:ext cx="8858250" cy="1577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6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4B4545"/>
                </a:solidFill>
                <a:latin typeface="Open Sans"/>
                <a:ea typeface="Open Sans"/>
                <a:cs typeface="Open Sans"/>
                <a:sym typeface="Open Sans"/>
              </a:rPr>
              <a:t>Data Scaling</a:t>
            </a:r>
            <a:endParaRPr/>
          </a:p>
          <a:p>
            <a:pPr indent="-259079" lvl="1" marL="518160" marR="0" rtl="0" algn="just">
              <a:lnSpc>
                <a:spcPct val="169958"/>
              </a:lnSpc>
              <a:spcBef>
                <a:spcPts val="0"/>
              </a:spcBef>
              <a:spcAft>
                <a:spcPts val="0"/>
              </a:spcAft>
              <a:buClr>
                <a:srgbClr val="4B4545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4B4545"/>
                </a:solidFill>
                <a:latin typeface="Open Sans"/>
                <a:ea typeface="Open Sans"/>
                <a:cs typeface="Open Sans"/>
                <a:sym typeface="Open Sans"/>
              </a:rPr>
              <a:t>Apply StandardScaler to Frequency &amp; Monetary to balance the feature scales before clustering.</a:t>
            </a:r>
            <a:endParaRPr/>
          </a:p>
        </p:txBody>
      </p:sp>
      <p:graphicFrame>
        <p:nvGraphicFramePr>
          <p:cNvPr id="210" name="Google Shape;210;p6"/>
          <p:cNvGraphicFramePr/>
          <p:nvPr/>
        </p:nvGraphicFramePr>
        <p:xfrm>
          <a:off x="7239000" y="42291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{1589B4EB-BA30-4EBB-8806-44578B72CA82}</a:tableStyleId>
              </a:tblPr>
              <a:tblGrid>
                <a:gridCol w="762000"/>
                <a:gridCol w="3352800"/>
                <a:gridCol w="2057400"/>
                <a:gridCol w="2057400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index</a:t>
                      </a:r>
                      <a:endParaRPr b="1"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Customer Name</a:t>
                      </a:r>
                      <a:endParaRPr b="1"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Frequency</a:t>
                      </a:r>
                      <a:endParaRPr b="1"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Monetary</a:t>
                      </a:r>
                      <a:endParaRPr b="1" sz="1800"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b="1"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Abernathy Group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346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$24.902.609</a:t>
                      </a:r>
                      <a:endParaRPr sz="1800"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b="1"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Abernathy Group Pharmaceutical Limited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223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  $2.079.222</a:t>
                      </a:r>
                      <a:endParaRPr sz="1800"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 b="1"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Abernathy Group Pharmacy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385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$34.975.728</a:t>
                      </a:r>
                      <a:endParaRPr sz="1800"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 b="1"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Abernathy and Sons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373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$20.999.467</a:t>
                      </a:r>
                      <a:endParaRPr sz="1800"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 b="1"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Abernathy and Sons Pharmaceutical Limited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390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$18.860.508</a:t>
                      </a:r>
                      <a:endParaRPr sz="1800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211" name="Google Shape;211;p6"/>
          <p:cNvSpPr/>
          <p:nvPr/>
        </p:nvSpPr>
        <p:spPr>
          <a:xfrm>
            <a:off x="457200" y="2468408"/>
            <a:ext cx="5915025" cy="5350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6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4B4545"/>
                </a:solidFill>
                <a:latin typeface="Open Sans"/>
                <a:ea typeface="Open Sans"/>
                <a:cs typeface="Open Sans"/>
                <a:sym typeface="Open Sans"/>
              </a:rPr>
              <a:t>Data Cleaning</a:t>
            </a:r>
            <a:endParaRPr/>
          </a:p>
          <a:p>
            <a:pPr indent="-259079" lvl="1" marL="518160" marR="0" rtl="0" algn="just">
              <a:lnSpc>
                <a:spcPct val="169958"/>
              </a:lnSpc>
              <a:spcBef>
                <a:spcPts val="0"/>
              </a:spcBef>
              <a:spcAft>
                <a:spcPts val="0"/>
              </a:spcAft>
              <a:buClr>
                <a:srgbClr val="4B4545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4B4545"/>
                </a:solidFill>
                <a:latin typeface="Open Sans"/>
                <a:ea typeface="Open Sans"/>
                <a:cs typeface="Open Sans"/>
                <a:sym typeface="Open Sans"/>
              </a:rPr>
              <a:t>Check for missing values: </a:t>
            </a:r>
            <a:r>
              <a:rPr b="1" i="0" lang="en-US" sz="2400" u="none" cap="none" strike="noStrike">
                <a:solidFill>
                  <a:srgbClr val="4B4545"/>
                </a:solidFill>
                <a:latin typeface="Open Sans"/>
                <a:ea typeface="Open Sans"/>
                <a:cs typeface="Open Sans"/>
                <a:sym typeface="Open Sans"/>
              </a:rPr>
              <a:t>No missing values</a:t>
            </a:r>
            <a:endParaRPr/>
          </a:p>
          <a:p>
            <a:pPr indent="-259079" lvl="1" marL="518160" marR="0" rtl="0" algn="just">
              <a:lnSpc>
                <a:spcPct val="169958"/>
              </a:lnSpc>
              <a:spcBef>
                <a:spcPts val="0"/>
              </a:spcBef>
              <a:spcAft>
                <a:spcPts val="0"/>
              </a:spcAft>
              <a:buClr>
                <a:srgbClr val="4B4545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4B4545"/>
                </a:solidFill>
                <a:latin typeface="Open Sans"/>
                <a:ea typeface="Open Sans"/>
                <a:cs typeface="Open Sans"/>
                <a:sym typeface="Open Sans"/>
              </a:rPr>
              <a:t>Drop duplicate data:</a:t>
            </a:r>
            <a:r>
              <a:rPr b="1" i="0" lang="en-US" sz="2400" u="none" cap="none" strike="noStrike">
                <a:solidFill>
                  <a:srgbClr val="4B4545"/>
                </a:solidFill>
                <a:latin typeface="Open Sans"/>
                <a:ea typeface="Open Sans"/>
                <a:cs typeface="Open Sans"/>
                <a:sym typeface="Open Sans"/>
              </a:rPr>
              <a:t> 4 data droped</a:t>
            </a:r>
            <a:endParaRPr b="1" i="0" sz="2400" u="none" cap="none" strike="noStrike">
              <a:solidFill>
                <a:srgbClr val="4B4545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59079" lvl="1" marL="518160" marR="0" rtl="0" algn="just">
              <a:lnSpc>
                <a:spcPct val="169958"/>
              </a:lnSpc>
              <a:spcBef>
                <a:spcPts val="0"/>
              </a:spcBef>
              <a:spcAft>
                <a:spcPts val="0"/>
              </a:spcAft>
              <a:buClr>
                <a:srgbClr val="4B4545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4B4545"/>
                </a:solidFill>
                <a:latin typeface="Open Sans"/>
                <a:ea typeface="Open Sans"/>
                <a:cs typeface="Open Sans"/>
                <a:sym typeface="Open Sans"/>
              </a:rPr>
              <a:t>Validate data types</a:t>
            </a:r>
            <a:endParaRPr/>
          </a:p>
          <a:p>
            <a:pPr indent="-259079" lvl="1" marL="518160" marR="0" rtl="0" algn="just">
              <a:lnSpc>
                <a:spcPct val="169958"/>
              </a:lnSpc>
              <a:spcBef>
                <a:spcPts val="0"/>
              </a:spcBef>
              <a:spcAft>
                <a:spcPts val="0"/>
              </a:spcAft>
              <a:buClr>
                <a:srgbClr val="4B4545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4B4545"/>
                </a:solidFill>
                <a:latin typeface="Open Sans"/>
                <a:ea typeface="Open Sans"/>
                <a:cs typeface="Open Sans"/>
                <a:sym typeface="Open Sans"/>
              </a:rPr>
              <a:t>Remove anomalous data (negative quantity). If it's still used, it can bias the analysis results. Approximately </a:t>
            </a:r>
            <a:r>
              <a:rPr b="1" i="0" lang="en-US" sz="2400" u="none" cap="none" strike="noStrike">
                <a:solidFill>
                  <a:srgbClr val="4B4545"/>
                </a:solidFill>
                <a:latin typeface="Open Sans"/>
                <a:ea typeface="Open Sans"/>
                <a:cs typeface="Open Sans"/>
                <a:sym typeface="Open Sans"/>
              </a:rPr>
              <a:t>2,633 rows were removed</a:t>
            </a:r>
            <a:r>
              <a:rPr b="0" i="0" lang="en-US" sz="2400" u="none" cap="none" strike="noStrike">
                <a:solidFill>
                  <a:srgbClr val="4B4545"/>
                </a:solidFill>
                <a:latin typeface="Open Sans"/>
                <a:ea typeface="Open Sans"/>
                <a:cs typeface="Open Sans"/>
                <a:sym typeface="Open Sans"/>
              </a:rPr>
              <a:t> due to negative quantity.</a:t>
            </a:r>
            <a:endParaRPr/>
          </a:p>
        </p:txBody>
      </p:sp>
      <p:sp>
        <p:nvSpPr>
          <p:cNvPr id="212" name="Google Shape;212;p6"/>
          <p:cNvSpPr/>
          <p:nvPr/>
        </p:nvSpPr>
        <p:spPr>
          <a:xfrm>
            <a:off x="7067550" y="1065071"/>
            <a:ext cx="9144000" cy="2721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456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4B4545"/>
                </a:solidFill>
                <a:latin typeface="Open Sans"/>
                <a:ea typeface="Open Sans"/>
                <a:cs typeface="Open Sans"/>
                <a:sym typeface="Open Sans"/>
              </a:rPr>
              <a:t>Feature Engineering</a:t>
            </a:r>
            <a:endParaRPr/>
          </a:p>
          <a:p>
            <a:pPr indent="-259079" lvl="1" marL="518160" marR="0" rtl="0" algn="just">
              <a:lnSpc>
                <a:spcPct val="169958"/>
              </a:lnSpc>
              <a:spcBef>
                <a:spcPts val="0"/>
              </a:spcBef>
              <a:spcAft>
                <a:spcPts val="0"/>
              </a:spcAft>
              <a:buClr>
                <a:srgbClr val="4B4545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4B4545"/>
                </a:solidFill>
                <a:latin typeface="Open Sans"/>
                <a:ea typeface="Open Sans"/>
                <a:cs typeface="Open Sans"/>
                <a:sym typeface="Open Sans"/>
              </a:rPr>
              <a:t>Add Frequency column → number of transactions by customer</a:t>
            </a:r>
            <a:endParaRPr/>
          </a:p>
          <a:p>
            <a:pPr indent="-259079" lvl="1" marL="518160" marR="0" rtl="0" algn="just">
              <a:lnSpc>
                <a:spcPct val="169958"/>
              </a:lnSpc>
              <a:spcBef>
                <a:spcPts val="0"/>
              </a:spcBef>
              <a:spcAft>
                <a:spcPts val="0"/>
              </a:spcAft>
              <a:buClr>
                <a:srgbClr val="4B4545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4B4545"/>
                </a:solidFill>
                <a:latin typeface="Open Sans"/>
                <a:ea typeface="Open Sans"/>
                <a:cs typeface="Open Sans"/>
                <a:sym typeface="Open Sans"/>
              </a:rPr>
              <a:t>Add Monetary column → total sales by customer </a:t>
            </a:r>
            <a:endParaRPr/>
          </a:p>
          <a:p>
            <a:pPr indent="0" lvl="1" marL="259080" marR="0" rtl="0" algn="just">
              <a:lnSpc>
                <a:spcPct val="1456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4B4545"/>
                </a:solidFill>
                <a:latin typeface="Open Sans"/>
                <a:ea typeface="Open Sans"/>
                <a:cs typeface="Open Sans"/>
                <a:sym typeface="Open Sans"/>
              </a:rPr>
              <a:t>Exp :</a:t>
            </a:r>
            <a:endParaRPr b="0" i="0" sz="2800" u="none" cap="none" strike="noStrike">
              <a:solidFill>
                <a:srgbClr val="4B454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11277600" y="4068608"/>
            <a:ext cx="3733800" cy="3132292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9" name="Google Shape;219;p7"/>
          <p:cNvGrpSpPr/>
          <p:nvPr/>
        </p:nvGrpSpPr>
        <p:grpSpPr>
          <a:xfrm rot="5400000">
            <a:off x="8590704" y="-8679236"/>
            <a:ext cx="1085851" cy="18362409"/>
            <a:chOff x="0" y="-38100"/>
            <a:chExt cx="285985" cy="2738904"/>
          </a:xfrm>
        </p:grpSpPr>
        <p:sp>
          <p:nvSpPr>
            <p:cNvPr id="220" name="Google Shape;220;p7"/>
            <p:cNvSpPr/>
            <p:nvPr/>
          </p:nvSpPr>
          <p:spPr>
            <a:xfrm>
              <a:off x="15052" y="-34097"/>
              <a:ext cx="270933" cy="2734901"/>
            </a:xfrm>
            <a:custGeom>
              <a:rect b="b" l="l" r="r" t="t"/>
              <a:pathLst>
                <a:path extrusionOk="0" h="2700804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0804"/>
                  </a:lnTo>
                  <a:lnTo>
                    <a:pt x="0" y="2700804"/>
                  </a:lnTo>
                  <a:close/>
                </a:path>
              </a:pathLst>
            </a:custGeom>
            <a:solidFill>
              <a:srgbClr val="D7E9EB"/>
            </a:solidFill>
            <a:ln>
              <a:noFill/>
            </a:ln>
          </p:spPr>
        </p:sp>
        <p:sp>
          <p:nvSpPr>
            <p:cNvPr id="221" name="Google Shape;221;p7"/>
            <p:cNvSpPr txBox="1"/>
            <p:nvPr/>
          </p:nvSpPr>
          <p:spPr>
            <a:xfrm>
              <a:off x="0" y="-38100"/>
              <a:ext cx="270933" cy="27389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2" name="Google Shape;222;p7"/>
          <p:cNvSpPr txBox="1"/>
          <p:nvPr/>
        </p:nvSpPr>
        <p:spPr>
          <a:xfrm>
            <a:off x="1122295" y="-342900"/>
            <a:ext cx="16937105" cy="1140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290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00" u="none" cap="none" strike="noStrike">
                <a:solidFill>
                  <a:srgbClr val="4B4545"/>
                </a:solidFill>
                <a:latin typeface="Corben"/>
                <a:ea typeface="Corben"/>
                <a:cs typeface="Corben"/>
                <a:sym typeface="Corben"/>
              </a:rPr>
              <a:t>Excecutive Summary</a:t>
            </a:r>
            <a:endParaRPr b="0" i="0" sz="4400" u="none" cap="none" strike="noStrike">
              <a:solidFill>
                <a:srgbClr val="4B4545"/>
              </a:solidFill>
              <a:latin typeface="Corben"/>
              <a:ea typeface="Corben"/>
              <a:cs typeface="Corben"/>
              <a:sym typeface="Corben"/>
            </a:endParaRPr>
          </a:p>
        </p:txBody>
      </p:sp>
      <p:sp>
        <p:nvSpPr>
          <p:cNvPr id="223" name="Google Shape;223;p7"/>
          <p:cNvSpPr/>
          <p:nvPr/>
        </p:nvSpPr>
        <p:spPr>
          <a:xfrm>
            <a:off x="152400" y="1694772"/>
            <a:ext cx="2321626" cy="1026801"/>
          </a:xfrm>
          <a:custGeom>
            <a:rect b="b" l="l" r="r" t="t"/>
            <a:pathLst>
              <a:path extrusionOk="0" h="1667455" w="1877292">
                <a:moveTo>
                  <a:pt x="55394" y="0"/>
                </a:moveTo>
                <a:lnTo>
                  <a:pt x="1821898" y="0"/>
                </a:lnTo>
                <a:cubicBezTo>
                  <a:pt x="1852491" y="0"/>
                  <a:pt x="1877292" y="24801"/>
                  <a:pt x="1877292" y="55394"/>
                </a:cubicBezTo>
                <a:lnTo>
                  <a:pt x="1877292" y="1612061"/>
                </a:lnTo>
                <a:cubicBezTo>
                  <a:pt x="1877292" y="1626752"/>
                  <a:pt x="1871456" y="1640842"/>
                  <a:pt x="1861068" y="1651230"/>
                </a:cubicBezTo>
                <a:cubicBezTo>
                  <a:pt x="1850679" y="1661619"/>
                  <a:pt x="1836590" y="1667455"/>
                  <a:pt x="1821898" y="1667455"/>
                </a:cubicBezTo>
                <a:lnTo>
                  <a:pt x="55394" y="1667455"/>
                </a:lnTo>
                <a:cubicBezTo>
                  <a:pt x="24801" y="1667455"/>
                  <a:pt x="0" y="1642654"/>
                  <a:pt x="0" y="1612061"/>
                </a:cubicBezTo>
                <a:lnTo>
                  <a:pt x="0" y="55394"/>
                </a:lnTo>
                <a:cubicBezTo>
                  <a:pt x="0" y="40702"/>
                  <a:pt x="5836" y="26613"/>
                  <a:pt x="16224" y="16224"/>
                </a:cubicBezTo>
                <a:cubicBezTo>
                  <a:pt x="26613" y="5836"/>
                  <a:pt x="40702" y="0"/>
                  <a:pt x="55394" y="0"/>
                </a:cubicBezTo>
                <a:close/>
              </a:path>
            </a:pathLst>
          </a:custGeom>
          <a:solidFill>
            <a:srgbClr val="41A3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7"/>
          <p:cNvSpPr/>
          <p:nvPr/>
        </p:nvSpPr>
        <p:spPr>
          <a:xfrm>
            <a:off x="2656640" y="1694772"/>
            <a:ext cx="2321626" cy="1026801"/>
          </a:xfrm>
          <a:custGeom>
            <a:rect b="b" l="l" r="r" t="t"/>
            <a:pathLst>
              <a:path extrusionOk="0" h="1667455" w="1877292">
                <a:moveTo>
                  <a:pt x="55394" y="0"/>
                </a:moveTo>
                <a:lnTo>
                  <a:pt x="1821898" y="0"/>
                </a:lnTo>
                <a:cubicBezTo>
                  <a:pt x="1852491" y="0"/>
                  <a:pt x="1877292" y="24801"/>
                  <a:pt x="1877292" y="55394"/>
                </a:cubicBezTo>
                <a:lnTo>
                  <a:pt x="1877292" y="1612061"/>
                </a:lnTo>
                <a:cubicBezTo>
                  <a:pt x="1877292" y="1626752"/>
                  <a:pt x="1871456" y="1640842"/>
                  <a:pt x="1861068" y="1651230"/>
                </a:cubicBezTo>
                <a:cubicBezTo>
                  <a:pt x="1850679" y="1661619"/>
                  <a:pt x="1836590" y="1667455"/>
                  <a:pt x="1821898" y="1667455"/>
                </a:cubicBezTo>
                <a:lnTo>
                  <a:pt x="55394" y="1667455"/>
                </a:lnTo>
                <a:cubicBezTo>
                  <a:pt x="24801" y="1667455"/>
                  <a:pt x="0" y="1642654"/>
                  <a:pt x="0" y="1612061"/>
                </a:cubicBezTo>
                <a:lnTo>
                  <a:pt x="0" y="55394"/>
                </a:lnTo>
                <a:cubicBezTo>
                  <a:pt x="0" y="40702"/>
                  <a:pt x="5836" y="26613"/>
                  <a:pt x="16224" y="16224"/>
                </a:cubicBezTo>
                <a:cubicBezTo>
                  <a:pt x="26613" y="5836"/>
                  <a:pt x="40702" y="0"/>
                  <a:pt x="55394" y="0"/>
                </a:cubicBezTo>
                <a:close/>
              </a:path>
            </a:pathLst>
          </a:custGeom>
          <a:solidFill>
            <a:srgbClr val="41A3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7"/>
          <p:cNvSpPr txBox="1"/>
          <p:nvPr/>
        </p:nvSpPr>
        <p:spPr>
          <a:xfrm>
            <a:off x="2882766" y="1779372"/>
            <a:ext cx="186690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4B4545"/>
                </a:solidFill>
                <a:latin typeface="Corben"/>
                <a:ea typeface="Corben"/>
                <a:cs typeface="Corben"/>
                <a:sym typeface="Corben"/>
              </a:rPr>
              <a:t>Top Product Class</a:t>
            </a:r>
            <a:endParaRPr/>
          </a:p>
        </p:txBody>
      </p:sp>
      <p:sp>
        <p:nvSpPr>
          <p:cNvPr id="226" name="Google Shape;226;p7"/>
          <p:cNvSpPr/>
          <p:nvPr/>
        </p:nvSpPr>
        <p:spPr>
          <a:xfrm>
            <a:off x="277866" y="2084172"/>
            <a:ext cx="2109600" cy="533400"/>
          </a:xfrm>
          <a:custGeom>
            <a:rect b="b" l="l" r="r" t="t"/>
            <a:pathLst>
              <a:path extrusionOk="0" h="1667455" w="1877292">
                <a:moveTo>
                  <a:pt x="55394" y="0"/>
                </a:moveTo>
                <a:lnTo>
                  <a:pt x="1821898" y="0"/>
                </a:lnTo>
                <a:cubicBezTo>
                  <a:pt x="1852491" y="0"/>
                  <a:pt x="1877292" y="24801"/>
                  <a:pt x="1877292" y="55394"/>
                </a:cubicBezTo>
                <a:lnTo>
                  <a:pt x="1877292" y="1612061"/>
                </a:lnTo>
                <a:cubicBezTo>
                  <a:pt x="1877292" y="1626752"/>
                  <a:pt x="1871456" y="1640842"/>
                  <a:pt x="1861068" y="1651230"/>
                </a:cubicBezTo>
                <a:cubicBezTo>
                  <a:pt x="1850679" y="1661619"/>
                  <a:pt x="1836590" y="1667455"/>
                  <a:pt x="1821898" y="1667455"/>
                </a:cubicBezTo>
                <a:lnTo>
                  <a:pt x="55394" y="1667455"/>
                </a:lnTo>
                <a:cubicBezTo>
                  <a:pt x="24801" y="1667455"/>
                  <a:pt x="0" y="1642654"/>
                  <a:pt x="0" y="1612061"/>
                </a:cubicBezTo>
                <a:lnTo>
                  <a:pt x="0" y="55394"/>
                </a:lnTo>
                <a:cubicBezTo>
                  <a:pt x="0" y="40702"/>
                  <a:pt x="5836" y="26613"/>
                  <a:pt x="16224" y="16224"/>
                </a:cubicBezTo>
                <a:cubicBezTo>
                  <a:pt x="26613" y="5836"/>
                  <a:pt x="40702" y="0"/>
                  <a:pt x="5539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7"/>
          <p:cNvSpPr txBox="1"/>
          <p:nvPr/>
        </p:nvSpPr>
        <p:spPr>
          <a:xfrm>
            <a:off x="368166" y="2110485"/>
            <a:ext cx="1866900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B4545"/>
                </a:solidFill>
                <a:latin typeface="Corben"/>
                <a:ea typeface="Corben"/>
                <a:cs typeface="Corben"/>
                <a:sym typeface="Corben"/>
              </a:rPr>
              <a:t>Lonclotide </a:t>
            </a:r>
            <a:endParaRPr b="0" i="0" sz="1400" u="none" cap="none" strike="noStrike">
              <a:solidFill>
                <a:srgbClr val="4B4545"/>
              </a:solidFill>
              <a:latin typeface="Corben"/>
              <a:ea typeface="Corben"/>
              <a:cs typeface="Corben"/>
              <a:sym typeface="Corbe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B4545"/>
                </a:solidFill>
                <a:latin typeface="Corben"/>
                <a:ea typeface="Corben"/>
                <a:cs typeface="Corben"/>
                <a:sym typeface="Corben"/>
              </a:rPr>
              <a:t>($ 169,08 M)</a:t>
            </a:r>
            <a:endParaRPr/>
          </a:p>
        </p:txBody>
      </p:sp>
      <p:sp>
        <p:nvSpPr>
          <p:cNvPr id="228" name="Google Shape;228;p7"/>
          <p:cNvSpPr/>
          <p:nvPr/>
        </p:nvSpPr>
        <p:spPr>
          <a:xfrm>
            <a:off x="2792466" y="2084172"/>
            <a:ext cx="2109600" cy="533400"/>
          </a:xfrm>
          <a:custGeom>
            <a:rect b="b" l="l" r="r" t="t"/>
            <a:pathLst>
              <a:path extrusionOk="0" h="1667455" w="1877292">
                <a:moveTo>
                  <a:pt x="55394" y="0"/>
                </a:moveTo>
                <a:lnTo>
                  <a:pt x="1821898" y="0"/>
                </a:lnTo>
                <a:cubicBezTo>
                  <a:pt x="1852491" y="0"/>
                  <a:pt x="1877292" y="24801"/>
                  <a:pt x="1877292" y="55394"/>
                </a:cubicBezTo>
                <a:lnTo>
                  <a:pt x="1877292" y="1612061"/>
                </a:lnTo>
                <a:cubicBezTo>
                  <a:pt x="1877292" y="1626752"/>
                  <a:pt x="1871456" y="1640842"/>
                  <a:pt x="1861068" y="1651230"/>
                </a:cubicBezTo>
                <a:cubicBezTo>
                  <a:pt x="1850679" y="1661619"/>
                  <a:pt x="1836590" y="1667455"/>
                  <a:pt x="1821898" y="1667455"/>
                </a:cubicBezTo>
                <a:lnTo>
                  <a:pt x="55394" y="1667455"/>
                </a:lnTo>
                <a:cubicBezTo>
                  <a:pt x="24801" y="1667455"/>
                  <a:pt x="0" y="1642654"/>
                  <a:pt x="0" y="1612061"/>
                </a:cubicBezTo>
                <a:lnTo>
                  <a:pt x="0" y="55394"/>
                </a:lnTo>
                <a:cubicBezTo>
                  <a:pt x="0" y="40702"/>
                  <a:pt x="5836" y="26613"/>
                  <a:pt x="16224" y="16224"/>
                </a:cubicBezTo>
                <a:cubicBezTo>
                  <a:pt x="26613" y="5836"/>
                  <a:pt x="40702" y="0"/>
                  <a:pt x="5539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7"/>
          <p:cNvSpPr txBox="1"/>
          <p:nvPr/>
        </p:nvSpPr>
        <p:spPr>
          <a:xfrm>
            <a:off x="2872406" y="2110485"/>
            <a:ext cx="1866900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B4545"/>
                </a:solidFill>
                <a:latin typeface="Corben"/>
                <a:ea typeface="Corben"/>
                <a:cs typeface="Corben"/>
                <a:sym typeface="Corben"/>
              </a:rPr>
              <a:t>Analgesics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B4545"/>
                </a:solidFill>
                <a:latin typeface="Corben"/>
                <a:ea typeface="Corben"/>
                <a:cs typeface="Corben"/>
                <a:sym typeface="Corben"/>
              </a:rPr>
              <a:t>( $2.37 bn )</a:t>
            </a:r>
            <a:endParaRPr b="0" i="0" sz="1400" u="none" cap="none" strike="noStrike">
              <a:solidFill>
                <a:srgbClr val="4B4545"/>
              </a:solidFill>
              <a:latin typeface="Corben"/>
              <a:ea typeface="Corben"/>
              <a:cs typeface="Corben"/>
              <a:sym typeface="Corben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5095040" y="1703172"/>
            <a:ext cx="2321626" cy="1018401"/>
          </a:xfrm>
          <a:custGeom>
            <a:rect b="b" l="l" r="r" t="t"/>
            <a:pathLst>
              <a:path extrusionOk="0" h="1667455" w="1877292">
                <a:moveTo>
                  <a:pt x="55394" y="0"/>
                </a:moveTo>
                <a:lnTo>
                  <a:pt x="1821898" y="0"/>
                </a:lnTo>
                <a:cubicBezTo>
                  <a:pt x="1852491" y="0"/>
                  <a:pt x="1877292" y="24801"/>
                  <a:pt x="1877292" y="55394"/>
                </a:cubicBezTo>
                <a:lnTo>
                  <a:pt x="1877292" y="1612061"/>
                </a:lnTo>
                <a:cubicBezTo>
                  <a:pt x="1877292" y="1626752"/>
                  <a:pt x="1871456" y="1640842"/>
                  <a:pt x="1861068" y="1651230"/>
                </a:cubicBezTo>
                <a:cubicBezTo>
                  <a:pt x="1850679" y="1661619"/>
                  <a:pt x="1836590" y="1667455"/>
                  <a:pt x="1821898" y="1667455"/>
                </a:cubicBezTo>
                <a:lnTo>
                  <a:pt x="55394" y="1667455"/>
                </a:lnTo>
                <a:cubicBezTo>
                  <a:pt x="24801" y="1667455"/>
                  <a:pt x="0" y="1642654"/>
                  <a:pt x="0" y="1612061"/>
                </a:cubicBezTo>
                <a:lnTo>
                  <a:pt x="0" y="55394"/>
                </a:lnTo>
                <a:cubicBezTo>
                  <a:pt x="0" y="40702"/>
                  <a:pt x="5836" y="26613"/>
                  <a:pt x="16224" y="16224"/>
                </a:cubicBezTo>
                <a:cubicBezTo>
                  <a:pt x="26613" y="5836"/>
                  <a:pt x="40702" y="0"/>
                  <a:pt x="55394" y="0"/>
                </a:cubicBezTo>
                <a:close/>
              </a:path>
            </a:pathLst>
          </a:custGeom>
          <a:solidFill>
            <a:srgbClr val="41A3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7"/>
          <p:cNvSpPr txBox="1"/>
          <p:nvPr/>
        </p:nvSpPr>
        <p:spPr>
          <a:xfrm>
            <a:off x="5321166" y="1787772"/>
            <a:ext cx="186690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4B4545"/>
                </a:solidFill>
                <a:latin typeface="Corben"/>
                <a:ea typeface="Corben"/>
                <a:cs typeface="Corben"/>
                <a:sym typeface="Corben"/>
              </a:rPr>
              <a:t>Top City</a:t>
            </a:r>
            <a:endParaRPr b="1" i="0" sz="1400" u="none" cap="none" strike="noStrike">
              <a:solidFill>
                <a:srgbClr val="4B4545"/>
              </a:solidFill>
              <a:latin typeface="Corben"/>
              <a:ea typeface="Corben"/>
              <a:cs typeface="Corben"/>
              <a:sym typeface="Corben"/>
            </a:endParaRPr>
          </a:p>
        </p:txBody>
      </p:sp>
      <p:sp>
        <p:nvSpPr>
          <p:cNvPr id="232" name="Google Shape;232;p7"/>
          <p:cNvSpPr/>
          <p:nvPr/>
        </p:nvSpPr>
        <p:spPr>
          <a:xfrm>
            <a:off x="5230866" y="2084172"/>
            <a:ext cx="2109600" cy="533400"/>
          </a:xfrm>
          <a:custGeom>
            <a:rect b="b" l="l" r="r" t="t"/>
            <a:pathLst>
              <a:path extrusionOk="0" h="1667455" w="1877292">
                <a:moveTo>
                  <a:pt x="55394" y="0"/>
                </a:moveTo>
                <a:lnTo>
                  <a:pt x="1821898" y="0"/>
                </a:lnTo>
                <a:cubicBezTo>
                  <a:pt x="1852491" y="0"/>
                  <a:pt x="1877292" y="24801"/>
                  <a:pt x="1877292" y="55394"/>
                </a:cubicBezTo>
                <a:lnTo>
                  <a:pt x="1877292" y="1612061"/>
                </a:lnTo>
                <a:cubicBezTo>
                  <a:pt x="1877292" y="1626752"/>
                  <a:pt x="1871456" y="1640842"/>
                  <a:pt x="1861068" y="1651230"/>
                </a:cubicBezTo>
                <a:cubicBezTo>
                  <a:pt x="1850679" y="1661619"/>
                  <a:pt x="1836590" y="1667455"/>
                  <a:pt x="1821898" y="1667455"/>
                </a:cubicBezTo>
                <a:lnTo>
                  <a:pt x="55394" y="1667455"/>
                </a:lnTo>
                <a:cubicBezTo>
                  <a:pt x="24801" y="1667455"/>
                  <a:pt x="0" y="1642654"/>
                  <a:pt x="0" y="1612061"/>
                </a:cubicBezTo>
                <a:lnTo>
                  <a:pt x="0" y="55394"/>
                </a:lnTo>
                <a:cubicBezTo>
                  <a:pt x="0" y="40702"/>
                  <a:pt x="5836" y="26613"/>
                  <a:pt x="16224" y="16224"/>
                </a:cubicBezTo>
                <a:cubicBezTo>
                  <a:pt x="26613" y="5836"/>
                  <a:pt x="40702" y="0"/>
                  <a:pt x="5539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7"/>
          <p:cNvSpPr txBox="1"/>
          <p:nvPr/>
        </p:nvSpPr>
        <p:spPr>
          <a:xfrm>
            <a:off x="5310806" y="2110485"/>
            <a:ext cx="1866900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B4545"/>
                </a:solidFill>
                <a:latin typeface="Corben"/>
                <a:ea typeface="Corben"/>
                <a:cs typeface="Corben"/>
                <a:sym typeface="Corben"/>
              </a:rPr>
              <a:t>Butzbach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B4545"/>
                </a:solidFill>
                <a:latin typeface="Corben"/>
                <a:ea typeface="Corben"/>
                <a:cs typeface="Corben"/>
                <a:sym typeface="Corben"/>
              </a:rPr>
              <a:t>($93,56 M)</a:t>
            </a:r>
            <a:endParaRPr/>
          </a:p>
        </p:txBody>
      </p:sp>
      <p:sp>
        <p:nvSpPr>
          <p:cNvPr id="234" name="Google Shape;234;p7"/>
          <p:cNvSpPr txBox="1"/>
          <p:nvPr/>
        </p:nvSpPr>
        <p:spPr>
          <a:xfrm>
            <a:off x="406266" y="1779372"/>
            <a:ext cx="186690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4B4545"/>
                </a:solidFill>
                <a:latin typeface="Corben"/>
                <a:ea typeface="Corben"/>
                <a:cs typeface="Corben"/>
                <a:sym typeface="Corben"/>
              </a:rPr>
              <a:t>Top Product  Name</a:t>
            </a:r>
            <a:endParaRPr b="1" i="0" sz="1400" u="none" cap="none" strike="noStrike">
              <a:solidFill>
                <a:srgbClr val="4B4545"/>
              </a:solidFill>
              <a:latin typeface="Corben"/>
              <a:ea typeface="Corben"/>
              <a:cs typeface="Corben"/>
              <a:sym typeface="Corben"/>
            </a:endParaRPr>
          </a:p>
        </p:txBody>
      </p:sp>
      <p:sp>
        <p:nvSpPr>
          <p:cNvPr id="235" name="Google Shape;235;p7"/>
          <p:cNvSpPr/>
          <p:nvPr/>
        </p:nvSpPr>
        <p:spPr>
          <a:xfrm>
            <a:off x="177666" y="2816732"/>
            <a:ext cx="2321626" cy="1031368"/>
          </a:xfrm>
          <a:custGeom>
            <a:rect b="b" l="l" r="r" t="t"/>
            <a:pathLst>
              <a:path extrusionOk="0" h="1667455" w="1877292">
                <a:moveTo>
                  <a:pt x="55394" y="0"/>
                </a:moveTo>
                <a:lnTo>
                  <a:pt x="1821898" y="0"/>
                </a:lnTo>
                <a:cubicBezTo>
                  <a:pt x="1852491" y="0"/>
                  <a:pt x="1877292" y="24801"/>
                  <a:pt x="1877292" y="55394"/>
                </a:cubicBezTo>
                <a:lnTo>
                  <a:pt x="1877292" y="1612061"/>
                </a:lnTo>
                <a:cubicBezTo>
                  <a:pt x="1877292" y="1626752"/>
                  <a:pt x="1871456" y="1640842"/>
                  <a:pt x="1861068" y="1651230"/>
                </a:cubicBezTo>
                <a:cubicBezTo>
                  <a:pt x="1850679" y="1661619"/>
                  <a:pt x="1836590" y="1667455"/>
                  <a:pt x="1821898" y="1667455"/>
                </a:cubicBezTo>
                <a:lnTo>
                  <a:pt x="55394" y="1667455"/>
                </a:lnTo>
                <a:cubicBezTo>
                  <a:pt x="24801" y="1667455"/>
                  <a:pt x="0" y="1642654"/>
                  <a:pt x="0" y="1612061"/>
                </a:cubicBezTo>
                <a:lnTo>
                  <a:pt x="0" y="55394"/>
                </a:lnTo>
                <a:cubicBezTo>
                  <a:pt x="0" y="40702"/>
                  <a:pt x="5836" y="26613"/>
                  <a:pt x="16224" y="16224"/>
                </a:cubicBezTo>
                <a:cubicBezTo>
                  <a:pt x="26613" y="5836"/>
                  <a:pt x="40702" y="0"/>
                  <a:pt x="55394" y="0"/>
                </a:cubicBezTo>
                <a:close/>
              </a:path>
            </a:pathLst>
          </a:custGeom>
          <a:solidFill>
            <a:srgbClr val="41A3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7"/>
          <p:cNvSpPr/>
          <p:nvPr/>
        </p:nvSpPr>
        <p:spPr>
          <a:xfrm>
            <a:off x="2681906" y="2816732"/>
            <a:ext cx="2321626" cy="1031368"/>
          </a:xfrm>
          <a:custGeom>
            <a:rect b="b" l="l" r="r" t="t"/>
            <a:pathLst>
              <a:path extrusionOk="0" h="1667455" w="1877292">
                <a:moveTo>
                  <a:pt x="55394" y="0"/>
                </a:moveTo>
                <a:lnTo>
                  <a:pt x="1821898" y="0"/>
                </a:lnTo>
                <a:cubicBezTo>
                  <a:pt x="1852491" y="0"/>
                  <a:pt x="1877292" y="24801"/>
                  <a:pt x="1877292" y="55394"/>
                </a:cubicBezTo>
                <a:lnTo>
                  <a:pt x="1877292" y="1612061"/>
                </a:lnTo>
                <a:cubicBezTo>
                  <a:pt x="1877292" y="1626752"/>
                  <a:pt x="1871456" y="1640842"/>
                  <a:pt x="1861068" y="1651230"/>
                </a:cubicBezTo>
                <a:cubicBezTo>
                  <a:pt x="1850679" y="1661619"/>
                  <a:pt x="1836590" y="1667455"/>
                  <a:pt x="1821898" y="1667455"/>
                </a:cubicBezTo>
                <a:lnTo>
                  <a:pt x="55394" y="1667455"/>
                </a:lnTo>
                <a:cubicBezTo>
                  <a:pt x="24801" y="1667455"/>
                  <a:pt x="0" y="1642654"/>
                  <a:pt x="0" y="1612061"/>
                </a:cubicBezTo>
                <a:lnTo>
                  <a:pt x="0" y="55394"/>
                </a:lnTo>
                <a:cubicBezTo>
                  <a:pt x="0" y="40702"/>
                  <a:pt x="5836" y="26613"/>
                  <a:pt x="16224" y="16224"/>
                </a:cubicBezTo>
                <a:cubicBezTo>
                  <a:pt x="26613" y="5836"/>
                  <a:pt x="40702" y="0"/>
                  <a:pt x="55394" y="0"/>
                </a:cubicBezTo>
                <a:close/>
              </a:path>
            </a:pathLst>
          </a:custGeom>
          <a:solidFill>
            <a:srgbClr val="41A3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7"/>
          <p:cNvSpPr txBox="1"/>
          <p:nvPr/>
        </p:nvSpPr>
        <p:spPr>
          <a:xfrm>
            <a:off x="2908032" y="2922372"/>
            <a:ext cx="186690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4B4545"/>
                </a:solidFill>
                <a:latin typeface="Corben"/>
                <a:ea typeface="Corben"/>
                <a:cs typeface="Corben"/>
                <a:sym typeface="Corben"/>
              </a:rPr>
              <a:t>Top Channel</a:t>
            </a:r>
            <a:endParaRPr b="1" i="0" sz="1400" u="none" cap="none" strike="noStrike">
              <a:solidFill>
                <a:srgbClr val="4B4545"/>
              </a:solidFill>
              <a:latin typeface="Corben"/>
              <a:ea typeface="Corben"/>
              <a:cs typeface="Corben"/>
              <a:sym typeface="Corben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303132" y="3227172"/>
            <a:ext cx="2109600" cy="533400"/>
          </a:xfrm>
          <a:custGeom>
            <a:rect b="b" l="l" r="r" t="t"/>
            <a:pathLst>
              <a:path extrusionOk="0" h="1667455" w="1877292">
                <a:moveTo>
                  <a:pt x="55394" y="0"/>
                </a:moveTo>
                <a:lnTo>
                  <a:pt x="1821898" y="0"/>
                </a:lnTo>
                <a:cubicBezTo>
                  <a:pt x="1852491" y="0"/>
                  <a:pt x="1877292" y="24801"/>
                  <a:pt x="1877292" y="55394"/>
                </a:cubicBezTo>
                <a:lnTo>
                  <a:pt x="1877292" y="1612061"/>
                </a:lnTo>
                <a:cubicBezTo>
                  <a:pt x="1877292" y="1626752"/>
                  <a:pt x="1871456" y="1640842"/>
                  <a:pt x="1861068" y="1651230"/>
                </a:cubicBezTo>
                <a:cubicBezTo>
                  <a:pt x="1850679" y="1661619"/>
                  <a:pt x="1836590" y="1667455"/>
                  <a:pt x="1821898" y="1667455"/>
                </a:cubicBezTo>
                <a:lnTo>
                  <a:pt x="55394" y="1667455"/>
                </a:lnTo>
                <a:cubicBezTo>
                  <a:pt x="24801" y="1667455"/>
                  <a:pt x="0" y="1642654"/>
                  <a:pt x="0" y="1612061"/>
                </a:cubicBezTo>
                <a:lnTo>
                  <a:pt x="0" y="55394"/>
                </a:lnTo>
                <a:cubicBezTo>
                  <a:pt x="0" y="40702"/>
                  <a:pt x="5836" y="26613"/>
                  <a:pt x="16224" y="16224"/>
                </a:cubicBezTo>
                <a:cubicBezTo>
                  <a:pt x="26613" y="5836"/>
                  <a:pt x="40702" y="0"/>
                  <a:pt x="5539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7"/>
          <p:cNvSpPr txBox="1"/>
          <p:nvPr/>
        </p:nvSpPr>
        <p:spPr>
          <a:xfrm>
            <a:off x="360572" y="3227172"/>
            <a:ext cx="1866900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B4545"/>
                </a:solidFill>
                <a:latin typeface="Corben"/>
                <a:ea typeface="Corben"/>
                <a:cs typeface="Corben"/>
                <a:sym typeface="Corben"/>
              </a:rPr>
              <a:t>Germany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B4545"/>
                </a:solidFill>
                <a:latin typeface="Corben"/>
                <a:ea typeface="Corben"/>
                <a:cs typeface="Corben"/>
                <a:sym typeface="Corben"/>
              </a:rPr>
              <a:t>($11,18 bn)</a:t>
            </a:r>
            <a:endParaRPr/>
          </a:p>
        </p:txBody>
      </p:sp>
      <p:sp>
        <p:nvSpPr>
          <p:cNvPr id="240" name="Google Shape;240;p7"/>
          <p:cNvSpPr/>
          <p:nvPr/>
        </p:nvSpPr>
        <p:spPr>
          <a:xfrm>
            <a:off x="2817732" y="3227172"/>
            <a:ext cx="2109600" cy="533400"/>
          </a:xfrm>
          <a:custGeom>
            <a:rect b="b" l="l" r="r" t="t"/>
            <a:pathLst>
              <a:path extrusionOk="0" h="1667455" w="1877292">
                <a:moveTo>
                  <a:pt x="55394" y="0"/>
                </a:moveTo>
                <a:lnTo>
                  <a:pt x="1821898" y="0"/>
                </a:lnTo>
                <a:cubicBezTo>
                  <a:pt x="1852491" y="0"/>
                  <a:pt x="1877292" y="24801"/>
                  <a:pt x="1877292" y="55394"/>
                </a:cubicBezTo>
                <a:lnTo>
                  <a:pt x="1877292" y="1612061"/>
                </a:lnTo>
                <a:cubicBezTo>
                  <a:pt x="1877292" y="1626752"/>
                  <a:pt x="1871456" y="1640842"/>
                  <a:pt x="1861068" y="1651230"/>
                </a:cubicBezTo>
                <a:cubicBezTo>
                  <a:pt x="1850679" y="1661619"/>
                  <a:pt x="1836590" y="1667455"/>
                  <a:pt x="1821898" y="1667455"/>
                </a:cubicBezTo>
                <a:lnTo>
                  <a:pt x="55394" y="1667455"/>
                </a:lnTo>
                <a:cubicBezTo>
                  <a:pt x="24801" y="1667455"/>
                  <a:pt x="0" y="1642654"/>
                  <a:pt x="0" y="1612061"/>
                </a:cubicBezTo>
                <a:lnTo>
                  <a:pt x="0" y="55394"/>
                </a:lnTo>
                <a:cubicBezTo>
                  <a:pt x="0" y="40702"/>
                  <a:pt x="5836" y="26613"/>
                  <a:pt x="16224" y="16224"/>
                </a:cubicBezTo>
                <a:cubicBezTo>
                  <a:pt x="26613" y="5836"/>
                  <a:pt x="40702" y="0"/>
                  <a:pt x="5539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7"/>
          <p:cNvSpPr txBox="1"/>
          <p:nvPr/>
        </p:nvSpPr>
        <p:spPr>
          <a:xfrm>
            <a:off x="2897672" y="3303372"/>
            <a:ext cx="1866900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B4545"/>
                </a:solidFill>
                <a:latin typeface="Corben"/>
                <a:ea typeface="Corben"/>
                <a:cs typeface="Corben"/>
                <a:sym typeface="Corben"/>
              </a:rPr>
              <a:t>Pharmacy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B4545"/>
                </a:solidFill>
                <a:latin typeface="Corben"/>
                <a:ea typeface="Corben"/>
                <a:cs typeface="Corben"/>
                <a:sym typeface="Corben"/>
              </a:rPr>
              <a:t> ($6,28 bn)</a:t>
            </a:r>
            <a:endParaRPr/>
          </a:p>
        </p:txBody>
      </p:sp>
      <p:sp>
        <p:nvSpPr>
          <p:cNvPr id="242" name="Google Shape;242;p7"/>
          <p:cNvSpPr/>
          <p:nvPr/>
        </p:nvSpPr>
        <p:spPr>
          <a:xfrm>
            <a:off x="5120306" y="2846172"/>
            <a:ext cx="2321626" cy="1001928"/>
          </a:xfrm>
          <a:custGeom>
            <a:rect b="b" l="l" r="r" t="t"/>
            <a:pathLst>
              <a:path extrusionOk="0" h="1667455" w="1877292">
                <a:moveTo>
                  <a:pt x="55394" y="0"/>
                </a:moveTo>
                <a:lnTo>
                  <a:pt x="1821898" y="0"/>
                </a:lnTo>
                <a:cubicBezTo>
                  <a:pt x="1852491" y="0"/>
                  <a:pt x="1877292" y="24801"/>
                  <a:pt x="1877292" y="55394"/>
                </a:cubicBezTo>
                <a:lnTo>
                  <a:pt x="1877292" y="1612061"/>
                </a:lnTo>
                <a:cubicBezTo>
                  <a:pt x="1877292" y="1626752"/>
                  <a:pt x="1871456" y="1640842"/>
                  <a:pt x="1861068" y="1651230"/>
                </a:cubicBezTo>
                <a:cubicBezTo>
                  <a:pt x="1850679" y="1661619"/>
                  <a:pt x="1836590" y="1667455"/>
                  <a:pt x="1821898" y="1667455"/>
                </a:cubicBezTo>
                <a:lnTo>
                  <a:pt x="55394" y="1667455"/>
                </a:lnTo>
                <a:cubicBezTo>
                  <a:pt x="24801" y="1667455"/>
                  <a:pt x="0" y="1642654"/>
                  <a:pt x="0" y="1612061"/>
                </a:cubicBezTo>
                <a:lnTo>
                  <a:pt x="0" y="55394"/>
                </a:lnTo>
                <a:cubicBezTo>
                  <a:pt x="0" y="40702"/>
                  <a:pt x="5836" y="26613"/>
                  <a:pt x="16224" y="16224"/>
                </a:cubicBezTo>
                <a:cubicBezTo>
                  <a:pt x="26613" y="5836"/>
                  <a:pt x="40702" y="0"/>
                  <a:pt x="55394" y="0"/>
                </a:cubicBezTo>
                <a:close/>
              </a:path>
            </a:pathLst>
          </a:custGeom>
          <a:solidFill>
            <a:srgbClr val="41A3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7"/>
          <p:cNvSpPr txBox="1"/>
          <p:nvPr/>
        </p:nvSpPr>
        <p:spPr>
          <a:xfrm>
            <a:off x="5346432" y="2922372"/>
            <a:ext cx="186690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4B4545"/>
                </a:solidFill>
                <a:latin typeface="Corben"/>
                <a:ea typeface="Corben"/>
                <a:cs typeface="Corben"/>
                <a:sym typeface="Corben"/>
              </a:rPr>
              <a:t>Top Sub-Channel</a:t>
            </a:r>
            <a:endParaRPr b="1" i="0" sz="1400" u="none" cap="none" strike="noStrike">
              <a:solidFill>
                <a:srgbClr val="4B4545"/>
              </a:solidFill>
              <a:latin typeface="Corben"/>
              <a:ea typeface="Corben"/>
              <a:cs typeface="Corben"/>
              <a:sym typeface="Corben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5256132" y="3227172"/>
            <a:ext cx="2109600" cy="533400"/>
          </a:xfrm>
          <a:custGeom>
            <a:rect b="b" l="l" r="r" t="t"/>
            <a:pathLst>
              <a:path extrusionOk="0" h="1667455" w="1877292">
                <a:moveTo>
                  <a:pt x="55394" y="0"/>
                </a:moveTo>
                <a:lnTo>
                  <a:pt x="1821898" y="0"/>
                </a:lnTo>
                <a:cubicBezTo>
                  <a:pt x="1852491" y="0"/>
                  <a:pt x="1877292" y="24801"/>
                  <a:pt x="1877292" y="55394"/>
                </a:cubicBezTo>
                <a:lnTo>
                  <a:pt x="1877292" y="1612061"/>
                </a:lnTo>
                <a:cubicBezTo>
                  <a:pt x="1877292" y="1626752"/>
                  <a:pt x="1871456" y="1640842"/>
                  <a:pt x="1861068" y="1651230"/>
                </a:cubicBezTo>
                <a:cubicBezTo>
                  <a:pt x="1850679" y="1661619"/>
                  <a:pt x="1836590" y="1667455"/>
                  <a:pt x="1821898" y="1667455"/>
                </a:cubicBezTo>
                <a:lnTo>
                  <a:pt x="55394" y="1667455"/>
                </a:lnTo>
                <a:cubicBezTo>
                  <a:pt x="24801" y="1667455"/>
                  <a:pt x="0" y="1642654"/>
                  <a:pt x="0" y="1612061"/>
                </a:cubicBezTo>
                <a:lnTo>
                  <a:pt x="0" y="55394"/>
                </a:lnTo>
                <a:cubicBezTo>
                  <a:pt x="0" y="40702"/>
                  <a:pt x="5836" y="26613"/>
                  <a:pt x="16224" y="16224"/>
                </a:cubicBezTo>
                <a:cubicBezTo>
                  <a:pt x="26613" y="5836"/>
                  <a:pt x="40702" y="0"/>
                  <a:pt x="5539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7"/>
          <p:cNvSpPr txBox="1"/>
          <p:nvPr/>
        </p:nvSpPr>
        <p:spPr>
          <a:xfrm>
            <a:off x="5336072" y="3303372"/>
            <a:ext cx="1866900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B4545"/>
                </a:solidFill>
                <a:latin typeface="Corben"/>
                <a:ea typeface="Corben"/>
                <a:cs typeface="Corben"/>
                <a:sym typeface="Corben"/>
              </a:rPr>
              <a:t>Retail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B4545"/>
                </a:solidFill>
                <a:latin typeface="Corben"/>
                <a:ea typeface="Corben"/>
                <a:cs typeface="Corben"/>
                <a:sym typeface="Corben"/>
              </a:rPr>
              <a:t>($3,34bn</a:t>
            </a:r>
            <a:endParaRPr/>
          </a:p>
        </p:txBody>
      </p:sp>
      <p:sp>
        <p:nvSpPr>
          <p:cNvPr id="246" name="Google Shape;246;p7"/>
          <p:cNvSpPr txBox="1"/>
          <p:nvPr/>
        </p:nvSpPr>
        <p:spPr>
          <a:xfrm>
            <a:off x="431532" y="2922372"/>
            <a:ext cx="186690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4B4545"/>
                </a:solidFill>
                <a:latin typeface="Corben"/>
                <a:ea typeface="Corben"/>
                <a:cs typeface="Corben"/>
                <a:sym typeface="Corben"/>
              </a:rPr>
              <a:t>Top  Country</a:t>
            </a:r>
            <a:endParaRPr b="1" i="0" sz="1400" u="none" cap="none" strike="noStrike">
              <a:solidFill>
                <a:srgbClr val="4B4545"/>
              </a:solidFill>
              <a:latin typeface="Corben"/>
              <a:ea typeface="Corben"/>
              <a:cs typeface="Corben"/>
              <a:sym typeface="Corben"/>
            </a:endParaRPr>
          </a:p>
        </p:txBody>
      </p:sp>
      <p:grpSp>
        <p:nvGrpSpPr>
          <p:cNvPr id="247" name="Google Shape;247;p7"/>
          <p:cNvGrpSpPr/>
          <p:nvPr/>
        </p:nvGrpSpPr>
        <p:grpSpPr>
          <a:xfrm>
            <a:off x="4927332" y="2935800"/>
            <a:ext cx="7798067" cy="8151299"/>
            <a:chOff x="-36856" y="-38100"/>
            <a:chExt cx="2079716" cy="1705555"/>
          </a:xfrm>
        </p:grpSpPr>
        <p:sp>
          <p:nvSpPr>
            <p:cNvPr id="248" name="Google Shape;248;p7"/>
            <p:cNvSpPr/>
            <p:nvPr/>
          </p:nvSpPr>
          <p:spPr>
            <a:xfrm>
              <a:off x="-36856" y="183893"/>
              <a:ext cx="2079716" cy="1265747"/>
            </a:xfrm>
            <a:custGeom>
              <a:rect b="b" l="l" r="r" t="t"/>
              <a:pathLst>
                <a:path extrusionOk="0" h="1667455" w="1877292">
                  <a:moveTo>
                    <a:pt x="55394" y="0"/>
                  </a:moveTo>
                  <a:lnTo>
                    <a:pt x="1821898" y="0"/>
                  </a:lnTo>
                  <a:cubicBezTo>
                    <a:pt x="1852491" y="0"/>
                    <a:pt x="1877292" y="24801"/>
                    <a:pt x="1877292" y="55394"/>
                  </a:cubicBezTo>
                  <a:lnTo>
                    <a:pt x="1877292" y="1612061"/>
                  </a:lnTo>
                  <a:cubicBezTo>
                    <a:pt x="1877292" y="1626752"/>
                    <a:pt x="1871456" y="1640842"/>
                    <a:pt x="1861068" y="1651230"/>
                  </a:cubicBezTo>
                  <a:cubicBezTo>
                    <a:pt x="1850679" y="1661619"/>
                    <a:pt x="1836590" y="1667455"/>
                    <a:pt x="1821898" y="1667455"/>
                  </a:cubicBezTo>
                  <a:lnTo>
                    <a:pt x="55394" y="1667455"/>
                  </a:lnTo>
                  <a:cubicBezTo>
                    <a:pt x="24801" y="1667455"/>
                    <a:pt x="0" y="1642654"/>
                    <a:pt x="0" y="1612061"/>
                  </a:cubicBezTo>
                  <a:lnTo>
                    <a:pt x="0" y="55394"/>
                  </a:lnTo>
                  <a:cubicBezTo>
                    <a:pt x="0" y="40702"/>
                    <a:pt x="5836" y="26613"/>
                    <a:pt x="16224" y="16224"/>
                  </a:cubicBezTo>
                  <a:cubicBezTo>
                    <a:pt x="26613" y="5836"/>
                    <a:pt x="40702" y="0"/>
                    <a:pt x="55394" y="0"/>
                  </a:cubicBezTo>
                  <a:close/>
                </a:path>
              </a:pathLst>
            </a:custGeom>
            <a:solidFill>
              <a:srgbClr val="41A3A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7"/>
            <p:cNvSpPr txBox="1"/>
            <p:nvPr/>
          </p:nvSpPr>
          <p:spPr>
            <a:xfrm>
              <a:off x="0" y="-38100"/>
              <a:ext cx="1877292" cy="17055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250" name="Google Shape;250;p7"/>
          <p:cNvGraphicFramePr/>
          <p:nvPr/>
        </p:nvGraphicFramePr>
        <p:xfrm>
          <a:off x="5065527" y="4147278"/>
          <a:ext cx="7376494" cy="5716303"/>
        </p:xfrm>
        <a:graphic>
          <a:graphicData uri="http://schemas.openxmlformats.org/drawingml/2006/chart">
            <c:chart r:id="rId3"/>
          </a:graphicData>
        </a:graphic>
      </p:graphicFrame>
      <p:grpSp>
        <p:nvGrpSpPr>
          <p:cNvPr id="251" name="Google Shape;251;p7"/>
          <p:cNvGrpSpPr/>
          <p:nvPr/>
        </p:nvGrpSpPr>
        <p:grpSpPr>
          <a:xfrm>
            <a:off x="13411200" y="17503"/>
            <a:ext cx="6177735" cy="4287797"/>
            <a:chOff x="-9833" y="-38100"/>
            <a:chExt cx="1887125" cy="1705555"/>
          </a:xfrm>
        </p:grpSpPr>
        <p:sp>
          <p:nvSpPr>
            <p:cNvPr id="252" name="Google Shape;252;p7"/>
            <p:cNvSpPr/>
            <p:nvPr/>
          </p:nvSpPr>
          <p:spPr>
            <a:xfrm>
              <a:off x="-9833" y="390616"/>
              <a:ext cx="1442881" cy="1060163"/>
            </a:xfrm>
            <a:custGeom>
              <a:rect b="b" l="l" r="r" t="t"/>
              <a:pathLst>
                <a:path extrusionOk="0" h="1667455" w="1877292">
                  <a:moveTo>
                    <a:pt x="55394" y="0"/>
                  </a:moveTo>
                  <a:lnTo>
                    <a:pt x="1821898" y="0"/>
                  </a:lnTo>
                  <a:cubicBezTo>
                    <a:pt x="1852491" y="0"/>
                    <a:pt x="1877292" y="24801"/>
                    <a:pt x="1877292" y="55394"/>
                  </a:cubicBezTo>
                  <a:lnTo>
                    <a:pt x="1877292" y="1612061"/>
                  </a:lnTo>
                  <a:cubicBezTo>
                    <a:pt x="1877292" y="1626752"/>
                    <a:pt x="1871456" y="1640842"/>
                    <a:pt x="1861068" y="1651230"/>
                  </a:cubicBezTo>
                  <a:cubicBezTo>
                    <a:pt x="1850679" y="1661619"/>
                    <a:pt x="1836590" y="1667455"/>
                    <a:pt x="1821898" y="1667455"/>
                  </a:cubicBezTo>
                  <a:lnTo>
                    <a:pt x="55394" y="1667455"/>
                  </a:lnTo>
                  <a:cubicBezTo>
                    <a:pt x="24801" y="1667455"/>
                    <a:pt x="0" y="1642654"/>
                    <a:pt x="0" y="1612061"/>
                  </a:cubicBezTo>
                  <a:lnTo>
                    <a:pt x="0" y="55394"/>
                  </a:lnTo>
                  <a:cubicBezTo>
                    <a:pt x="0" y="40702"/>
                    <a:pt x="5836" y="26613"/>
                    <a:pt x="16224" y="16224"/>
                  </a:cubicBezTo>
                  <a:cubicBezTo>
                    <a:pt x="26613" y="5836"/>
                    <a:pt x="40702" y="0"/>
                    <a:pt x="55394" y="0"/>
                  </a:cubicBezTo>
                  <a:close/>
                </a:path>
              </a:pathLst>
            </a:custGeom>
            <a:solidFill>
              <a:srgbClr val="41A3A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7"/>
            <p:cNvSpPr txBox="1"/>
            <p:nvPr/>
          </p:nvSpPr>
          <p:spPr>
            <a:xfrm>
              <a:off x="0" y="-38100"/>
              <a:ext cx="1877292" cy="17055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4" name="Google Shape;254;p7"/>
          <p:cNvGrpSpPr/>
          <p:nvPr/>
        </p:nvGrpSpPr>
        <p:grpSpPr>
          <a:xfrm>
            <a:off x="6642032" y="1117986"/>
            <a:ext cx="7073968" cy="6184224"/>
            <a:chOff x="0" y="-518213"/>
            <a:chExt cx="1877292" cy="2185668"/>
          </a:xfrm>
        </p:grpSpPr>
        <p:sp>
          <p:nvSpPr>
            <p:cNvPr id="255" name="Google Shape;255;p7"/>
            <p:cNvSpPr/>
            <p:nvPr/>
          </p:nvSpPr>
          <p:spPr>
            <a:xfrm>
              <a:off x="261176" y="-518213"/>
              <a:ext cx="1500130" cy="975235"/>
            </a:xfrm>
            <a:custGeom>
              <a:rect b="b" l="l" r="r" t="t"/>
              <a:pathLst>
                <a:path extrusionOk="0" h="1667455" w="1877292">
                  <a:moveTo>
                    <a:pt x="55394" y="0"/>
                  </a:moveTo>
                  <a:lnTo>
                    <a:pt x="1821898" y="0"/>
                  </a:lnTo>
                  <a:cubicBezTo>
                    <a:pt x="1852491" y="0"/>
                    <a:pt x="1877292" y="24801"/>
                    <a:pt x="1877292" y="55394"/>
                  </a:cubicBezTo>
                  <a:lnTo>
                    <a:pt x="1877292" y="1612061"/>
                  </a:lnTo>
                  <a:cubicBezTo>
                    <a:pt x="1877292" y="1626752"/>
                    <a:pt x="1871456" y="1640842"/>
                    <a:pt x="1861068" y="1651230"/>
                  </a:cubicBezTo>
                  <a:cubicBezTo>
                    <a:pt x="1850679" y="1661619"/>
                    <a:pt x="1836590" y="1667455"/>
                    <a:pt x="1821898" y="1667455"/>
                  </a:cubicBezTo>
                  <a:lnTo>
                    <a:pt x="55394" y="1667455"/>
                  </a:lnTo>
                  <a:cubicBezTo>
                    <a:pt x="24801" y="1667455"/>
                    <a:pt x="0" y="1642654"/>
                    <a:pt x="0" y="1612061"/>
                  </a:cubicBezTo>
                  <a:lnTo>
                    <a:pt x="0" y="55394"/>
                  </a:lnTo>
                  <a:cubicBezTo>
                    <a:pt x="0" y="40702"/>
                    <a:pt x="5836" y="26613"/>
                    <a:pt x="16224" y="16224"/>
                  </a:cubicBezTo>
                  <a:cubicBezTo>
                    <a:pt x="26613" y="5836"/>
                    <a:pt x="40702" y="0"/>
                    <a:pt x="55394" y="0"/>
                  </a:cubicBezTo>
                  <a:close/>
                </a:path>
              </a:pathLst>
            </a:custGeom>
            <a:solidFill>
              <a:srgbClr val="41A3A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7"/>
            <p:cNvSpPr txBox="1"/>
            <p:nvPr/>
          </p:nvSpPr>
          <p:spPr>
            <a:xfrm>
              <a:off x="0" y="-38100"/>
              <a:ext cx="1877292" cy="17055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257" name="Google Shape;257;p7"/>
          <p:cNvGraphicFramePr/>
          <p:nvPr/>
        </p:nvGraphicFramePr>
        <p:xfrm>
          <a:off x="7798529" y="1191490"/>
          <a:ext cx="5308074" cy="2582497"/>
        </p:xfrm>
        <a:graphic>
          <a:graphicData uri="http://schemas.openxmlformats.org/drawingml/2006/chart">
            <c:chart r:id="rId4"/>
          </a:graphicData>
        </a:graphic>
      </p:graphicFrame>
      <p:grpSp>
        <p:nvGrpSpPr>
          <p:cNvPr id="258" name="Google Shape;258;p7"/>
          <p:cNvGrpSpPr/>
          <p:nvPr/>
        </p:nvGrpSpPr>
        <p:grpSpPr>
          <a:xfrm>
            <a:off x="112645" y="1889413"/>
            <a:ext cx="5834377" cy="8156692"/>
            <a:chOff x="-1681" y="-38100"/>
            <a:chExt cx="1878973" cy="1744594"/>
          </a:xfrm>
        </p:grpSpPr>
        <p:sp>
          <p:nvSpPr>
            <p:cNvPr id="259" name="Google Shape;259;p7"/>
            <p:cNvSpPr/>
            <p:nvPr/>
          </p:nvSpPr>
          <p:spPr>
            <a:xfrm>
              <a:off x="-1681" y="401908"/>
              <a:ext cx="1481751" cy="1304586"/>
            </a:xfrm>
            <a:custGeom>
              <a:rect b="b" l="l" r="r" t="t"/>
              <a:pathLst>
                <a:path extrusionOk="0" h="1667455" w="1877292">
                  <a:moveTo>
                    <a:pt x="55394" y="0"/>
                  </a:moveTo>
                  <a:lnTo>
                    <a:pt x="1821898" y="0"/>
                  </a:lnTo>
                  <a:cubicBezTo>
                    <a:pt x="1852491" y="0"/>
                    <a:pt x="1877292" y="24801"/>
                    <a:pt x="1877292" y="55394"/>
                  </a:cubicBezTo>
                  <a:lnTo>
                    <a:pt x="1877292" y="1612061"/>
                  </a:lnTo>
                  <a:cubicBezTo>
                    <a:pt x="1877292" y="1626752"/>
                    <a:pt x="1871456" y="1640842"/>
                    <a:pt x="1861068" y="1651230"/>
                  </a:cubicBezTo>
                  <a:cubicBezTo>
                    <a:pt x="1850679" y="1661619"/>
                    <a:pt x="1836590" y="1667455"/>
                    <a:pt x="1821898" y="1667455"/>
                  </a:cubicBezTo>
                  <a:lnTo>
                    <a:pt x="55394" y="1667455"/>
                  </a:lnTo>
                  <a:cubicBezTo>
                    <a:pt x="24801" y="1667455"/>
                    <a:pt x="0" y="1642654"/>
                    <a:pt x="0" y="1612061"/>
                  </a:cubicBezTo>
                  <a:lnTo>
                    <a:pt x="0" y="55394"/>
                  </a:lnTo>
                  <a:cubicBezTo>
                    <a:pt x="0" y="40702"/>
                    <a:pt x="5836" y="26613"/>
                    <a:pt x="16224" y="16224"/>
                  </a:cubicBezTo>
                  <a:cubicBezTo>
                    <a:pt x="26613" y="5836"/>
                    <a:pt x="40702" y="0"/>
                    <a:pt x="55394" y="0"/>
                  </a:cubicBezTo>
                  <a:close/>
                </a:path>
              </a:pathLst>
            </a:custGeom>
            <a:solidFill>
              <a:srgbClr val="41A3A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7"/>
            <p:cNvSpPr txBox="1"/>
            <p:nvPr/>
          </p:nvSpPr>
          <p:spPr>
            <a:xfrm>
              <a:off x="0" y="-38100"/>
              <a:ext cx="1877292" cy="17055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261" name="Google Shape;261;p7"/>
          <p:cNvGraphicFramePr/>
          <p:nvPr/>
        </p:nvGraphicFramePr>
        <p:xfrm>
          <a:off x="265665" y="4162772"/>
          <a:ext cx="4217934" cy="5700810"/>
        </p:xfrm>
        <a:graphic>
          <a:graphicData uri="http://schemas.openxmlformats.org/drawingml/2006/chart">
            <c:chart r:id="rId5"/>
          </a:graphicData>
        </a:graphic>
      </p:graphicFrame>
      <p:grpSp>
        <p:nvGrpSpPr>
          <p:cNvPr id="262" name="Google Shape;262;p7"/>
          <p:cNvGrpSpPr/>
          <p:nvPr/>
        </p:nvGrpSpPr>
        <p:grpSpPr>
          <a:xfrm>
            <a:off x="12877800" y="2325928"/>
            <a:ext cx="6139176" cy="7974169"/>
            <a:chOff x="-99842" y="-38100"/>
            <a:chExt cx="1977134" cy="1705555"/>
          </a:xfrm>
        </p:grpSpPr>
        <p:sp>
          <p:nvSpPr>
            <p:cNvPr id="263" name="Google Shape;263;p7"/>
            <p:cNvSpPr/>
            <p:nvPr/>
          </p:nvSpPr>
          <p:spPr>
            <a:xfrm>
              <a:off x="-99842" y="857901"/>
              <a:ext cx="1692978" cy="782306"/>
            </a:xfrm>
            <a:custGeom>
              <a:rect b="b" l="l" r="r" t="t"/>
              <a:pathLst>
                <a:path extrusionOk="0" h="1667455" w="1877292">
                  <a:moveTo>
                    <a:pt x="55394" y="0"/>
                  </a:moveTo>
                  <a:lnTo>
                    <a:pt x="1821898" y="0"/>
                  </a:lnTo>
                  <a:cubicBezTo>
                    <a:pt x="1852491" y="0"/>
                    <a:pt x="1877292" y="24801"/>
                    <a:pt x="1877292" y="55394"/>
                  </a:cubicBezTo>
                  <a:lnTo>
                    <a:pt x="1877292" y="1612061"/>
                  </a:lnTo>
                  <a:cubicBezTo>
                    <a:pt x="1877292" y="1626752"/>
                    <a:pt x="1871456" y="1640842"/>
                    <a:pt x="1861068" y="1651230"/>
                  </a:cubicBezTo>
                  <a:cubicBezTo>
                    <a:pt x="1850679" y="1661619"/>
                    <a:pt x="1836590" y="1667455"/>
                    <a:pt x="1821898" y="1667455"/>
                  </a:cubicBezTo>
                  <a:lnTo>
                    <a:pt x="55394" y="1667455"/>
                  </a:lnTo>
                  <a:cubicBezTo>
                    <a:pt x="24801" y="1667455"/>
                    <a:pt x="0" y="1642654"/>
                    <a:pt x="0" y="1612061"/>
                  </a:cubicBezTo>
                  <a:lnTo>
                    <a:pt x="0" y="55394"/>
                  </a:lnTo>
                  <a:cubicBezTo>
                    <a:pt x="0" y="40702"/>
                    <a:pt x="5836" y="26613"/>
                    <a:pt x="16224" y="16224"/>
                  </a:cubicBezTo>
                  <a:cubicBezTo>
                    <a:pt x="26613" y="5836"/>
                    <a:pt x="40702" y="0"/>
                    <a:pt x="55394" y="0"/>
                  </a:cubicBezTo>
                  <a:close/>
                </a:path>
              </a:pathLst>
            </a:custGeom>
            <a:solidFill>
              <a:srgbClr val="41A3A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7"/>
            <p:cNvSpPr txBox="1"/>
            <p:nvPr/>
          </p:nvSpPr>
          <p:spPr>
            <a:xfrm>
              <a:off x="0" y="-38100"/>
              <a:ext cx="1877292" cy="17055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5" name="Google Shape;265;p7"/>
          <p:cNvSpPr/>
          <p:nvPr/>
        </p:nvSpPr>
        <p:spPr>
          <a:xfrm>
            <a:off x="13168768" y="6667500"/>
            <a:ext cx="4738232" cy="3429000"/>
          </a:xfrm>
          <a:custGeom>
            <a:rect b="b" l="l" r="r" t="t"/>
            <a:pathLst>
              <a:path extrusionOk="0" h="1667455" w="1877292">
                <a:moveTo>
                  <a:pt x="55394" y="0"/>
                </a:moveTo>
                <a:lnTo>
                  <a:pt x="1821898" y="0"/>
                </a:lnTo>
                <a:cubicBezTo>
                  <a:pt x="1852491" y="0"/>
                  <a:pt x="1877292" y="24801"/>
                  <a:pt x="1877292" y="55394"/>
                </a:cubicBezTo>
                <a:lnTo>
                  <a:pt x="1877292" y="1612061"/>
                </a:lnTo>
                <a:cubicBezTo>
                  <a:pt x="1877292" y="1626752"/>
                  <a:pt x="1871456" y="1640842"/>
                  <a:pt x="1861068" y="1651230"/>
                </a:cubicBezTo>
                <a:cubicBezTo>
                  <a:pt x="1850679" y="1661619"/>
                  <a:pt x="1836590" y="1667455"/>
                  <a:pt x="1821898" y="1667455"/>
                </a:cubicBezTo>
                <a:lnTo>
                  <a:pt x="55394" y="1667455"/>
                </a:lnTo>
                <a:cubicBezTo>
                  <a:pt x="24801" y="1667455"/>
                  <a:pt x="0" y="1642654"/>
                  <a:pt x="0" y="1612061"/>
                </a:cubicBezTo>
                <a:lnTo>
                  <a:pt x="0" y="55394"/>
                </a:lnTo>
                <a:cubicBezTo>
                  <a:pt x="0" y="40702"/>
                  <a:pt x="5836" y="26613"/>
                  <a:pt x="16224" y="16224"/>
                </a:cubicBezTo>
                <a:cubicBezTo>
                  <a:pt x="26613" y="5836"/>
                  <a:pt x="40702" y="0"/>
                  <a:pt x="5539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7"/>
          <p:cNvSpPr txBox="1"/>
          <p:nvPr/>
        </p:nvSpPr>
        <p:spPr>
          <a:xfrm>
            <a:off x="13356146" y="6710958"/>
            <a:ext cx="4300153" cy="33855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The company's sales are heavily dependent on the </a:t>
            </a:r>
            <a:r>
              <a:rPr b="1" i="0" lang="en-US" sz="2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Germany </a:t>
            </a:r>
            <a:r>
              <a:rPr b="0" i="0" lang="en-US" sz="2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market, particularly through the </a:t>
            </a:r>
            <a:r>
              <a:rPr b="1" i="0" lang="en-US" sz="2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pharmaceutical channel.</a:t>
            </a:r>
            <a:endParaRPr b="0" i="0" sz="20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2018</a:t>
            </a:r>
            <a:r>
              <a:rPr b="0" i="0" lang="en-US" sz="2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saw a </a:t>
            </a:r>
            <a:r>
              <a:rPr b="1" i="0" lang="en-US" sz="2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peak in sales</a:t>
            </a:r>
            <a:r>
              <a:rPr b="0" i="0" lang="en-US" sz="2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but the trend has since declined, necessitating a </a:t>
            </a:r>
            <a:r>
              <a:rPr b="1" i="0" lang="en-US" sz="2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strategy to boost sales.</a:t>
            </a:r>
            <a:endParaRPr b="0" i="0" sz="20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Channel and sub-channel diversification is crucial, as retail remains the primary backbone.</a:t>
            </a:r>
            <a:endParaRPr/>
          </a:p>
        </p:txBody>
      </p:sp>
      <p:sp>
        <p:nvSpPr>
          <p:cNvPr id="267" name="Google Shape;267;p7"/>
          <p:cNvSpPr/>
          <p:nvPr/>
        </p:nvSpPr>
        <p:spPr>
          <a:xfrm>
            <a:off x="204168" y="1117986"/>
            <a:ext cx="7136297" cy="495629"/>
          </a:xfrm>
          <a:custGeom>
            <a:rect b="b" l="l" r="r" t="t"/>
            <a:pathLst>
              <a:path extrusionOk="0" h="1667455" w="1877292">
                <a:moveTo>
                  <a:pt x="55394" y="0"/>
                </a:moveTo>
                <a:lnTo>
                  <a:pt x="1821898" y="0"/>
                </a:lnTo>
                <a:cubicBezTo>
                  <a:pt x="1852491" y="0"/>
                  <a:pt x="1877292" y="24801"/>
                  <a:pt x="1877292" y="55394"/>
                </a:cubicBezTo>
                <a:lnTo>
                  <a:pt x="1877292" y="1612061"/>
                </a:lnTo>
                <a:cubicBezTo>
                  <a:pt x="1877292" y="1626752"/>
                  <a:pt x="1871456" y="1640842"/>
                  <a:pt x="1861068" y="1651230"/>
                </a:cubicBezTo>
                <a:cubicBezTo>
                  <a:pt x="1850679" y="1661619"/>
                  <a:pt x="1836590" y="1667455"/>
                  <a:pt x="1821898" y="1667455"/>
                </a:cubicBezTo>
                <a:lnTo>
                  <a:pt x="55394" y="1667455"/>
                </a:lnTo>
                <a:cubicBezTo>
                  <a:pt x="24801" y="1667455"/>
                  <a:pt x="0" y="1642654"/>
                  <a:pt x="0" y="1612061"/>
                </a:cubicBezTo>
                <a:lnTo>
                  <a:pt x="0" y="55394"/>
                </a:lnTo>
                <a:cubicBezTo>
                  <a:pt x="0" y="40702"/>
                  <a:pt x="5836" y="26613"/>
                  <a:pt x="16224" y="16224"/>
                </a:cubicBezTo>
                <a:cubicBezTo>
                  <a:pt x="26613" y="5836"/>
                  <a:pt x="40702" y="0"/>
                  <a:pt x="55394" y="0"/>
                </a:cubicBezTo>
                <a:close/>
              </a:path>
            </a:pathLst>
          </a:custGeom>
          <a:solidFill>
            <a:srgbClr val="41A3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7"/>
          <p:cNvSpPr/>
          <p:nvPr/>
        </p:nvSpPr>
        <p:spPr>
          <a:xfrm>
            <a:off x="2438821" y="1167685"/>
            <a:ext cx="2626706" cy="394415"/>
          </a:xfrm>
          <a:custGeom>
            <a:rect b="b" l="l" r="r" t="t"/>
            <a:pathLst>
              <a:path extrusionOk="0" h="1667455" w="1877292">
                <a:moveTo>
                  <a:pt x="55394" y="0"/>
                </a:moveTo>
                <a:lnTo>
                  <a:pt x="1821898" y="0"/>
                </a:lnTo>
                <a:cubicBezTo>
                  <a:pt x="1852491" y="0"/>
                  <a:pt x="1877292" y="24801"/>
                  <a:pt x="1877292" y="55394"/>
                </a:cubicBezTo>
                <a:lnTo>
                  <a:pt x="1877292" y="1612061"/>
                </a:lnTo>
                <a:cubicBezTo>
                  <a:pt x="1877292" y="1626752"/>
                  <a:pt x="1871456" y="1640842"/>
                  <a:pt x="1861068" y="1651230"/>
                </a:cubicBezTo>
                <a:cubicBezTo>
                  <a:pt x="1850679" y="1661619"/>
                  <a:pt x="1836590" y="1667455"/>
                  <a:pt x="1821898" y="1667455"/>
                </a:cubicBezTo>
                <a:lnTo>
                  <a:pt x="55394" y="1667455"/>
                </a:lnTo>
                <a:cubicBezTo>
                  <a:pt x="24801" y="1667455"/>
                  <a:pt x="0" y="1642654"/>
                  <a:pt x="0" y="1612061"/>
                </a:cubicBezTo>
                <a:lnTo>
                  <a:pt x="0" y="55394"/>
                </a:lnTo>
                <a:cubicBezTo>
                  <a:pt x="0" y="40702"/>
                  <a:pt x="5836" y="26613"/>
                  <a:pt x="16224" y="16224"/>
                </a:cubicBezTo>
                <a:cubicBezTo>
                  <a:pt x="26613" y="5836"/>
                  <a:pt x="40702" y="0"/>
                  <a:pt x="5539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7"/>
          <p:cNvSpPr txBox="1"/>
          <p:nvPr/>
        </p:nvSpPr>
        <p:spPr>
          <a:xfrm>
            <a:off x="2272622" y="1208901"/>
            <a:ext cx="295022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B4545"/>
                </a:solidFill>
                <a:latin typeface="Corben"/>
                <a:ea typeface="Corben"/>
                <a:cs typeface="Corben"/>
                <a:sym typeface="Corben"/>
              </a:rPr>
              <a:t>Total  Sales : </a:t>
            </a:r>
            <a:r>
              <a:rPr b="0" i="0" lang="en-US" sz="1800" u="none" cap="none" strike="noStrike">
                <a:solidFill>
                  <a:srgbClr val="4B4545"/>
                </a:solidFill>
                <a:latin typeface="Corben"/>
                <a:ea typeface="Corben"/>
                <a:cs typeface="Corben"/>
                <a:sym typeface="Corben"/>
              </a:rPr>
              <a:t>$ 11,95 bn</a:t>
            </a:r>
            <a:endParaRPr b="0" i="0" sz="1800" u="none" cap="none" strike="noStrike">
              <a:solidFill>
                <a:srgbClr val="4B4545"/>
              </a:solidFill>
              <a:latin typeface="Corben"/>
              <a:ea typeface="Corben"/>
              <a:cs typeface="Corben"/>
              <a:sym typeface="Corben"/>
            </a:endParaRPr>
          </a:p>
        </p:txBody>
      </p:sp>
      <p:grpSp>
        <p:nvGrpSpPr>
          <p:cNvPr id="270" name="Google Shape;270;p7"/>
          <p:cNvGrpSpPr/>
          <p:nvPr/>
        </p:nvGrpSpPr>
        <p:grpSpPr>
          <a:xfrm>
            <a:off x="13443390" y="2745425"/>
            <a:ext cx="6177735" cy="4287797"/>
            <a:chOff x="-9833" y="-38100"/>
            <a:chExt cx="1887125" cy="1705555"/>
          </a:xfrm>
        </p:grpSpPr>
        <p:sp>
          <p:nvSpPr>
            <p:cNvPr id="271" name="Google Shape;271;p7"/>
            <p:cNvSpPr/>
            <p:nvPr/>
          </p:nvSpPr>
          <p:spPr>
            <a:xfrm>
              <a:off x="-9833" y="390616"/>
              <a:ext cx="1442881" cy="1060163"/>
            </a:xfrm>
            <a:custGeom>
              <a:rect b="b" l="l" r="r" t="t"/>
              <a:pathLst>
                <a:path extrusionOk="0" h="1667455" w="1877292">
                  <a:moveTo>
                    <a:pt x="55394" y="0"/>
                  </a:moveTo>
                  <a:lnTo>
                    <a:pt x="1821898" y="0"/>
                  </a:lnTo>
                  <a:cubicBezTo>
                    <a:pt x="1852491" y="0"/>
                    <a:pt x="1877292" y="24801"/>
                    <a:pt x="1877292" y="55394"/>
                  </a:cubicBezTo>
                  <a:lnTo>
                    <a:pt x="1877292" y="1612061"/>
                  </a:lnTo>
                  <a:cubicBezTo>
                    <a:pt x="1877292" y="1626752"/>
                    <a:pt x="1871456" y="1640842"/>
                    <a:pt x="1861068" y="1651230"/>
                  </a:cubicBezTo>
                  <a:cubicBezTo>
                    <a:pt x="1850679" y="1661619"/>
                    <a:pt x="1836590" y="1667455"/>
                    <a:pt x="1821898" y="1667455"/>
                  </a:cubicBezTo>
                  <a:lnTo>
                    <a:pt x="55394" y="1667455"/>
                  </a:lnTo>
                  <a:cubicBezTo>
                    <a:pt x="24801" y="1667455"/>
                    <a:pt x="0" y="1642654"/>
                    <a:pt x="0" y="1612061"/>
                  </a:cubicBezTo>
                  <a:lnTo>
                    <a:pt x="0" y="55394"/>
                  </a:lnTo>
                  <a:cubicBezTo>
                    <a:pt x="0" y="40702"/>
                    <a:pt x="5836" y="26613"/>
                    <a:pt x="16224" y="16224"/>
                  </a:cubicBezTo>
                  <a:cubicBezTo>
                    <a:pt x="26613" y="5836"/>
                    <a:pt x="40702" y="0"/>
                    <a:pt x="55394" y="0"/>
                  </a:cubicBezTo>
                  <a:close/>
                </a:path>
              </a:pathLst>
            </a:custGeom>
            <a:solidFill>
              <a:srgbClr val="41A3A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7"/>
            <p:cNvSpPr txBox="1"/>
            <p:nvPr/>
          </p:nvSpPr>
          <p:spPr>
            <a:xfrm>
              <a:off x="0" y="-38100"/>
              <a:ext cx="1877292" cy="17055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273" name="Google Shape;273;p7"/>
          <p:cNvGraphicFramePr/>
          <p:nvPr/>
        </p:nvGraphicFramePr>
        <p:xfrm>
          <a:off x="13525024" y="1164142"/>
          <a:ext cx="4495800" cy="2493917"/>
        </p:xfrm>
        <a:graphic>
          <a:graphicData uri="http://schemas.openxmlformats.org/drawingml/2006/chart">
            <c:chart r:id="rId6"/>
          </a:graphicData>
        </a:graphic>
      </p:graphicFrame>
      <p:graphicFrame>
        <p:nvGraphicFramePr>
          <p:cNvPr id="274" name="Google Shape;274;p7"/>
          <p:cNvGraphicFramePr/>
          <p:nvPr/>
        </p:nvGraphicFramePr>
        <p:xfrm>
          <a:off x="13563600" y="3946631"/>
          <a:ext cx="4495800" cy="2493917"/>
        </p:xfrm>
        <a:graphic>
          <a:graphicData uri="http://schemas.openxmlformats.org/drawingml/2006/chart">
            <c:chart r:id="rId7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0" name="Google Shape;280;p8"/>
          <p:cNvGrpSpPr/>
          <p:nvPr/>
        </p:nvGrpSpPr>
        <p:grpSpPr>
          <a:xfrm>
            <a:off x="17259300" y="-144661"/>
            <a:ext cx="1028700" cy="10431661"/>
            <a:chOff x="0" y="-38100"/>
            <a:chExt cx="270933" cy="2747433"/>
          </a:xfrm>
        </p:grpSpPr>
        <p:sp>
          <p:nvSpPr>
            <p:cNvPr id="281" name="Google Shape;281;p8"/>
            <p:cNvSpPr/>
            <p:nvPr/>
          </p:nvSpPr>
          <p:spPr>
            <a:xfrm>
              <a:off x="0" y="0"/>
              <a:ext cx="270933" cy="2709333"/>
            </a:xfrm>
            <a:custGeom>
              <a:rect b="b" l="l" r="r" t="t"/>
              <a:pathLst>
                <a:path extrusionOk="0" h="270933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1A3A6"/>
            </a:solidFill>
            <a:ln>
              <a:noFill/>
            </a:ln>
          </p:spPr>
        </p:sp>
        <p:sp>
          <p:nvSpPr>
            <p:cNvPr id="282" name="Google Shape;282;p8"/>
            <p:cNvSpPr txBox="1"/>
            <p:nvPr/>
          </p:nvSpPr>
          <p:spPr>
            <a:xfrm>
              <a:off x="0" y="-38100"/>
              <a:ext cx="270933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3" name="Google Shape;283;p8"/>
          <p:cNvGrpSpPr/>
          <p:nvPr/>
        </p:nvGrpSpPr>
        <p:grpSpPr>
          <a:xfrm>
            <a:off x="0" y="-112276"/>
            <a:ext cx="1028700" cy="10399276"/>
            <a:chOff x="0" y="-38100"/>
            <a:chExt cx="270933" cy="2738904"/>
          </a:xfrm>
        </p:grpSpPr>
        <p:sp>
          <p:nvSpPr>
            <p:cNvPr id="284" name="Google Shape;284;p8"/>
            <p:cNvSpPr/>
            <p:nvPr/>
          </p:nvSpPr>
          <p:spPr>
            <a:xfrm>
              <a:off x="0" y="0"/>
              <a:ext cx="270933" cy="2700804"/>
            </a:xfrm>
            <a:custGeom>
              <a:rect b="b" l="l" r="r" t="t"/>
              <a:pathLst>
                <a:path extrusionOk="0" h="2700804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0804"/>
                  </a:lnTo>
                  <a:lnTo>
                    <a:pt x="0" y="2700804"/>
                  </a:lnTo>
                  <a:close/>
                </a:path>
              </a:pathLst>
            </a:custGeom>
            <a:solidFill>
              <a:srgbClr val="D7E9EB"/>
            </a:solidFill>
            <a:ln>
              <a:noFill/>
            </a:ln>
          </p:spPr>
        </p:sp>
        <p:sp>
          <p:nvSpPr>
            <p:cNvPr id="285" name="Google Shape;285;p8"/>
            <p:cNvSpPr txBox="1"/>
            <p:nvPr/>
          </p:nvSpPr>
          <p:spPr>
            <a:xfrm>
              <a:off x="0" y="-38100"/>
              <a:ext cx="270933" cy="27389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86" name="Google Shape;286;p8"/>
          <p:cNvCxnSpPr/>
          <p:nvPr/>
        </p:nvCxnSpPr>
        <p:spPr>
          <a:xfrm>
            <a:off x="17211675" y="3326028"/>
            <a:ext cx="0" cy="5914847"/>
          </a:xfrm>
          <a:prstGeom prst="straightConnector1">
            <a:avLst/>
          </a:prstGeom>
          <a:noFill/>
          <a:ln cap="rnd" cmpd="sng" w="952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7" name="Google Shape;287;p8"/>
          <p:cNvCxnSpPr/>
          <p:nvPr/>
        </p:nvCxnSpPr>
        <p:spPr>
          <a:xfrm>
            <a:off x="17211675" y="1028700"/>
            <a:ext cx="0" cy="1423759"/>
          </a:xfrm>
          <a:prstGeom prst="straightConnector1">
            <a:avLst/>
          </a:prstGeom>
          <a:noFill/>
          <a:ln cap="rnd" cmpd="sng" w="952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8" name="Google Shape;288;p8"/>
          <p:cNvSpPr txBox="1"/>
          <p:nvPr/>
        </p:nvSpPr>
        <p:spPr>
          <a:xfrm rot="-5400000">
            <a:off x="-4017396" y="2497705"/>
            <a:ext cx="8555104" cy="115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290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00" u="none" cap="none" strike="noStrike">
                <a:solidFill>
                  <a:srgbClr val="4B4545"/>
                </a:solidFill>
                <a:latin typeface="Corben"/>
                <a:ea typeface="Corben"/>
                <a:cs typeface="Corben"/>
                <a:sym typeface="Corben"/>
              </a:rPr>
              <a:t>Revenue Growth</a:t>
            </a:r>
            <a:endParaRPr b="0" i="0" sz="4400" u="none" cap="none" strike="noStrike">
              <a:solidFill>
                <a:srgbClr val="4B4545"/>
              </a:solidFill>
              <a:latin typeface="Corben"/>
              <a:ea typeface="Corben"/>
              <a:cs typeface="Corben"/>
              <a:sym typeface="Corben"/>
            </a:endParaRPr>
          </a:p>
        </p:txBody>
      </p:sp>
      <p:pic>
        <p:nvPicPr>
          <p:cNvPr id="289" name="Google Shape;28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700" y="41810"/>
            <a:ext cx="16230600" cy="502935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290" name="Google Shape;29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00" y="5230561"/>
            <a:ext cx="10094231" cy="415351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grpSp>
        <p:nvGrpSpPr>
          <p:cNvPr id="291" name="Google Shape;291;p8"/>
          <p:cNvGrpSpPr/>
          <p:nvPr/>
        </p:nvGrpSpPr>
        <p:grpSpPr>
          <a:xfrm>
            <a:off x="11353801" y="2660693"/>
            <a:ext cx="6748776" cy="7974169"/>
            <a:chOff x="-296165" y="-38100"/>
            <a:chExt cx="2173457" cy="1705555"/>
          </a:xfrm>
        </p:grpSpPr>
        <p:sp>
          <p:nvSpPr>
            <p:cNvPr id="292" name="Google Shape;292;p8"/>
            <p:cNvSpPr/>
            <p:nvPr/>
          </p:nvSpPr>
          <p:spPr>
            <a:xfrm>
              <a:off x="-296165" y="496398"/>
              <a:ext cx="1840527" cy="1055910"/>
            </a:xfrm>
            <a:custGeom>
              <a:rect b="b" l="l" r="r" t="t"/>
              <a:pathLst>
                <a:path extrusionOk="0" h="1667455" w="1877292">
                  <a:moveTo>
                    <a:pt x="55394" y="0"/>
                  </a:moveTo>
                  <a:lnTo>
                    <a:pt x="1821898" y="0"/>
                  </a:lnTo>
                  <a:cubicBezTo>
                    <a:pt x="1852491" y="0"/>
                    <a:pt x="1877292" y="24801"/>
                    <a:pt x="1877292" y="55394"/>
                  </a:cubicBezTo>
                  <a:lnTo>
                    <a:pt x="1877292" y="1612061"/>
                  </a:lnTo>
                  <a:cubicBezTo>
                    <a:pt x="1877292" y="1626752"/>
                    <a:pt x="1871456" y="1640842"/>
                    <a:pt x="1861068" y="1651230"/>
                  </a:cubicBezTo>
                  <a:cubicBezTo>
                    <a:pt x="1850679" y="1661619"/>
                    <a:pt x="1836590" y="1667455"/>
                    <a:pt x="1821898" y="1667455"/>
                  </a:cubicBezTo>
                  <a:lnTo>
                    <a:pt x="55394" y="1667455"/>
                  </a:lnTo>
                  <a:cubicBezTo>
                    <a:pt x="24801" y="1667455"/>
                    <a:pt x="0" y="1642654"/>
                    <a:pt x="0" y="1612061"/>
                  </a:cubicBezTo>
                  <a:lnTo>
                    <a:pt x="0" y="55394"/>
                  </a:lnTo>
                  <a:cubicBezTo>
                    <a:pt x="0" y="40702"/>
                    <a:pt x="5836" y="26613"/>
                    <a:pt x="16224" y="16224"/>
                  </a:cubicBezTo>
                  <a:cubicBezTo>
                    <a:pt x="26613" y="5836"/>
                    <a:pt x="40702" y="0"/>
                    <a:pt x="55394" y="0"/>
                  </a:cubicBezTo>
                  <a:close/>
                </a:path>
              </a:pathLst>
            </a:custGeom>
            <a:solidFill>
              <a:srgbClr val="41A3A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8"/>
            <p:cNvSpPr txBox="1"/>
            <p:nvPr/>
          </p:nvSpPr>
          <p:spPr>
            <a:xfrm>
              <a:off x="0" y="-38100"/>
              <a:ext cx="1877292" cy="17055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4" name="Google Shape;294;p8"/>
          <p:cNvSpPr/>
          <p:nvPr/>
        </p:nvSpPr>
        <p:spPr>
          <a:xfrm>
            <a:off x="11435149" y="5299674"/>
            <a:ext cx="5405051" cy="4644425"/>
          </a:xfrm>
          <a:custGeom>
            <a:rect b="b" l="l" r="r" t="t"/>
            <a:pathLst>
              <a:path extrusionOk="0" h="1667455" w="1877292">
                <a:moveTo>
                  <a:pt x="55394" y="0"/>
                </a:moveTo>
                <a:lnTo>
                  <a:pt x="1821898" y="0"/>
                </a:lnTo>
                <a:cubicBezTo>
                  <a:pt x="1852491" y="0"/>
                  <a:pt x="1877292" y="24801"/>
                  <a:pt x="1877292" y="55394"/>
                </a:cubicBezTo>
                <a:lnTo>
                  <a:pt x="1877292" y="1612061"/>
                </a:lnTo>
                <a:cubicBezTo>
                  <a:pt x="1877292" y="1626752"/>
                  <a:pt x="1871456" y="1640842"/>
                  <a:pt x="1861068" y="1651230"/>
                </a:cubicBezTo>
                <a:cubicBezTo>
                  <a:pt x="1850679" y="1661619"/>
                  <a:pt x="1836590" y="1667455"/>
                  <a:pt x="1821898" y="1667455"/>
                </a:cubicBezTo>
                <a:lnTo>
                  <a:pt x="55394" y="1667455"/>
                </a:lnTo>
                <a:cubicBezTo>
                  <a:pt x="24801" y="1667455"/>
                  <a:pt x="0" y="1642654"/>
                  <a:pt x="0" y="1612061"/>
                </a:cubicBezTo>
                <a:lnTo>
                  <a:pt x="0" y="55394"/>
                </a:lnTo>
                <a:cubicBezTo>
                  <a:pt x="0" y="40702"/>
                  <a:pt x="5836" y="26613"/>
                  <a:pt x="16224" y="16224"/>
                </a:cubicBezTo>
                <a:cubicBezTo>
                  <a:pt x="26613" y="5836"/>
                  <a:pt x="40702" y="0"/>
                  <a:pt x="5539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8"/>
          <p:cNvSpPr txBox="1"/>
          <p:nvPr/>
        </p:nvSpPr>
        <p:spPr>
          <a:xfrm>
            <a:off x="11658600" y="5524500"/>
            <a:ext cx="5029200" cy="4001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company's revenue 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increased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significantly 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2018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reaching 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$3.5 billion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the highest point during the analysis period.</a:t>
            </a:r>
            <a:endParaRPr/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 are seasonal 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fluctuations each year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(sharp ups and downs).</a:t>
            </a:r>
            <a:endParaRPr/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Large spikes were seen in:</a:t>
            </a:r>
            <a:endParaRPr/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Early 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2018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(possibly due to 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promotions/campaigns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endParaRPr/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Late 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2019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(possibly due to the 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holiday season/seasonal demand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endParaRPr/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 was a sharp 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drop in mid-2019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→ the causes of this can be traced (supply, demand, sales strategy, etc.).</a:t>
            </a:r>
            <a:endParaRPr/>
          </a:p>
        </p:txBody>
      </p:sp>
      <p:sp>
        <p:nvSpPr>
          <p:cNvPr id="296" name="Google Shape;296;p8"/>
          <p:cNvSpPr/>
          <p:nvPr/>
        </p:nvSpPr>
        <p:spPr>
          <a:xfrm>
            <a:off x="4495800" y="5826251"/>
            <a:ext cx="680651" cy="457200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8"/>
          <p:cNvSpPr/>
          <p:nvPr/>
        </p:nvSpPr>
        <p:spPr>
          <a:xfrm>
            <a:off x="11430000" y="647700"/>
            <a:ext cx="680651" cy="457200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3" name="Google Shape;303;p9"/>
          <p:cNvGrpSpPr/>
          <p:nvPr/>
        </p:nvGrpSpPr>
        <p:grpSpPr>
          <a:xfrm rot="5400000">
            <a:off x="8653645" y="-8653645"/>
            <a:ext cx="1028700" cy="18335989"/>
            <a:chOff x="0" y="-38100"/>
            <a:chExt cx="270933" cy="2738904"/>
          </a:xfrm>
        </p:grpSpPr>
        <p:sp>
          <p:nvSpPr>
            <p:cNvPr id="304" name="Google Shape;304;p9"/>
            <p:cNvSpPr/>
            <p:nvPr/>
          </p:nvSpPr>
          <p:spPr>
            <a:xfrm>
              <a:off x="0" y="-38100"/>
              <a:ext cx="270933" cy="2738904"/>
            </a:xfrm>
            <a:custGeom>
              <a:rect b="b" l="l" r="r" t="t"/>
              <a:pathLst>
                <a:path extrusionOk="0" h="2700804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0804"/>
                  </a:lnTo>
                  <a:lnTo>
                    <a:pt x="0" y="2700804"/>
                  </a:lnTo>
                  <a:close/>
                </a:path>
              </a:pathLst>
            </a:custGeom>
            <a:solidFill>
              <a:srgbClr val="D7E9EB"/>
            </a:solidFill>
            <a:ln>
              <a:noFill/>
            </a:ln>
          </p:spPr>
        </p:sp>
        <p:sp>
          <p:nvSpPr>
            <p:cNvPr id="305" name="Google Shape;305;p9"/>
            <p:cNvSpPr txBox="1"/>
            <p:nvPr/>
          </p:nvSpPr>
          <p:spPr>
            <a:xfrm>
              <a:off x="0" y="-38100"/>
              <a:ext cx="270933" cy="27389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06" name="Google Shape;306;p9"/>
          <p:cNvCxnSpPr/>
          <p:nvPr/>
        </p:nvCxnSpPr>
        <p:spPr>
          <a:xfrm>
            <a:off x="17211675" y="3326028"/>
            <a:ext cx="0" cy="5914847"/>
          </a:xfrm>
          <a:prstGeom prst="straightConnector1">
            <a:avLst/>
          </a:prstGeom>
          <a:noFill/>
          <a:ln cap="rnd" cmpd="sng" w="952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7" name="Google Shape;307;p9"/>
          <p:cNvSpPr txBox="1"/>
          <p:nvPr/>
        </p:nvSpPr>
        <p:spPr>
          <a:xfrm>
            <a:off x="33023" y="-342900"/>
            <a:ext cx="18302967" cy="12952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290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00" u="none" cap="none" strike="noStrike">
                <a:solidFill>
                  <a:srgbClr val="4B4545"/>
                </a:solidFill>
                <a:latin typeface="Corben"/>
                <a:ea typeface="Corben"/>
                <a:cs typeface="Corben"/>
                <a:sym typeface="Corben"/>
              </a:rPr>
              <a:t>Distributor &amp; customer analysis</a:t>
            </a:r>
            <a:endParaRPr b="0" i="0" sz="4400" u="none" cap="none" strike="noStrike">
              <a:solidFill>
                <a:srgbClr val="4B4545"/>
              </a:solidFill>
              <a:latin typeface="Corben"/>
              <a:ea typeface="Corben"/>
              <a:cs typeface="Corben"/>
              <a:sym typeface="Corben"/>
            </a:endParaRPr>
          </a:p>
        </p:txBody>
      </p:sp>
      <p:sp>
        <p:nvSpPr>
          <p:cNvPr id="308" name="Google Shape;308;p9"/>
          <p:cNvSpPr/>
          <p:nvPr/>
        </p:nvSpPr>
        <p:spPr>
          <a:xfrm>
            <a:off x="289635" y="6521056"/>
            <a:ext cx="5196765" cy="507773"/>
          </a:xfrm>
          <a:custGeom>
            <a:rect b="b" l="l" r="r" t="t"/>
            <a:pathLst>
              <a:path extrusionOk="0" h="1667455" w="1877292">
                <a:moveTo>
                  <a:pt x="55394" y="0"/>
                </a:moveTo>
                <a:lnTo>
                  <a:pt x="1821898" y="0"/>
                </a:lnTo>
                <a:cubicBezTo>
                  <a:pt x="1852491" y="0"/>
                  <a:pt x="1877292" y="24801"/>
                  <a:pt x="1877292" y="55394"/>
                </a:cubicBezTo>
                <a:lnTo>
                  <a:pt x="1877292" y="1612061"/>
                </a:lnTo>
                <a:cubicBezTo>
                  <a:pt x="1877292" y="1626752"/>
                  <a:pt x="1871456" y="1640842"/>
                  <a:pt x="1861068" y="1651230"/>
                </a:cubicBezTo>
                <a:cubicBezTo>
                  <a:pt x="1850679" y="1661619"/>
                  <a:pt x="1836590" y="1667455"/>
                  <a:pt x="1821898" y="1667455"/>
                </a:cubicBezTo>
                <a:lnTo>
                  <a:pt x="55394" y="1667455"/>
                </a:lnTo>
                <a:cubicBezTo>
                  <a:pt x="24801" y="1667455"/>
                  <a:pt x="0" y="1642654"/>
                  <a:pt x="0" y="1612061"/>
                </a:cubicBezTo>
                <a:lnTo>
                  <a:pt x="0" y="55394"/>
                </a:lnTo>
                <a:cubicBezTo>
                  <a:pt x="0" y="40702"/>
                  <a:pt x="5836" y="26613"/>
                  <a:pt x="16224" y="16224"/>
                </a:cubicBezTo>
                <a:cubicBezTo>
                  <a:pt x="26613" y="5836"/>
                  <a:pt x="40702" y="0"/>
                  <a:pt x="55394" y="0"/>
                </a:cubicBezTo>
                <a:close/>
              </a:path>
            </a:pathLst>
          </a:custGeom>
          <a:solidFill>
            <a:srgbClr val="41A3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9"/>
          <p:cNvSpPr/>
          <p:nvPr/>
        </p:nvSpPr>
        <p:spPr>
          <a:xfrm>
            <a:off x="307926" y="6560211"/>
            <a:ext cx="5026073" cy="385258"/>
          </a:xfrm>
          <a:custGeom>
            <a:rect b="b" l="l" r="r" t="t"/>
            <a:pathLst>
              <a:path extrusionOk="0" h="1667455" w="1877292">
                <a:moveTo>
                  <a:pt x="55394" y="0"/>
                </a:moveTo>
                <a:lnTo>
                  <a:pt x="1821898" y="0"/>
                </a:lnTo>
                <a:cubicBezTo>
                  <a:pt x="1852491" y="0"/>
                  <a:pt x="1877292" y="24801"/>
                  <a:pt x="1877292" y="55394"/>
                </a:cubicBezTo>
                <a:lnTo>
                  <a:pt x="1877292" y="1612061"/>
                </a:lnTo>
                <a:cubicBezTo>
                  <a:pt x="1877292" y="1626752"/>
                  <a:pt x="1871456" y="1640842"/>
                  <a:pt x="1861068" y="1651230"/>
                </a:cubicBezTo>
                <a:cubicBezTo>
                  <a:pt x="1850679" y="1661619"/>
                  <a:pt x="1836590" y="1667455"/>
                  <a:pt x="1821898" y="1667455"/>
                </a:cubicBezTo>
                <a:lnTo>
                  <a:pt x="55394" y="1667455"/>
                </a:lnTo>
                <a:cubicBezTo>
                  <a:pt x="24801" y="1667455"/>
                  <a:pt x="0" y="1642654"/>
                  <a:pt x="0" y="1612061"/>
                </a:cubicBezTo>
                <a:lnTo>
                  <a:pt x="0" y="55394"/>
                </a:lnTo>
                <a:cubicBezTo>
                  <a:pt x="0" y="40702"/>
                  <a:pt x="5836" y="26613"/>
                  <a:pt x="16224" y="16224"/>
                </a:cubicBezTo>
                <a:cubicBezTo>
                  <a:pt x="26613" y="5836"/>
                  <a:pt x="40702" y="0"/>
                  <a:pt x="5539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9"/>
          <p:cNvSpPr txBox="1"/>
          <p:nvPr/>
        </p:nvSpPr>
        <p:spPr>
          <a:xfrm>
            <a:off x="307925" y="6649879"/>
            <a:ext cx="5026073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4B4545"/>
                </a:solidFill>
                <a:latin typeface="Corben"/>
                <a:ea typeface="Corben"/>
                <a:cs typeface="Corben"/>
                <a:sym typeface="Corben"/>
              </a:rPr>
              <a:t>Sales details by Gerlach LLC</a:t>
            </a:r>
            <a:endParaRPr/>
          </a:p>
        </p:txBody>
      </p:sp>
      <p:grpSp>
        <p:nvGrpSpPr>
          <p:cNvPr id="311" name="Google Shape;311;p9"/>
          <p:cNvGrpSpPr/>
          <p:nvPr/>
        </p:nvGrpSpPr>
        <p:grpSpPr>
          <a:xfrm>
            <a:off x="33022" y="-1028700"/>
            <a:ext cx="9103493" cy="7974169"/>
            <a:chOff x="-1681" y="-38100"/>
            <a:chExt cx="2606916" cy="1705555"/>
          </a:xfrm>
        </p:grpSpPr>
        <p:sp>
          <p:nvSpPr>
            <p:cNvPr id="312" name="Google Shape;312;p9"/>
            <p:cNvSpPr/>
            <p:nvPr/>
          </p:nvSpPr>
          <p:spPr>
            <a:xfrm>
              <a:off x="-1681" y="401908"/>
              <a:ext cx="2606916" cy="1123951"/>
            </a:xfrm>
            <a:custGeom>
              <a:rect b="b" l="l" r="r" t="t"/>
              <a:pathLst>
                <a:path extrusionOk="0" h="1667455" w="1877292">
                  <a:moveTo>
                    <a:pt x="55394" y="0"/>
                  </a:moveTo>
                  <a:lnTo>
                    <a:pt x="1821898" y="0"/>
                  </a:lnTo>
                  <a:cubicBezTo>
                    <a:pt x="1852491" y="0"/>
                    <a:pt x="1877292" y="24801"/>
                    <a:pt x="1877292" y="55394"/>
                  </a:cubicBezTo>
                  <a:lnTo>
                    <a:pt x="1877292" y="1612061"/>
                  </a:lnTo>
                  <a:cubicBezTo>
                    <a:pt x="1877292" y="1626752"/>
                    <a:pt x="1871456" y="1640842"/>
                    <a:pt x="1861068" y="1651230"/>
                  </a:cubicBezTo>
                  <a:cubicBezTo>
                    <a:pt x="1850679" y="1661619"/>
                    <a:pt x="1836590" y="1667455"/>
                    <a:pt x="1821898" y="1667455"/>
                  </a:cubicBezTo>
                  <a:lnTo>
                    <a:pt x="55394" y="1667455"/>
                  </a:lnTo>
                  <a:cubicBezTo>
                    <a:pt x="24801" y="1667455"/>
                    <a:pt x="0" y="1642654"/>
                    <a:pt x="0" y="1612061"/>
                  </a:cubicBezTo>
                  <a:lnTo>
                    <a:pt x="0" y="55394"/>
                  </a:lnTo>
                  <a:cubicBezTo>
                    <a:pt x="0" y="40702"/>
                    <a:pt x="5836" y="26613"/>
                    <a:pt x="16224" y="16224"/>
                  </a:cubicBezTo>
                  <a:cubicBezTo>
                    <a:pt x="26613" y="5836"/>
                    <a:pt x="40702" y="0"/>
                    <a:pt x="55394" y="0"/>
                  </a:cubicBezTo>
                  <a:close/>
                </a:path>
              </a:pathLst>
            </a:custGeom>
            <a:solidFill>
              <a:srgbClr val="41A3A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9"/>
            <p:cNvSpPr txBox="1"/>
            <p:nvPr/>
          </p:nvSpPr>
          <p:spPr>
            <a:xfrm>
              <a:off x="0" y="-38100"/>
              <a:ext cx="1877292" cy="17055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314" name="Google Shape;314;p9"/>
          <p:cNvGraphicFramePr/>
          <p:nvPr/>
        </p:nvGraphicFramePr>
        <p:xfrm>
          <a:off x="207308" y="1174615"/>
          <a:ext cx="8555692" cy="5007696"/>
        </p:xfrm>
        <a:graphic>
          <a:graphicData uri="http://schemas.openxmlformats.org/drawingml/2006/chart">
            <c:chart r:id="rId3"/>
          </a:graphicData>
        </a:graphic>
      </p:graphicFrame>
      <p:graphicFrame>
        <p:nvGraphicFramePr>
          <p:cNvPr id="315" name="Google Shape;315;p9"/>
          <p:cNvGraphicFramePr/>
          <p:nvPr/>
        </p:nvGraphicFramePr>
        <p:xfrm>
          <a:off x="304800" y="71297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{FFAF07DB-3F23-439C-A64D-C9F2B86FFE39}</a:tableStyleId>
              </a:tblPr>
              <a:tblGrid>
                <a:gridCol w="1882175"/>
                <a:gridCol w="1647875"/>
                <a:gridCol w="16478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Product</a:t>
                      </a:r>
                      <a:r>
                        <a:rPr lang="en-US" sz="1800"/>
                        <a:t> Class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Sales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%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/>
                        <a:t>Antiseptics</a:t>
                      </a:r>
                      <a:endParaRPr b="0" i="0" sz="18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/>
                        <a:t>$695.505.571</a:t>
                      </a:r>
                      <a:endParaRPr b="0" i="0" sz="18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19,64%</a:t>
                      </a:r>
                      <a:endParaRPr/>
                    </a:p>
                  </a:txBody>
                  <a:tcPr marT="6350" marB="0" marR="6350" marL="63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/>
                        <a:t>Analgesics</a:t>
                      </a:r>
                      <a:endParaRPr b="0" i="0" sz="18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/>
                        <a:t>$656.019.067</a:t>
                      </a:r>
                      <a:endParaRPr b="0" i="0" sz="18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18,52%</a:t>
                      </a:r>
                      <a:endParaRPr/>
                    </a:p>
                  </a:txBody>
                  <a:tcPr marT="6350" marB="0" marR="6350" marL="63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/>
                        <a:t>Mood Stabilzers</a:t>
                      </a:r>
                      <a:endParaRPr b="0" i="0" sz="18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/>
                        <a:t>$618.002.495</a:t>
                      </a:r>
                      <a:endParaRPr b="0" i="0" sz="18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17,45%</a:t>
                      </a:r>
                      <a:endParaRPr/>
                    </a:p>
                  </a:txBody>
                  <a:tcPr marT="6350" marB="0" marR="6350" marL="63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/>
                        <a:t>Antipiretics</a:t>
                      </a:r>
                      <a:endParaRPr b="0" i="0" sz="18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/>
                        <a:t>$594.669.486</a:t>
                      </a:r>
                      <a:endParaRPr b="0" i="0" sz="18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16,79%</a:t>
                      </a:r>
                      <a:endParaRPr/>
                    </a:p>
                  </a:txBody>
                  <a:tcPr marT="6350" marB="0" marR="6350" marL="63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/>
                        <a:t>Antibiotic</a:t>
                      </a:r>
                      <a:endParaRPr b="0" i="0" sz="18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/>
                        <a:t>$537.916.947</a:t>
                      </a:r>
                      <a:endParaRPr b="0" i="0" sz="18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15,19%</a:t>
                      </a:r>
                      <a:endParaRPr/>
                    </a:p>
                  </a:txBody>
                  <a:tcPr marT="6350" marB="0" marR="6350" marL="63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/>
                        <a:t>Antimalarial</a:t>
                      </a:r>
                      <a:endParaRPr b="0" i="0" sz="18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/>
                        <a:t>$439.583.742</a:t>
                      </a:r>
                      <a:endParaRPr b="0" i="0" sz="18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12,41%</a:t>
                      </a:r>
                      <a:endParaRPr/>
                    </a:p>
                  </a:txBody>
                  <a:tcPr marT="6350" marB="0" marR="6350" marL="63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Total Sales</a:t>
                      </a:r>
                      <a:endParaRPr b="1"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$3.541.697.308</a:t>
                      </a:r>
                      <a:endParaRPr b="1"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100,00%</a:t>
                      </a:r>
                      <a:endParaRPr/>
                    </a:p>
                  </a:txBody>
                  <a:tcPr marT="6350" marB="0" marR="6350" marL="6350" anchor="ctr"/>
                </a:tc>
              </a:tr>
            </a:tbl>
          </a:graphicData>
        </a:graphic>
      </p:graphicFrame>
      <p:sp>
        <p:nvSpPr>
          <p:cNvPr id="316" name="Google Shape;316;p9"/>
          <p:cNvSpPr txBox="1"/>
          <p:nvPr/>
        </p:nvSpPr>
        <p:spPr>
          <a:xfrm>
            <a:off x="10269229" y="5537914"/>
            <a:ext cx="9695171" cy="4749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866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9"/>
          <p:cNvSpPr txBox="1"/>
          <p:nvPr/>
        </p:nvSpPr>
        <p:spPr>
          <a:xfrm>
            <a:off x="6467040" y="7028830"/>
            <a:ext cx="5377050" cy="27699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The company relies heavily on a few key </a:t>
            </a:r>
            <a:r>
              <a:rPr b="1" i="0" lang="en-US" sz="2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distributors (primarily Gerlach LLC).</a:t>
            </a:r>
            <a:endParaRPr/>
          </a:p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Top-spending</a:t>
            </a:r>
            <a:r>
              <a:rPr b="0" i="0" lang="en-US" sz="2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customers like </a:t>
            </a:r>
            <a:r>
              <a:rPr b="1" i="0" lang="en-US" sz="2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Mraz-Kutch Pharma</a:t>
            </a:r>
            <a:r>
              <a:rPr b="0" i="0" lang="en-US" sz="2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are key to growth.</a:t>
            </a:r>
            <a:endParaRPr/>
          </a:p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Its </a:t>
            </a:r>
            <a:r>
              <a:rPr b="1" i="0" lang="en-US" sz="2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flagship product category</a:t>
            </a:r>
            <a:r>
              <a:rPr b="0" i="0" lang="en-US" sz="2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is </a:t>
            </a:r>
            <a:r>
              <a:rPr b="1" i="0" lang="en-US" sz="2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antiseptics and analgesics </a:t>
            </a:r>
            <a:r>
              <a:rPr b="0" i="0" lang="en-US" sz="2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by distributor </a:t>
            </a:r>
            <a:r>
              <a:rPr b="1" i="0" lang="en-US" sz="2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Gerlach LLC</a:t>
            </a:r>
            <a:endParaRPr b="0" i="0" sz="20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8" name="Google Shape;318;p9"/>
          <p:cNvSpPr/>
          <p:nvPr/>
        </p:nvSpPr>
        <p:spPr>
          <a:xfrm>
            <a:off x="9448800" y="1028700"/>
            <a:ext cx="8767950" cy="5254932"/>
          </a:xfrm>
          <a:custGeom>
            <a:rect b="b" l="l" r="r" t="t"/>
            <a:pathLst>
              <a:path extrusionOk="0" h="1667455" w="1877292">
                <a:moveTo>
                  <a:pt x="55394" y="0"/>
                </a:moveTo>
                <a:lnTo>
                  <a:pt x="1821898" y="0"/>
                </a:lnTo>
                <a:cubicBezTo>
                  <a:pt x="1852491" y="0"/>
                  <a:pt x="1877292" y="24801"/>
                  <a:pt x="1877292" y="55394"/>
                </a:cubicBezTo>
                <a:lnTo>
                  <a:pt x="1877292" y="1612061"/>
                </a:lnTo>
                <a:cubicBezTo>
                  <a:pt x="1877292" y="1626752"/>
                  <a:pt x="1871456" y="1640842"/>
                  <a:pt x="1861068" y="1651230"/>
                </a:cubicBezTo>
                <a:cubicBezTo>
                  <a:pt x="1850679" y="1661619"/>
                  <a:pt x="1836590" y="1667455"/>
                  <a:pt x="1821898" y="1667455"/>
                </a:cubicBezTo>
                <a:lnTo>
                  <a:pt x="55394" y="1667455"/>
                </a:lnTo>
                <a:cubicBezTo>
                  <a:pt x="24801" y="1667455"/>
                  <a:pt x="0" y="1642654"/>
                  <a:pt x="0" y="1612061"/>
                </a:cubicBezTo>
                <a:lnTo>
                  <a:pt x="0" y="55394"/>
                </a:lnTo>
                <a:cubicBezTo>
                  <a:pt x="0" y="40702"/>
                  <a:pt x="5836" y="26613"/>
                  <a:pt x="16224" y="16224"/>
                </a:cubicBezTo>
                <a:cubicBezTo>
                  <a:pt x="26613" y="5836"/>
                  <a:pt x="40702" y="0"/>
                  <a:pt x="55394" y="0"/>
                </a:cubicBezTo>
                <a:close/>
              </a:path>
            </a:pathLst>
          </a:custGeom>
          <a:solidFill>
            <a:srgbClr val="41A3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19" name="Google Shape;319;p9"/>
          <p:cNvGraphicFramePr/>
          <p:nvPr/>
        </p:nvGraphicFramePr>
        <p:xfrm>
          <a:off x="9736576" y="1152318"/>
          <a:ext cx="7941824" cy="5007696"/>
        </p:xfrm>
        <a:graphic>
          <a:graphicData uri="http://schemas.openxmlformats.org/drawingml/2006/chart">
            <c:chart r:id="rId4"/>
          </a:graphicData>
        </a:graphic>
      </p:graphicFrame>
      <p:graphicFrame>
        <p:nvGraphicFramePr>
          <p:cNvPr id="320" name="Google Shape;320;p9"/>
          <p:cNvGraphicFramePr/>
          <p:nvPr/>
        </p:nvGraphicFramePr>
        <p:xfrm>
          <a:off x="12805301" y="70535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{FFAF07DB-3F23-439C-A64D-C9F2B86FFE39}</a:tableStyleId>
              </a:tblPr>
              <a:tblGrid>
                <a:gridCol w="1882175"/>
                <a:gridCol w="1647875"/>
                <a:gridCol w="16478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Product</a:t>
                      </a:r>
                      <a:r>
                        <a:rPr lang="en-US" sz="1800"/>
                        <a:t> Class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Sales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%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Analgesics</a:t>
                      </a:r>
                      <a:endParaRPr/>
                    </a:p>
                  </a:txBody>
                  <a:tcPr marT="6350" marB="0" marR="6350" marL="63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80791299</a:t>
                      </a:r>
                      <a:endParaRPr/>
                    </a:p>
                  </a:txBody>
                  <a:tcPr marT="6350" marB="0" marR="6350" marL="63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85,07%</a:t>
                      </a:r>
                      <a:endParaRPr/>
                    </a:p>
                  </a:txBody>
                  <a:tcPr marT="6350" marB="0" marR="6350" marL="63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Antibiotic</a:t>
                      </a:r>
                      <a:endParaRPr/>
                    </a:p>
                  </a:txBody>
                  <a:tcPr marT="6350" marB="0" marR="6350" marL="63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5933665</a:t>
                      </a:r>
                      <a:endParaRPr/>
                    </a:p>
                  </a:txBody>
                  <a:tcPr marT="6350" marB="0" marR="6350" marL="63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6,25%</a:t>
                      </a:r>
                      <a:endParaRPr/>
                    </a:p>
                  </a:txBody>
                  <a:tcPr marT="6350" marB="0" marR="6350" marL="63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Antimalarial</a:t>
                      </a:r>
                      <a:endParaRPr/>
                    </a:p>
                  </a:txBody>
                  <a:tcPr marT="6350" marB="0" marR="6350" marL="63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1052309</a:t>
                      </a:r>
                      <a:endParaRPr/>
                    </a:p>
                  </a:txBody>
                  <a:tcPr marT="6350" marB="0" marR="6350" marL="63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1,11%</a:t>
                      </a:r>
                      <a:endParaRPr/>
                    </a:p>
                  </a:txBody>
                  <a:tcPr marT="6350" marB="0" marR="6350" marL="63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Antipiretics</a:t>
                      </a:r>
                      <a:endParaRPr b="0" i="0" sz="18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" marB="0" marR="6350" marL="63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2033785</a:t>
                      </a:r>
                      <a:endParaRPr/>
                    </a:p>
                  </a:txBody>
                  <a:tcPr marT="6350" marB="0" marR="6350" marL="63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2,14%</a:t>
                      </a:r>
                      <a:endParaRPr/>
                    </a:p>
                  </a:txBody>
                  <a:tcPr marT="6350" marB="0" marR="6350" marL="63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Antiseptics</a:t>
                      </a:r>
                      <a:endParaRPr/>
                    </a:p>
                  </a:txBody>
                  <a:tcPr marT="6350" marB="0" marR="6350" marL="63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3078512</a:t>
                      </a:r>
                      <a:endParaRPr/>
                    </a:p>
                  </a:txBody>
                  <a:tcPr marT="6350" marB="0" marR="6350" marL="63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3,24%</a:t>
                      </a:r>
                      <a:endParaRPr/>
                    </a:p>
                  </a:txBody>
                  <a:tcPr marT="6350" marB="0" marR="6350" marL="63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Mood Stabilzers</a:t>
                      </a:r>
                      <a:endParaRPr/>
                    </a:p>
                  </a:txBody>
                  <a:tcPr marT="6350" marB="0" marR="6350" marL="63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2078346</a:t>
                      </a:r>
                      <a:endParaRPr/>
                    </a:p>
                  </a:txBody>
                  <a:tcPr marT="6350" marB="0" marR="6350" marL="63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2,19%</a:t>
                      </a:r>
                      <a:endParaRPr/>
                    </a:p>
                  </a:txBody>
                  <a:tcPr marT="6350" marB="0" marR="6350" marL="63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Sales</a:t>
                      </a:r>
                      <a:endParaRPr/>
                    </a:p>
                  </a:txBody>
                  <a:tcPr marT="6350" marB="0" marR="6350" marL="63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94967916</a:t>
                      </a:r>
                      <a:endParaRPr/>
                    </a:p>
                  </a:txBody>
                  <a:tcPr marT="6350" marB="0" marR="6350" marL="63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100,00%</a:t>
                      </a:r>
                      <a:endParaRPr/>
                    </a:p>
                  </a:txBody>
                  <a:tcPr marT="6350" marB="0" marR="6350" marL="6350" anchor="ctr"/>
                </a:tc>
              </a:tr>
            </a:tbl>
          </a:graphicData>
        </a:graphic>
      </p:graphicFrame>
      <p:sp>
        <p:nvSpPr>
          <p:cNvPr id="321" name="Google Shape;321;p9"/>
          <p:cNvSpPr/>
          <p:nvPr/>
        </p:nvSpPr>
        <p:spPr>
          <a:xfrm>
            <a:off x="12783309" y="6481901"/>
            <a:ext cx="5196765" cy="507773"/>
          </a:xfrm>
          <a:custGeom>
            <a:rect b="b" l="l" r="r" t="t"/>
            <a:pathLst>
              <a:path extrusionOk="0" h="1667455" w="1877292">
                <a:moveTo>
                  <a:pt x="55394" y="0"/>
                </a:moveTo>
                <a:lnTo>
                  <a:pt x="1821898" y="0"/>
                </a:lnTo>
                <a:cubicBezTo>
                  <a:pt x="1852491" y="0"/>
                  <a:pt x="1877292" y="24801"/>
                  <a:pt x="1877292" y="55394"/>
                </a:cubicBezTo>
                <a:lnTo>
                  <a:pt x="1877292" y="1612061"/>
                </a:lnTo>
                <a:cubicBezTo>
                  <a:pt x="1877292" y="1626752"/>
                  <a:pt x="1871456" y="1640842"/>
                  <a:pt x="1861068" y="1651230"/>
                </a:cubicBezTo>
                <a:cubicBezTo>
                  <a:pt x="1850679" y="1661619"/>
                  <a:pt x="1836590" y="1667455"/>
                  <a:pt x="1821898" y="1667455"/>
                </a:cubicBezTo>
                <a:lnTo>
                  <a:pt x="55394" y="1667455"/>
                </a:lnTo>
                <a:cubicBezTo>
                  <a:pt x="24801" y="1667455"/>
                  <a:pt x="0" y="1642654"/>
                  <a:pt x="0" y="1612061"/>
                </a:cubicBezTo>
                <a:lnTo>
                  <a:pt x="0" y="55394"/>
                </a:lnTo>
                <a:cubicBezTo>
                  <a:pt x="0" y="40702"/>
                  <a:pt x="5836" y="26613"/>
                  <a:pt x="16224" y="16224"/>
                </a:cubicBezTo>
                <a:cubicBezTo>
                  <a:pt x="26613" y="5836"/>
                  <a:pt x="40702" y="0"/>
                  <a:pt x="55394" y="0"/>
                </a:cubicBezTo>
                <a:close/>
              </a:path>
            </a:pathLst>
          </a:custGeom>
          <a:solidFill>
            <a:srgbClr val="41A3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9"/>
          <p:cNvSpPr/>
          <p:nvPr/>
        </p:nvSpPr>
        <p:spPr>
          <a:xfrm>
            <a:off x="12801600" y="6521056"/>
            <a:ext cx="5026073" cy="385258"/>
          </a:xfrm>
          <a:custGeom>
            <a:rect b="b" l="l" r="r" t="t"/>
            <a:pathLst>
              <a:path extrusionOk="0" h="1667455" w="1877292">
                <a:moveTo>
                  <a:pt x="55394" y="0"/>
                </a:moveTo>
                <a:lnTo>
                  <a:pt x="1821898" y="0"/>
                </a:lnTo>
                <a:cubicBezTo>
                  <a:pt x="1852491" y="0"/>
                  <a:pt x="1877292" y="24801"/>
                  <a:pt x="1877292" y="55394"/>
                </a:cubicBezTo>
                <a:lnTo>
                  <a:pt x="1877292" y="1612061"/>
                </a:lnTo>
                <a:cubicBezTo>
                  <a:pt x="1877292" y="1626752"/>
                  <a:pt x="1871456" y="1640842"/>
                  <a:pt x="1861068" y="1651230"/>
                </a:cubicBezTo>
                <a:cubicBezTo>
                  <a:pt x="1850679" y="1661619"/>
                  <a:pt x="1836590" y="1667455"/>
                  <a:pt x="1821898" y="1667455"/>
                </a:cubicBezTo>
                <a:lnTo>
                  <a:pt x="55394" y="1667455"/>
                </a:lnTo>
                <a:cubicBezTo>
                  <a:pt x="24801" y="1667455"/>
                  <a:pt x="0" y="1642654"/>
                  <a:pt x="0" y="1612061"/>
                </a:cubicBezTo>
                <a:lnTo>
                  <a:pt x="0" y="55394"/>
                </a:lnTo>
                <a:cubicBezTo>
                  <a:pt x="0" y="40702"/>
                  <a:pt x="5836" y="26613"/>
                  <a:pt x="16224" y="16224"/>
                </a:cubicBezTo>
                <a:cubicBezTo>
                  <a:pt x="26613" y="5836"/>
                  <a:pt x="40702" y="0"/>
                  <a:pt x="5539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9"/>
          <p:cNvSpPr txBox="1"/>
          <p:nvPr/>
        </p:nvSpPr>
        <p:spPr>
          <a:xfrm>
            <a:off x="12801599" y="6610724"/>
            <a:ext cx="5026073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4B4545"/>
                </a:solidFill>
                <a:latin typeface="Corben"/>
                <a:ea typeface="Corben"/>
                <a:cs typeface="Corben"/>
                <a:sym typeface="Corben"/>
              </a:rPr>
              <a:t>Sales details by </a:t>
            </a:r>
            <a:r>
              <a:rPr b="0" i="0" lang="en-US" sz="1600" u="none" cap="none" strike="noStrike">
                <a:solidFill>
                  <a:srgbClr val="4B4545"/>
                </a:solidFill>
                <a:latin typeface="Open Sans"/>
                <a:ea typeface="Open Sans"/>
                <a:cs typeface="Open Sans"/>
                <a:sym typeface="Open Sans"/>
              </a:rPr>
              <a:t>Mraz-Kutch Pharma </a:t>
            </a:r>
            <a:endParaRPr b="0" i="0" sz="1600" u="none" cap="none" strike="noStrike">
              <a:solidFill>
                <a:srgbClr val="4B4545"/>
              </a:solidFill>
              <a:latin typeface="Corben"/>
              <a:ea typeface="Corben"/>
              <a:cs typeface="Corben"/>
              <a:sym typeface="Corbe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9" name="Google Shape;329;p10"/>
          <p:cNvGrpSpPr/>
          <p:nvPr/>
        </p:nvGrpSpPr>
        <p:grpSpPr>
          <a:xfrm>
            <a:off x="9906000" y="301270"/>
            <a:ext cx="11554948" cy="4941672"/>
            <a:chOff x="-150425" y="-38100"/>
            <a:chExt cx="2027717" cy="1705555"/>
          </a:xfrm>
        </p:grpSpPr>
        <p:sp>
          <p:nvSpPr>
            <p:cNvPr id="330" name="Google Shape;330;p10"/>
            <p:cNvSpPr/>
            <p:nvPr/>
          </p:nvSpPr>
          <p:spPr>
            <a:xfrm>
              <a:off x="-150425" y="814678"/>
              <a:ext cx="1243590" cy="812119"/>
            </a:xfrm>
            <a:custGeom>
              <a:rect b="b" l="l" r="r" t="t"/>
              <a:pathLst>
                <a:path extrusionOk="0" h="1667455" w="1877292">
                  <a:moveTo>
                    <a:pt x="55394" y="0"/>
                  </a:moveTo>
                  <a:lnTo>
                    <a:pt x="1821898" y="0"/>
                  </a:lnTo>
                  <a:cubicBezTo>
                    <a:pt x="1852491" y="0"/>
                    <a:pt x="1877292" y="24801"/>
                    <a:pt x="1877292" y="55394"/>
                  </a:cubicBezTo>
                  <a:lnTo>
                    <a:pt x="1877292" y="1612061"/>
                  </a:lnTo>
                  <a:cubicBezTo>
                    <a:pt x="1877292" y="1626752"/>
                    <a:pt x="1871456" y="1640842"/>
                    <a:pt x="1861068" y="1651230"/>
                  </a:cubicBezTo>
                  <a:cubicBezTo>
                    <a:pt x="1850679" y="1661619"/>
                    <a:pt x="1836590" y="1667455"/>
                    <a:pt x="1821898" y="1667455"/>
                  </a:cubicBezTo>
                  <a:lnTo>
                    <a:pt x="55394" y="1667455"/>
                  </a:lnTo>
                  <a:cubicBezTo>
                    <a:pt x="24801" y="1667455"/>
                    <a:pt x="0" y="1642654"/>
                    <a:pt x="0" y="1612061"/>
                  </a:cubicBezTo>
                  <a:lnTo>
                    <a:pt x="0" y="55394"/>
                  </a:lnTo>
                  <a:cubicBezTo>
                    <a:pt x="0" y="40702"/>
                    <a:pt x="5836" y="26613"/>
                    <a:pt x="16224" y="16224"/>
                  </a:cubicBezTo>
                  <a:cubicBezTo>
                    <a:pt x="26613" y="5836"/>
                    <a:pt x="40702" y="0"/>
                    <a:pt x="55394" y="0"/>
                  </a:cubicBezTo>
                  <a:close/>
                </a:path>
              </a:pathLst>
            </a:custGeom>
            <a:solidFill>
              <a:srgbClr val="41A3A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10"/>
            <p:cNvSpPr txBox="1"/>
            <p:nvPr/>
          </p:nvSpPr>
          <p:spPr>
            <a:xfrm>
              <a:off x="0" y="-38100"/>
              <a:ext cx="1877292" cy="17055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2" name="Google Shape;332;p10"/>
          <p:cNvSpPr/>
          <p:nvPr/>
        </p:nvSpPr>
        <p:spPr>
          <a:xfrm>
            <a:off x="13851278" y="503294"/>
            <a:ext cx="2948212" cy="748366"/>
          </a:xfrm>
          <a:custGeom>
            <a:rect b="b" l="l" r="r" t="t"/>
            <a:pathLst>
              <a:path extrusionOk="0" h="748366" w="2948212">
                <a:moveTo>
                  <a:pt x="0" y="0"/>
                </a:moveTo>
                <a:lnTo>
                  <a:pt x="2948212" y="0"/>
                </a:lnTo>
                <a:lnTo>
                  <a:pt x="2948212" y="748366"/>
                </a:lnTo>
                <a:lnTo>
                  <a:pt x="0" y="7483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33" name="Google Shape;333;p10"/>
          <p:cNvGrpSpPr/>
          <p:nvPr/>
        </p:nvGrpSpPr>
        <p:grpSpPr>
          <a:xfrm>
            <a:off x="17259300" y="-144661"/>
            <a:ext cx="1028700" cy="10431661"/>
            <a:chOff x="0" y="-38100"/>
            <a:chExt cx="270933" cy="2747433"/>
          </a:xfrm>
        </p:grpSpPr>
        <p:sp>
          <p:nvSpPr>
            <p:cNvPr id="334" name="Google Shape;334;p10"/>
            <p:cNvSpPr/>
            <p:nvPr/>
          </p:nvSpPr>
          <p:spPr>
            <a:xfrm>
              <a:off x="0" y="0"/>
              <a:ext cx="270933" cy="2709333"/>
            </a:xfrm>
            <a:custGeom>
              <a:rect b="b" l="l" r="r" t="t"/>
              <a:pathLst>
                <a:path extrusionOk="0" h="270933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1A3A6"/>
            </a:solidFill>
            <a:ln>
              <a:noFill/>
            </a:ln>
          </p:spPr>
        </p:sp>
        <p:sp>
          <p:nvSpPr>
            <p:cNvPr id="335" name="Google Shape;335;p10"/>
            <p:cNvSpPr txBox="1"/>
            <p:nvPr/>
          </p:nvSpPr>
          <p:spPr>
            <a:xfrm>
              <a:off x="0" y="-38100"/>
              <a:ext cx="270933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6" name="Google Shape;336;p10"/>
          <p:cNvGrpSpPr/>
          <p:nvPr/>
        </p:nvGrpSpPr>
        <p:grpSpPr>
          <a:xfrm>
            <a:off x="0" y="-112276"/>
            <a:ext cx="1028700" cy="10399276"/>
            <a:chOff x="0" y="-38100"/>
            <a:chExt cx="270933" cy="2738904"/>
          </a:xfrm>
        </p:grpSpPr>
        <p:sp>
          <p:nvSpPr>
            <p:cNvPr id="337" name="Google Shape;337;p10"/>
            <p:cNvSpPr/>
            <p:nvPr/>
          </p:nvSpPr>
          <p:spPr>
            <a:xfrm>
              <a:off x="0" y="0"/>
              <a:ext cx="270933" cy="2700804"/>
            </a:xfrm>
            <a:custGeom>
              <a:rect b="b" l="l" r="r" t="t"/>
              <a:pathLst>
                <a:path extrusionOk="0" h="2700804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0804"/>
                  </a:lnTo>
                  <a:lnTo>
                    <a:pt x="0" y="2700804"/>
                  </a:lnTo>
                  <a:close/>
                </a:path>
              </a:pathLst>
            </a:custGeom>
            <a:solidFill>
              <a:srgbClr val="D7E9EB"/>
            </a:solidFill>
            <a:ln>
              <a:noFill/>
            </a:ln>
          </p:spPr>
        </p:sp>
        <p:sp>
          <p:nvSpPr>
            <p:cNvPr id="338" name="Google Shape;338;p10"/>
            <p:cNvSpPr txBox="1"/>
            <p:nvPr/>
          </p:nvSpPr>
          <p:spPr>
            <a:xfrm>
              <a:off x="0" y="-38100"/>
              <a:ext cx="270933" cy="27389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39" name="Google Shape;339;p10"/>
          <p:cNvCxnSpPr/>
          <p:nvPr/>
        </p:nvCxnSpPr>
        <p:spPr>
          <a:xfrm>
            <a:off x="17211675" y="3326028"/>
            <a:ext cx="0" cy="5914847"/>
          </a:xfrm>
          <a:prstGeom prst="straightConnector1">
            <a:avLst/>
          </a:prstGeom>
          <a:noFill/>
          <a:ln cap="rnd" cmpd="sng" w="952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0" name="Google Shape;340;p10"/>
          <p:cNvCxnSpPr/>
          <p:nvPr/>
        </p:nvCxnSpPr>
        <p:spPr>
          <a:xfrm>
            <a:off x="17211675" y="1028700"/>
            <a:ext cx="0" cy="1423759"/>
          </a:xfrm>
          <a:prstGeom prst="straightConnector1">
            <a:avLst/>
          </a:prstGeom>
          <a:noFill/>
          <a:ln cap="rnd" cmpd="sng" w="952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1" name="Google Shape;341;p10"/>
          <p:cNvSpPr txBox="1"/>
          <p:nvPr/>
        </p:nvSpPr>
        <p:spPr>
          <a:xfrm>
            <a:off x="1122296" y="-342900"/>
            <a:ext cx="8555104" cy="1140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290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00" u="none" cap="none" strike="noStrike">
                <a:solidFill>
                  <a:srgbClr val="4B4545"/>
                </a:solidFill>
                <a:latin typeface="Corben"/>
                <a:ea typeface="Corben"/>
                <a:cs typeface="Corben"/>
                <a:sym typeface="Corben"/>
              </a:rPr>
              <a:t>Sales Team Performance</a:t>
            </a:r>
            <a:endParaRPr b="0" i="0" sz="4400" u="none" cap="none" strike="noStrike">
              <a:solidFill>
                <a:srgbClr val="4B4545"/>
              </a:solidFill>
              <a:latin typeface="Corben"/>
              <a:ea typeface="Corben"/>
              <a:cs typeface="Corben"/>
              <a:sym typeface="Corben"/>
            </a:endParaRPr>
          </a:p>
        </p:txBody>
      </p:sp>
      <p:grpSp>
        <p:nvGrpSpPr>
          <p:cNvPr id="342" name="Google Shape;342;p10"/>
          <p:cNvGrpSpPr/>
          <p:nvPr/>
        </p:nvGrpSpPr>
        <p:grpSpPr>
          <a:xfrm>
            <a:off x="1256071" y="5143500"/>
            <a:ext cx="10707330" cy="4941672"/>
            <a:chOff x="-1681" y="-38100"/>
            <a:chExt cx="1878973" cy="1705555"/>
          </a:xfrm>
        </p:grpSpPr>
        <p:sp>
          <p:nvSpPr>
            <p:cNvPr id="343" name="Google Shape;343;p10"/>
            <p:cNvSpPr/>
            <p:nvPr/>
          </p:nvSpPr>
          <p:spPr>
            <a:xfrm>
              <a:off x="-1681" y="401908"/>
              <a:ext cx="1481751" cy="1234099"/>
            </a:xfrm>
            <a:custGeom>
              <a:rect b="b" l="l" r="r" t="t"/>
              <a:pathLst>
                <a:path extrusionOk="0" h="1667455" w="1877292">
                  <a:moveTo>
                    <a:pt x="55394" y="0"/>
                  </a:moveTo>
                  <a:lnTo>
                    <a:pt x="1821898" y="0"/>
                  </a:lnTo>
                  <a:cubicBezTo>
                    <a:pt x="1852491" y="0"/>
                    <a:pt x="1877292" y="24801"/>
                    <a:pt x="1877292" y="55394"/>
                  </a:cubicBezTo>
                  <a:lnTo>
                    <a:pt x="1877292" y="1612061"/>
                  </a:lnTo>
                  <a:cubicBezTo>
                    <a:pt x="1877292" y="1626752"/>
                    <a:pt x="1871456" y="1640842"/>
                    <a:pt x="1861068" y="1651230"/>
                  </a:cubicBezTo>
                  <a:cubicBezTo>
                    <a:pt x="1850679" y="1661619"/>
                    <a:pt x="1836590" y="1667455"/>
                    <a:pt x="1821898" y="1667455"/>
                  </a:cubicBezTo>
                  <a:lnTo>
                    <a:pt x="55394" y="1667455"/>
                  </a:lnTo>
                  <a:cubicBezTo>
                    <a:pt x="24801" y="1667455"/>
                    <a:pt x="0" y="1642654"/>
                    <a:pt x="0" y="1612061"/>
                  </a:cubicBezTo>
                  <a:lnTo>
                    <a:pt x="0" y="55394"/>
                  </a:lnTo>
                  <a:cubicBezTo>
                    <a:pt x="0" y="40702"/>
                    <a:pt x="5836" y="26613"/>
                    <a:pt x="16224" y="16224"/>
                  </a:cubicBezTo>
                  <a:cubicBezTo>
                    <a:pt x="26613" y="5836"/>
                    <a:pt x="40702" y="0"/>
                    <a:pt x="55394" y="0"/>
                  </a:cubicBezTo>
                  <a:close/>
                </a:path>
              </a:pathLst>
            </a:custGeom>
            <a:solidFill>
              <a:srgbClr val="41A3A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10"/>
            <p:cNvSpPr txBox="1"/>
            <p:nvPr/>
          </p:nvSpPr>
          <p:spPr>
            <a:xfrm>
              <a:off x="0" y="-38100"/>
              <a:ext cx="1877292" cy="17055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5" name="Google Shape;345;p10"/>
          <p:cNvGrpSpPr/>
          <p:nvPr/>
        </p:nvGrpSpPr>
        <p:grpSpPr>
          <a:xfrm>
            <a:off x="9906000" y="4636690"/>
            <a:ext cx="8196577" cy="5998172"/>
            <a:chOff x="-99842" y="-38100"/>
            <a:chExt cx="1977134" cy="1705555"/>
          </a:xfrm>
        </p:grpSpPr>
        <p:sp>
          <p:nvSpPr>
            <p:cNvPr id="346" name="Google Shape;346;p10"/>
            <p:cNvSpPr/>
            <p:nvPr/>
          </p:nvSpPr>
          <p:spPr>
            <a:xfrm>
              <a:off x="-99842" y="110613"/>
              <a:ext cx="1709391" cy="1411487"/>
            </a:xfrm>
            <a:custGeom>
              <a:rect b="b" l="l" r="r" t="t"/>
              <a:pathLst>
                <a:path extrusionOk="0" h="1667455" w="1877292">
                  <a:moveTo>
                    <a:pt x="55394" y="0"/>
                  </a:moveTo>
                  <a:lnTo>
                    <a:pt x="1821898" y="0"/>
                  </a:lnTo>
                  <a:cubicBezTo>
                    <a:pt x="1852491" y="0"/>
                    <a:pt x="1877292" y="24801"/>
                    <a:pt x="1877292" y="55394"/>
                  </a:cubicBezTo>
                  <a:lnTo>
                    <a:pt x="1877292" y="1612061"/>
                  </a:lnTo>
                  <a:cubicBezTo>
                    <a:pt x="1877292" y="1626752"/>
                    <a:pt x="1871456" y="1640842"/>
                    <a:pt x="1861068" y="1651230"/>
                  </a:cubicBezTo>
                  <a:cubicBezTo>
                    <a:pt x="1850679" y="1661619"/>
                    <a:pt x="1836590" y="1667455"/>
                    <a:pt x="1821898" y="1667455"/>
                  </a:cubicBezTo>
                  <a:lnTo>
                    <a:pt x="55394" y="1667455"/>
                  </a:lnTo>
                  <a:cubicBezTo>
                    <a:pt x="24801" y="1667455"/>
                    <a:pt x="0" y="1642654"/>
                    <a:pt x="0" y="1612061"/>
                  </a:cubicBezTo>
                  <a:lnTo>
                    <a:pt x="0" y="55394"/>
                  </a:lnTo>
                  <a:cubicBezTo>
                    <a:pt x="0" y="40702"/>
                    <a:pt x="5836" y="26613"/>
                    <a:pt x="16224" y="16224"/>
                  </a:cubicBezTo>
                  <a:cubicBezTo>
                    <a:pt x="26613" y="5836"/>
                    <a:pt x="40702" y="0"/>
                    <a:pt x="55394" y="0"/>
                  </a:cubicBezTo>
                  <a:close/>
                </a:path>
              </a:pathLst>
            </a:custGeom>
            <a:solidFill>
              <a:srgbClr val="41A3A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10"/>
            <p:cNvSpPr txBox="1"/>
            <p:nvPr/>
          </p:nvSpPr>
          <p:spPr>
            <a:xfrm>
              <a:off x="0" y="-38100"/>
              <a:ext cx="1877292" cy="17055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8" name="Google Shape;348;p10"/>
          <p:cNvSpPr/>
          <p:nvPr/>
        </p:nvSpPr>
        <p:spPr>
          <a:xfrm>
            <a:off x="10058401" y="5242942"/>
            <a:ext cx="6741090" cy="4751111"/>
          </a:xfrm>
          <a:custGeom>
            <a:rect b="b" l="l" r="r" t="t"/>
            <a:pathLst>
              <a:path extrusionOk="0" h="1667455" w="1877292">
                <a:moveTo>
                  <a:pt x="55394" y="0"/>
                </a:moveTo>
                <a:lnTo>
                  <a:pt x="1821898" y="0"/>
                </a:lnTo>
                <a:cubicBezTo>
                  <a:pt x="1852491" y="0"/>
                  <a:pt x="1877292" y="24801"/>
                  <a:pt x="1877292" y="55394"/>
                </a:cubicBezTo>
                <a:lnTo>
                  <a:pt x="1877292" y="1612061"/>
                </a:lnTo>
                <a:cubicBezTo>
                  <a:pt x="1877292" y="1626752"/>
                  <a:pt x="1871456" y="1640842"/>
                  <a:pt x="1861068" y="1651230"/>
                </a:cubicBezTo>
                <a:cubicBezTo>
                  <a:pt x="1850679" y="1661619"/>
                  <a:pt x="1836590" y="1667455"/>
                  <a:pt x="1821898" y="1667455"/>
                </a:cubicBezTo>
                <a:lnTo>
                  <a:pt x="55394" y="1667455"/>
                </a:lnTo>
                <a:cubicBezTo>
                  <a:pt x="24801" y="1667455"/>
                  <a:pt x="0" y="1642654"/>
                  <a:pt x="0" y="1612061"/>
                </a:cubicBezTo>
                <a:lnTo>
                  <a:pt x="0" y="55394"/>
                </a:lnTo>
                <a:cubicBezTo>
                  <a:pt x="0" y="40702"/>
                  <a:pt x="5836" y="26613"/>
                  <a:pt x="16224" y="16224"/>
                </a:cubicBezTo>
                <a:cubicBezTo>
                  <a:pt x="26613" y="5836"/>
                  <a:pt x="40702" y="0"/>
                  <a:pt x="5539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49" name="Google Shape;349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17572" y="6610929"/>
            <a:ext cx="7964552" cy="3190574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grpSp>
        <p:nvGrpSpPr>
          <p:cNvPr id="350" name="Google Shape;350;p10"/>
          <p:cNvGrpSpPr/>
          <p:nvPr/>
        </p:nvGrpSpPr>
        <p:grpSpPr>
          <a:xfrm>
            <a:off x="1199201" y="1497228"/>
            <a:ext cx="10707330" cy="4941672"/>
            <a:chOff x="-1681" y="-38100"/>
            <a:chExt cx="1878973" cy="1705555"/>
          </a:xfrm>
        </p:grpSpPr>
        <p:sp>
          <p:nvSpPr>
            <p:cNvPr id="351" name="Google Shape;351;p10"/>
            <p:cNvSpPr/>
            <p:nvPr/>
          </p:nvSpPr>
          <p:spPr>
            <a:xfrm>
              <a:off x="-1681" y="401908"/>
              <a:ext cx="1481751" cy="1234099"/>
            </a:xfrm>
            <a:custGeom>
              <a:rect b="b" l="l" r="r" t="t"/>
              <a:pathLst>
                <a:path extrusionOk="0" h="1667455" w="1877292">
                  <a:moveTo>
                    <a:pt x="55394" y="0"/>
                  </a:moveTo>
                  <a:lnTo>
                    <a:pt x="1821898" y="0"/>
                  </a:lnTo>
                  <a:cubicBezTo>
                    <a:pt x="1852491" y="0"/>
                    <a:pt x="1877292" y="24801"/>
                    <a:pt x="1877292" y="55394"/>
                  </a:cubicBezTo>
                  <a:lnTo>
                    <a:pt x="1877292" y="1612061"/>
                  </a:lnTo>
                  <a:cubicBezTo>
                    <a:pt x="1877292" y="1626752"/>
                    <a:pt x="1871456" y="1640842"/>
                    <a:pt x="1861068" y="1651230"/>
                  </a:cubicBezTo>
                  <a:cubicBezTo>
                    <a:pt x="1850679" y="1661619"/>
                    <a:pt x="1836590" y="1667455"/>
                    <a:pt x="1821898" y="1667455"/>
                  </a:cubicBezTo>
                  <a:lnTo>
                    <a:pt x="55394" y="1667455"/>
                  </a:lnTo>
                  <a:cubicBezTo>
                    <a:pt x="24801" y="1667455"/>
                    <a:pt x="0" y="1642654"/>
                    <a:pt x="0" y="1612061"/>
                  </a:cubicBezTo>
                  <a:lnTo>
                    <a:pt x="0" y="55394"/>
                  </a:lnTo>
                  <a:cubicBezTo>
                    <a:pt x="0" y="40702"/>
                    <a:pt x="5836" y="26613"/>
                    <a:pt x="16224" y="16224"/>
                  </a:cubicBezTo>
                  <a:cubicBezTo>
                    <a:pt x="26613" y="5836"/>
                    <a:pt x="40702" y="0"/>
                    <a:pt x="55394" y="0"/>
                  </a:cubicBezTo>
                  <a:close/>
                </a:path>
              </a:pathLst>
            </a:custGeom>
            <a:solidFill>
              <a:srgbClr val="41A3A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10"/>
            <p:cNvSpPr txBox="1"/>
            <p:nvPr/>
          </p:nvSpPr>
          <p:spPr>
            <a:xfrm>
              <a:off x="0" y="-38100"/>
              <a:ext cx="1877292" cy="17055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53" name="Google Shape;353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07753" y="2976291"/>
            <a:ext cx="7712447" cy="325755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354" name="Google Shape;354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01853" y="2933700"/>
            <a:ext cx="6497637" cy="2057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355" name="Google Shape;355;p10"/>
          <p:cNvSpPr/>
          <p:nvPr/>
        </p:nvSpPr>
        <p:spPr>
          <a:xfrm>
            <a:off x="1256071" y="858630"/>
            <a:ext cx="5144730" cy="1770270"/>
          </a:xfrm>
          <a:custGeom>
            <a:rect b="b" l="l" r="r" t="t"/>
            <a:pathLst>
              <a:path extrusionOk="0" h="1667455" w="1877292">
                <a:moveTo>
                  <a:pt x="55394" y="0"/>
                </a:moveTo>
                <a:lnTo>
                  <a:pt x="1821898" y="0"/>
                </a:lnTo>
                <a:cubicBezTo>
                  <a:pt x="1852491" y="0"/>
                  <a:pt x="1877292" y="24801"/>
                  <a:pt x="1877292" y="55394"/>
                </a:cubicBezTo>
                <a:lnTo>
                  <a:pt x="1877292" y="1612061"/>
                </a:lnTo>
                <a:cubicBezTo>
                  <a:pt x="1877292" y="1626752"/>
                  <a:pt x="1871456" y="1640842"/>
                  <a:pt x="1861068" y="1651230"/>
                </a:cubicBezTo>
                <a:cubicBezTo>
                  <a:pt x="1850679" y="1661619"/>
                  <a:pt x="1836590" y="1667455"/>
                  <a:pt x="1821898" y="1667455"/>
                </a:cubicBezTo>
                <a:lnTo>
                  <a:pt x="55394" y="1667455"/>
                </a:lnTo>
                <a:cubicBezTo>
                  <a:pt x="24801" y="1667455"/>
                  <a:pt x="0" y="1642654"/>
                  <a:pt x="0" y="1612061"/>
                </a:cubicBezTo>
                <a:lnTo>
                  <a:pt x="0" y="55394"/>
                </a:lnTo>
                <a:cubicBezTo>
                  <a:pt x="0" y="40702"/>
                  <a:pt x="5836" y="26613"/>
                  <a:pt x="16224" y="16224"/>
                </a:cubicBezTo>
                <a:cubicBezTo>
                  <a:pt x="26613" y="5836"/>
                  <a:pt x="40702" y="0"/>
                  <a:pt x="55394" y="0"/>
                </a:cubicBezTo>
                <a:close/>
              </a:path>
            </a:pathLst>
          </a:custGeom>
          <a:solidFill>
            <a:srgbClr val="41A3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0"/>
          <p:cNvSpPr txBox="1"/>
          <p:nvPr/>
        </p:nvSpPr>
        <p:spPr>
          <a:xfrm>
            <a:off x="1482196" y="1028700"/>
            <a:ext cx="4766203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4B4545"/>
                </a:solidFill>
                <a:latin typeface="Corben"/>
                <a:ea typeface="Corben"/>
                <a:cs typeface="Corben"/>
                <a:sym typeface="Corben"/>
              </a:rPr>
              <a:t>Top Manager</a:t>
            </a:r>
            <a:endParaRPr b="1" i="0" sz="2500" u="none" cap="none" strike="noStrike">
              <a:solidFill>
                <a:srgbClr val="4B4545"/>
              </a:solidFill>
              <a:latin typeface="Corben"/>
              <a:ea typeface="Corben"/>
              <a:cs typeface="Corben"/>
              <a:sym typeface="Corben"/>
            </a:endParaRPr>
          </a:p>
        </p:txBody>
      </p:sp>
      <p:sp>
        <p:nvSpPr>
          <p:cNvPr id="357" name="Google Shape;357;p10"/>
          <p:cNvSpPr/>
          <p:nvPr/>
        </p:nvSpPr>
        <p:spPr>
          <a:xfrm>
            <a:off x="1417571" y="1497228"/>
            <a:ext cx="4830829" cy="948451"/>
          </a:xfrm>
          <a:custGeom>
            <a:rect b="b" l="l" r="r" t="t"/>
            <a:pathLst>
              <a:path extrusionOk="0" h="1667455" w="1877292">
                <a:moveTo>
                  <a:pt x="55394" y="0"/>
                </a:moveTo>
                <a:lnTo>
                  <a:pt x="1821898" y="0"/>
                </a:lnTo>
                <a:cubicBezTo>
                  <a:pt x="1852491" y="0"/>
                  <a:pt x="1877292" y="24801"/>
                  <a:pt x="1877292" y="55394"/>
                </a:cubicBezTo>
                <a:lnTo>
                  <a:pt x="1877292" y="1612061"/>
                </a:lnTo>
                <a:cubicBezTo>
                  <a:pt x="1877292" y="1626752"/>
                  <a:pt x="1871456" y="1640842"/>
                  <a:pt x="1861068" y="1651230"/>
                </a:cubicBezTo>
                <a:cubicBezTo>
                  <a:pt x="1850679" y="1661619"/>
                  <a:pt x="1836590" y="1667455"/>
                  <a:pt x="1821898" y="1667455"/>
                </a:cubicBezTo>
                <a:lnTo>
                  <a:pt x="55394" y="1667455"/>
                </a:lnTo>
                <a:cubicBezTo>
                  <a:pt x="24801" y="1667455"/>
                  <a:pt x="0" y="1642654"/>
                  <a:pt x="0" y="1612061"/>
                </a:cubicBezTo>
                <a:lnTo>
                  <a:pt x="0" y="55394"/>
                </a:lnTo>
                <a:cubicBezTo>
                  <a:pt x="0" y="40702"/>
                  <a:pt x="5836" y="26613"/>
                  <a:pt x="16224" y="16224"/>
                </a:cubicBezTo>
                <a:cubicBezTo>
                  <a:pt x="26613" y="5836"/>
                  <a:pt x="40702" y="0"/>
                  <a:pt x="5539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0"/>
          <p:cNvSpPr txBox="1"/>
          <p:nvPr/>
        </p:nvSpPr>
        <p:spPr>
          <a:xfrm>
            <a:off x="1539347" y="1537346"/>
            <a:ext cx="4533899" cy="7867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B4545"/>
                </a:solidFill>
                <a:latin typeface="Open Sans"/>
                <a:ea typeface="Open Sans"/>
                <a:cs typeface="Open Sans"/>
                <a:sym typeface="Open Sans"/>
              </a:rPr>
              <a:t>Britanny Bold from Delta Team  </a:t>
            </a:r>
            <a:endParaRPr/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B4545"/>
                </a:solidFill>
                <a:latin typeface="Open Sans"/>
                <a:ea typeface="Open Sans"/>
                <a:cs typeface="Open Sans"/>
                <a:sym typeface="Open Sans"/>
              </a:rPr>
              <a:t>($3,67bn)</a:t>
            </a:r>
            <a:endParaRPr b="0" i="0" sz="1800" u="none" cap="none" strike="noStrike">
              <a:solidFill>
                <a:srgbClr val="4B454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9" name="Google Shape;359;p10"/>
          <p:cNvSpPr/>
          <p:nvPr/>
        </p:nvSpPr>
        <p:spPr>
          <a:xfrm>
            <a:off x="6629400" y="858630"/>
            <a:ext cx="5144730" cy="1770270"/>
          </a:xfrm>
          <a:custGeom>
            <a:rect b="b" l="l" r="r" t="t"/>
            <a:pathLst>
              <a:path extrusionOk="0" h="1667455" w="1877292">
                <a:moveTo>
                  <a:pt x="55394" y="0"/>
                </a:moveTo>
                <a:lnTo>
                  <a:pt x="1821898" y="0"/>
                </a:lnTo>
                <a:cubicBezTo>
                  <a:pt x="1852491" y="0"/>
                  <a:pt x="1877292" y="24801"/>
                  <a:pt x="1877292" y="55394"/>
                </a:cubicBezTo>
                <a:lnTo>
                  <a:pt x="1877292" y="1612061"/>
                </a:lnTo>
                <a:cubicBezTo>
                  <a:pt x="1877292" y="1626752"/>
                  <a:pt x="1871456" y="1640842"/>
                  <a:pt x="1861068" y="1651230"/>
                </a:cubicBezTo>
                <a:cubicBezTo>
                  <a:pt x="1850679" y="1661619"/>
                  <a:pt x="1836590" y="1667455"/>
                  <a:pt x="1821898" y="1667455"/>
                </a:cubicBezTo>
                <a:lnTo>
                  <a:pt x="55394" y="1667455"/>
                </a:lnTo>
                <a:cubicBezTo>
                  <a:pt x="24801" y="1667455"/>
                  <a:pt x="0" y="1642654"/>
                  <a:pt x="0" y="1612061"/>
                </a:cubicBezTo>
                <a:lnTo>
                  <a:pt x="0" y="55394"/>
                </a:lnTo>
                <a:cubicBezTo>
                  <a:pt x="0" y="40702"/>
                  <a:pt x="5836" y="26613"/>
                  <a:pt x="16224" y="16224"/>
                </a:cubicBezTo>
                <a:cubicBezTo>
                  <a:pt x="26613" y="5836"/>
                  <a:pt x="40702" y="0"/>
                  <a:pt x="55394" y="0"/>
                </a:cubicBezTo>
                <a:close/>
              </a:path>
            </a:pathLst>
          </a:custGeom>
          <a:solidFill>
            <a:srgbClr val="41A3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0"/>
          <p:cNvSpPr txBox="1"/>
          <p:nvPr/>
        </p:nvSpPr>
        <p:spPr>
          <a:xfrm>
            <a:off x="6855525" y="1059521"/>
            <a:ext cx="4766203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4B4545"/>
                </a:solidFill>
                <a:latin typeface="Corben"/>
                <a:ea typeface="Corben"/>
                <a:cs typeface="Corben"/>
                <a:sym typeface="Corben"/>
              </a:rPr>
              <a:t>Top Sales  Rep</a:t>
            </a:r>
            <a:endParaRPr b="1" i="0" sz="2500" u="none" cap="none" strike="noStrike">
              <a:solidFill>
                <a:srgbClr val="4B4545"/>
              </a:solidFill>
              <a:latin typeface="Corben"/>
              <a:ea typeface="Corben"/>
              <a:cs typeface="Corben"/>
              <a:sym typeface="Corben"/>
            </a:endParaRPr>
          </a:p>
        </p:txBody>
      </p:sp>
      <p:sp>
        <p:nvSpPr>
          <p:cNvPr id="361" name="Google Shape;361;p10"/>
          <p:cNvSpPr/>
          <p:nvPr/>
        </p:nvSpPr>
        <p:spPr>
          <a:xfrm>
            <a:off x="6781800" y="1528049"/>
            <a:ext cx="4830829" cy="948451"/>
          </a:xfrm>
          <a:custGeom>
            <a:rect b="b" l="l" r="r" t="t"/>
            <a:pathLst>
              <a:path extrusionOk="0" h="1667455" w="1877292">
                <a:moveTo>
                  <a:pt x="55394" y="0"/>
                </a:moveTo>
                <a:lnTo>
                  <a:pt x="1821898" y="0"/>
                </a:lnTo>
                <a:cubicBezTo>
                  <a:pt x="1852491" y="0"/>
                  <a:pt x="1877292" y="24801"/>
                  <a:pt x="1877292" y="55394"/>
                </a:cubicBezTo>
                <a:lnTo>
                  <a:pt x="1877292" y="1612061"/>
                </a:lnTo>
                <a:cubicBezTo>
                  <a:pt x="1877292" y="1626752"/>
                  <a:pt x="1871456" y="1640842"/>
                  <a:pt x="1861068" y="1651230"/>
                </a:cubicBezTo>
                <a:cubicBezTo>
                  <a:pt x="1850679" y="1661619"/>
                  <a:pt x="1836590" y="1667455"/>
                  <a:pt x="1821898" y="1667455"/>
                </a:cubicBezTo>
                <a:lnTo>
                  <a:pt x="55394" y="1667455"/>
                </a:lnTo>
                <a:cubicBezTo>
                  <a:pt x="24801" y="1667455"/>
                  <a:pt x="0" y="1642654"/>
                  <a:pt x="0" y="1612061"/>
                </a:cubicBezTo>
                <a:lnTo>
                  <a:pt x="0" y="55394"/>
                </a:lnTo>
                <a:cubicBezTo>
                  <a:pt x="0" y="40702"/>
                  <a:pt x="5836" y="26613"/>
                  <a:pt x="16224" y="16224"/>
                </a:cubicBezTo>
                <a:cubicBezTo>
                  <a:pt x="26613" y="5836"/>
                  <a:pt x="40702" y="0"/>
                  <a:pt x="5539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0"/>
          <p:cNvSpPr txBox="1"/>
          <p:nvPr/>
        </p:nvSpPr>
        <p:spPr>
          <a:xfrm>
            <a:off x="6912676" y="1568167"/>
            <a:ext cx="4533899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B4545"/>
                </a:solidFill>
                <a:latin typeface="Open Sans"/>
                <a:ea typeface="Open Sans"/>
                <a:cs typeface="Open Sans"/>
                <a:sym typeface="Open Sans"/>
              </a:rPr>
              <a:t>Jimmy  Grey from Charlie Team  </a:t>
            </a:r>
            <a:endParaRPr/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B4545"/>
                </a:solidFill>
                <a:latin typeface="Open Sans"/>
                <a:ea typeface="Open Sans"/>
                <a:cs typeface="Open Sans"/>
                <a:sym typeface="Open Sans"/>
              </a:rPr>
              <a:t>($0,99bn)</a:t>
            </a:r>
            <a:endParaRPr b="0" i="0" sz="1800" u="none" cap="none" strike="noStrike">
              <a:solidFill>
                <a:srgbClr val="4B454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3" name="Google Shape;363;p10"/>
          <p:cNvSpPr txBox="1"/>
          <p:nvPr/>
        </p:nvSpPr>
        <p:spPr>
          <a:xfrm>
            <a:off x="10359495" y="5767675"/>
            <a:ext cx="5730437" cy="36933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Delta Team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the company's main sales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backbone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requires continued motivation and support.</a:t>
            </a:r>
            <a:endParaRPr/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Jimmy Grey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as the best sales representative, can serve as a role model/trainer to improve the performance of other teams.</a:t>
            </a:r>
            <a:endParaRPr/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Ionclotide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a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best-seller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the pricing and distribution strategies for this product must be optimized.</a:t>
            </a:r>
            <a:endParaRPr/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Bravo and Alfa are still lagging behind → require special programs such as training, incentives, or marketing support.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8" name="Google Shape;368;p11"/>
          <p:cNvGrpSpPr/>
          <p:nvPr/>
        </p:nvGrpSpPr>
        <p:grpSpPr>
          <a:xfrm>
            <a:off x="17259300" y="-144661"/>
            <a:ext cx="1028700" cy="10431661"/>
            <a:chOff x="0" y="-38100"/>
            <a:chExt cx="270933" cy="2747433"/>
          </a:xfrm>
        </p:grpSpPr>
        <p:sp>
          <p:nvSpPr>
            <p:cNvPr id="369" name="Google Shape;369;p11"/>
            <p:cNvSpPr/>
            <p:nvPr/>
          </p:nvSpPr>
          <p:spPr>
            <a:xfrm>
              <a:off x="0" y="0"/>
              <a:ext cx="270933" cy="2709333"/>
            </a:xfrm>
            <a:custGeom>
              <a:rect b="b" l="l" r="r" t="t"/>
              <a:pathLst>
                <a:path extrusionOk="0" h="270933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1A3A6"/>
            </a:solidFill>
            <a:ln>
              <a:noFill/>
            </a:ln>
          </p:spPr>
        </p:sp>
        <p:sp>
          <p:nvSpPr>
            <p:cNvPr id="370" name="Google Shape;370;p11"/>
            <p:cNvSpPr txBox="1"/>
            <p:nvPr/>
          </p:nvSpPr>
          <p:spPr>
            <a:xfrm>
              <a:off x="0" y="-38100"/>
              <a:ext cx="270933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1" name="Google Shape;371;p11"/>
          <p:cNvSpPr/>
          <p:nvPr/>
        </p:nvSpPr>
        <p:spPr>
          <a:xfrm>
            <a:off x="996359" y="523430"/>
            <a:ext cx="2948212" cy="748366"/>
          </a:xfrm>
          <a:custGeom>
            <a:rect b="b" l="l" r="r" t="t"/>
            <a:pathLst>
              <a:path extrusionOk="0" h="748366" w="2948212">
                <a:moveTo>
                  <a:pt x="0" y="0"/>
                </a:moveTo>
                <a:lnTo>
                  <a:pt x="2948212" y="0"/>
                </a:lnTo>
                <a:lnTo>
                  <a:pt x="2948212" y="748365"/>
                </a:lnTo>
                <a:lnTo>
                  <a:pt x="0" y="7483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72" name="Google Shape;372;p11"/>
          <p:cNvSpPr txBox="1"/>
          <p:nvPr/>
        </p:nvSpPr>
        <p:spPr>
          <a:xfrm>
            <a:off x="4761574" y="266700"/>
            <a:ext cx="8725826" cy="8976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0C4E50"/>
                </a:solidFill>
                <a:latin typeface="Corben"/>
                <a:ea typeface="Corben"/>
                <a:cs typeface="Corben"/>
                <a:sym typeface="Corben"/>
              </a:rPr>
              <a:t>Customer Segmentation</a:t>
            </a:r>
            <a:endParaRPr b="0" i="0" sz="5000" u="none" cap="none" strike="noStrike">
              <a:solidFill>
                <a:srgbClr val="0C4E50"/>
              </a:solidFill>
              <a:latin typeface="Corben"/>
              <a:ea typeface="Corben"/>
              <a:cs typeface="Corben"/>
              <a:sym typeface="Corben"/>
            </a:endParaRPr>
          </a:p>
        </p:txBody>
      </p:sp>
      <p:sp>
        <p:nvSpPr>
          <p:cNvPr id="373" name="Google Shape;373;p11"/>
          <p:cNvSpPr/>
          <p:nvPr/>
        </p:nvSpPr>
        <p:spPr>
          <a:xfrm>
            <a:off x="685800" y="2528267"/>
            <a:ext cx="8712642" cy="13388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Create an Elbow Plot</a:t>
            </a:r>
            <a:r>
              <a:rPr b="0" i="0" lang="en-US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on the K-Means Clustering method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for </a:t>
            </a:r>
            <a:r>
              <a:rPr b="1" i="0" lang="en-US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helps determine the optimal number of clusters </a:t>
            </a:r>
            <a:r>
              <a:rPr b="0" i="0" lang="en-US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by finding the “elbow” point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74" name="Google Shape;37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3524250"/>
            <a:ext cx="16770749" cy="6038850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11"/>
          <p:cNvSpPr/>
          <p:nvPr/>
        </p:nvSpPr>
        <p:spPr>
          <a:xfrm>
            <a:off x="723900" y="1943099"/>
            <a:ext cx="4564070" cy="566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6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4B4545"/>
                </a:solidFill>
                <a:latin typeface="Open Sans"/>
                <a:ea typeface="Open Sans"/>
                <a:cs typeface="Open Sans"/>
                <a:sym typeface="Open Sans"/>
              </a:rPr>
              <a:t>K-means Clustering analysis </a:t>
            </a:r>
            <a:endParaRPr b="1" i="0" sz="2400" u="none" cap="none" strike="noStrike">
              <a:solidFill>
                <a:srgbClr val="4B454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6" name="Google Shape;376;p11"/>
          <p:cNvSpPr/>
          <p:nvPr/>
        </p:nvSpPr>
        <p:spPr>
          <a:xfrm>
            <a:off x="2472535" y="6644248"/>
            <a:ext cx="533400" cy="450061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1"/>
          <p:cNvSpPr/>
          <p:nvPr/>
        </p:nvSpPr>
        <p:spPr>
          <a:xfrm>
            <a:off x="2483655" y="8503439"/>
            <a:ext cx="533400" cy="450061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1"/>
          <p:cNvSpPr/>
          <p:nvPr/>
        </p:nvSpPr>
        <p:spPr>
          <a:xfrm>
            <a:off x="13106400" y="525693"/>
            <a:ext cx="2948212" cy="748366"/>
          </a:xfrm>
          <a:custGeom>
            <a:rect b="b" l="l" r="r" t="t"/>
            <a:pathLst>
              <a:path extrusionOk="0" h="748366" w="2948212">
                <a:moveTo>
                  <a:pt x="0" y="0"/>
                </a:moveTo>
                <a:lnTo>
                  <a:pt x="2948212" y="0"/>
                </a:lnTo>
                <a:lnTo>
                  <a:pt x="2948212" y="748365"/>
                </a:lnTo>
                <a:lnTo>
                  <a:pt x="0" y="7483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3" name="Google Shape;383;p12"/>
          <p:cNvGrpSpPr/>
          <p:nvPr/>
        </p:nvGrpSpPr>
        <p:grpSpPr>
          <a:xfrm>
            <a:off x="8337755" y="-106561"/>
            <a:ext cx="8955958" cy="10431661"/>
            <a:chOff x="0" y="-38100"/>
            <a:chExt cx="2408296" cy="2747433"/>
          </a:xfrm>
        </p:grpSpPr>
        <p:sp>
          <p:nvSpPr>
            <p:cNvPr id="384" name="Google Shape;384;p12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7E9EB"/>
            </a:solidFill>
            <a:ln>
              <a:noFill/>
            </a:ln>
          </p:spPr>
        </p:sp>
        <p:sp>
          <p:nvSpPr>
            <p:cNvPr id="385" name="Google Shape;385;p12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6" name="Google Shape;386;p12"/>
          <p:cNvGrpSpPr/>
          <p:nvPr/>
        </p:nvGrpSpPr>
        <p:grpSpPr>
          <a:xfrm>
            <a:off x="17259300" y="-144661"/>
            <a:ext cx="1028700" cy="10431661"/>
            <a:chOff x="0" y="-38100"/>
            <a:chExt cx="270933" cy="2747433"/>
          </a:xfrm>
        </p:grpSpPr>
        <p:sp>
          <p:nvSpPr>
            <p:cNvPr id="387" name="Google Shape;387;p12"/>
            <p:cNvSpPr/>
            <p:nvPr/>
          </p:nvSpPr>
          <p:spPr>
            <a:xfrm>
              <a:off x="0" y="0"/>
              <a:ext cx="270933" cy="2709333"/>
            </a:xfrm>
            <a:custGeom>
              <a:rect b="b" l="l" r="r" t="t"/>
              <a:pathLst>
                <a:path extrusionOk="0" h="270933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1A3A6"/>
            </a:solidFill>
            <a:ln>
              <a:noFill/>
            </a:ln>
          </p:spPr>
        </p:sp>
        <p:sp>
          <p:nvSpPr>
            <p:cNvPr id="388" name="Google Shape;388;p12"/>
            <p:cNvSpPr txBox="1"/>
            <p:nvPr/>
          </p:nvSpPr>
          <p:spPr>
            <a:xfrm>
              <a:off x="0" y="-38100"/>
              <a:ext cx="270933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9" name="Google Shape;389;p12"/>
          <p:cNvSpPr/>
          <p:nvPr/>
        </p:nvSpPr>
        <p:spPr>
          <a:xfrm>
            <a:off x="996359" y="523430"/>
            <a:ext cx="2948212" cy="748366"/>
          </a:xfrm>
          <a:custGeom>
            <a:rect b="b" l="l" r="r" t="t"/>
            <a:pathLst>
              <a:path extrusionOk="0" h="748366" w="2948212">
                <a:moveTo>
                  <a:pt x="0" y="0"/>
                </a:moveTo>
                <a:lnTo>
                  <a:pt x="2948212" y="0"/>
                </a:lnTo>
                <a:lnTo>
                  <a:pt x="2948212" y="748365"/>
                </a:lnTo>
                <a:lnTo>
                  <a:pt x="0" y="7483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0" name="Google Shape;390;p12"/>
          <p:cNvSpPr txBox="1"/>
          <p:nvPr/>
        </p:nvSpPr>
        <p:spPr>
          <a:xfrm>
            <a:off x="457200" y="1562100"/>
            <a:ext cx="7151283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00" u="none" cap="none" strike="noStrike">
                <a:solidFill>
                  <a:srgbClr val="0C4E50"/>
                </a:solidFill>
                <a:latin typeface="Corben"/>
                <a:ea typeface="Corben"/>
                <a:cs typeface="Corben"/>
                <a:sym typeface="Corben"/>
              </a:rPr>
              <a:t>Customer segmentation by frequency and monetary (K-mean)</a:t>
            </a:r>
            <a:endParaRPr b="0" i="0" sz="3500" u="none" cap="none" strike="noStrike">
              <a:solidFill>
                <a:srgbClr val="0C4E50"/>
              </a:solidFill>
              <a:latin typeface="Corben"/>
              <a:ea typeface="Corben"/>
              <a:cs typeface="Corben"/>
              <a:sym typeface="Corben"/>
            </a:endParaRPr>
          </a:p>
        </p:txBody>
      </p:sp>
      <p:graphicFrame>
        <p:nvGraphicFramePr>
          <p:cNvPr id="391" name="Google Shape;391;p12"/>
          <p:cNvGraphicFramePr/>
          <p:nvPr/>
        </p:nvGraphicFramePr>
        <p:xfrm>
          <a:off x="369483" y="44577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{FFAF07DB-3F23-439C-A64D-C9F2B86FFE39}</a:tableStyleId>
              </a:tblPr>
              <a:tblGrid>
                <a:gridCol w="730050"/>
                <a:gridCol w="2743200"/>
                <a:gridCol w="1066800"/>
                <a:gridCol w="1251150"/>
                <a:gridCol w="1447800"/>
              </a:tblGrid>
              <a:tr h="413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index</a:t>
                      </a:r>
                      <a:endParaRPr b="1" sz="1600"/>
                    </a:p>
                  </a:txBody>
                  <a:tcPr marT="39700" marB="39700" marR="79400" marL="794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Customer Name</a:t>
                      </a:r>
                      <a:endParaRPr b="1" sz="1600"/>
                    </a:p>
                  </a:txBody>
                  <a:tcPr marT="39700" marB="39700" marR="79400" marL="794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Frequency</a:t>
                      </a:r>
                      <a:endParaRPr b="1" sz="1600"/>
                    </a:p>
                  </a:txBody>
                  <a:tcPr marT="39700" marB="39700" marR="79400" marL="794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Monetary</a:t>
                      </a:r>
                      <a:endParaRPr b="1" sz="1600"/>
                    </a:p>
                  </a:txBody>
                  <a:tcPr marT="39700" marB="39700" marR="79400" marL="794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Cluster</a:t>
                      </a:r>
                      <a:endParaRPr b="1" sz="1600"/>
                    </a:p>
                  </a:txBody>
                  <a:tcPr marT="39700" marB="39700" marR="79400" marL="79400" anchor="ctr"/>
                </a:tc>
              </a:tr>
              <a:tr h="413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0</a:t>
                      </a:r>
                      <a:endParaRPr b="1" sz="1600"/>
                    </a:p>
                  </a:txBody>
                  <a:tcPr marT="39700" marB="39700" marR="79400" marL="794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Abernathy Group</a:t>
                      </a:r>
                      <a:endParaRPr/>
                    </a:p>
                  </a:txBody>
                  <a:tcPr marT="39700" marB="39700" marR="79400" marL="794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346</a:t>
                      </a:r>
                      <a:endParaRPr/>
                    </a:p>
                  </a:txBody>
                  <a:tcPr marT="39700" marB="39700" marR="79400" marL="794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$24.902.609</a:t>
                      </a:r>
                      <a:endParaRPr sz="1600"/>
                    </a:p>
                  </a:txBody>
                  <a:tcPr marT="39700" marB="39700" marR="79400" marL="794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0</a:t>
                      </a:r>
                      <a:endParaRPr/>
                    </a:p>
                  </a:txBody>
                  <a:tcPr marT="39700" marB="39700" marR="79400" marL="79400" anchor="ctr"/>
                </a:tc>
              </a:tr>
              <a:tr h="769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1</a:t>
                      </a:r>
                      <a:endParaRPr b="1" sz="1600"/>
                    </a:p>
                  </a:txBody>
                  <a:tcPr marT="39700" marB="39700" marR="79400" marL="794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Abernathy Group Pharmaceutical Limited</a:t>
                      </a:r>
                      <a:endParaRPr/>
                    </a:p>
                  </a:txBody>
                  <a:tcPr marT="39700" marB="39700" marR="79400" marL="794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223</a:t>
                      </a:r>
                      <a:endParaRPr/>
                    </a:p>
                  </a:txBody>
                  <a:tcPr marT="39700" marB="39700" marR="79400" marL="794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$2.079.222</a:t>
                      </a:r>
                      <a:endParaRPr sz="1600"/>
                    </a:p>
                  </a:txBody>
                  <a:tcPr marT="39700" marB="39700" marR="79400" marL="794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1</a:t>
                      </a:r>
                      <a:endParaRPr/>
                    </a:p>
                  </a:txBody>
                  <a:tcPr marT="39700" marB="39700" marR="79400" marL="79400" anchor="ctr"/>
                </a:tc>
              </a:tr>
              <a:tr h="591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2</a:t>
                      </a:r>
                      <a:endParaRPr b="1" sz="1600"/>
                    </a:p>
                  </a:txBody>
                  <a:tcPr marT="39700" marB="39700" marR="79400" marL="794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Abernathy Group Pharmacy</a:t>
                      </a:r>
                      <a:endParaRPr/>
                    </a:p>
                  </a:txBody>
                  <a:tcPr marT="39700" marB="39700" marR="79400" marL="794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385</a:t>
                      </a:r>
                      <a:endParaRPr/>
                    </a:p>
                  </a:txBody>
                  <a:tcPr marT="39700" marB="39700" marR="79400" marL="794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34.975.728</a:t>
                      </a:r>
                      <a:endParaRPr sz="1600"/>
                    </a:p>
                  </a:txBody>
                  <a:tcPr marT="39700" marB="39700" marR="79400" marL="794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2</a:t>
                      </a:r>
                      <a:endParaRPr/>
                    </a:p>
                  </a:txBody>
                  <a:tcPr marT="39700" marB="39700" marR="79400" marL="79400" anchor="ctr"/>
                </a:tc>
              </a:tr>
              <a:tr h="422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3</a:t>
                      </a:r>
                      <a:endParaRPr b="1" sz="1600"/>
                    </a:p>
                  </a:txBody>
                  <a:tcPr marT="39700" marB="39700" marR="79400" marL="794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Abernathy and Sons</a:t>
                      </a:r>
                      <a:endParaRPr/>
                    </a:p>
                  </a:txBody>
                  <a:tcPr marT="39700" marB="39700" marR="79400" marL="794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373</a:t>
                      </a:r>
                      <a:endParaRPr/>
                    </a:p>
                  </a:txBody>
                  <a:tcPr marT="39700" marB="39700" marR="79400" marL="794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$20.999.467</a:t>
                      </a:r>
                      <a:endParaRPr sz="1600"/>
                    </a:p>
                  </a:txBody>
                  <a:tcPr marT="39700" marB="39700" marR="79400" marL="794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0</a:t>
                      </a:r>
                      <a:endParaRPr/>
                    </a:p>
                  </a:txBody>
                  <a:tcPr marT="39700" marB="39700" marR="79400" marL="79400" anchor="ctr"/>
                </a:tc>
              </a:tr>
              <a:tr h="131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4</a:t>
                      </a:r>
                      <a:endParaRPr b="1" sz="1600"/>
                    </a:p>
                  </a:txBody>
                  <a:tcPr marT="39700" marB="39700" marR="79400" marL="794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Abernathy and Sons Pharmaceutical Limited</a:t>
                      </a:r>
                      <a:endParaRPr/>
                    </a:p>
                  </a:txBody>
                  <a:tcPr marT="39700" marB="39700" marR="79400" marL="794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390</a:t>
                      </a:r>
                      <a:endParaRPr/>
                    </a:p>
                  </a:txBody>
                  <a:tcPr marT="39700" marB="39700" marR="79400" marL="794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$18.860.508</a:t>
                      </a:r>
                      <a:endParaRPr sz="1600"/>
                    </a:p>
                  </a:txBody>
                  <a:tcPr marT="39700" marB="39700" marR="79400" marL="794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0</a:t>
                      </a:r>
                      <a:endParaRPr/>
                    </a:p>
                  </a:txBody>
                  <a:tcPr marT="39700" marB="39700" marR="79400" marL="79400" anchor="ctr"/>
                </a:tc>
              </a:tr>
            </a:tbl>
          </a:graphicData>
        </a:graphic>
      </p:graphicFrame>
      <p:sp>
        <p:nvSpPr>
          <p:cNvPr id="392" name="Google Shape;392;p12"/>
          <p:cNvSpPr txBox="1"/>
          <p:nvPr/>
        </p:nvSpPr>
        <p:spPr>
          <a:xfrm>
            <a:off x="449203" y="3771900"/>
            <a:ext cx="7151283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0C4E50"/>
                </a:solidFill>
                <a:latin typeface="Corben"/>
                <a:ea typeface="Corben"/>
                <a:cs typeface="Corben"/>
                <a:sym typeface="Corben"/>
              </a:rPr>
              <a:t>Exp table :</a:t>
            </a:r>
            <a:endParaRPr b="0" i="0" sz="2500" u="none" cap="none" strike="noStrike">
              <a:solidFill>
                <a:srgbClr val="0C4E50"/>
              </a:solidFill>
              <a:latin typeface="Corben"/>
              <a:ea typeface="Corben"/>
              <a:cs typeface="Corben"/>
              <a:sym typeface="Corben"/>
            </a:endParaRPr>
          </a:p>
        </p:txBody>
      </p:sp>
      <p:sp>
        <p:nvSpPr>
          <p:cNvPr id="393" name="Google Shape;393;p12"/>
          <p:cNvSpPr txBox="1"/>
          <p:nvPr/>
        </p:nvSpPr>
        <p:spPr>
          <a:xfrm>
            <a:off x="8839200" y="948779"/>
            <a:ext cx="7151283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0C4E50"/>
                </a:solidFill>
                <a:latin typeface="Corben"/>
                <a:ea typeface="Corben"/>
                <a:cs typeface="Corben"/>
                <a:sym typeface="Corben"/>
              </a:rPr>
              <a:t>Scatter plot :</a:t>
            </a:r>
            <a:endParaRPr b="0" i="0" sz="2500" u="none" cap="none" strike="noStrike">
              <a:solidFill>
                <a:srgbClr val="0C4E50"/>
              </a:solidFill>
              <a:latin typeface="Corben"/>
              <a:ea typeface="Corben"/>
              <a:cs typeface="Corben"/>
              <a:sym typeface="Corben"/>
            </a:endParaRPr>
          </a:p>
        </p:txBody>
      </p:sp>
      <p:sp>
        <p:nvSpPr>
          <p:cNvPr id="394" name="Google Shape;394;p12"/>
          <p:cNvSpPr/>
          <p:nvPr/>
        </p:nvSpPr>
        <p:spPr>
          <a:xfrm>
            <a:off x="8839200" y="7886700"/>
            <a:ext cx="77533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One point (</a:t>
            </a:r>
            <a:r>
              <a:rPr b="1" i="0" lang="en-US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dot</a:t>
            </a:r>
            <a:r>
              <a:rPr b="0" i="0" lang="en-US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) on the graph </a:t>
            </a:r>
            <a:r>
              <a:rPr b="1" i="0" lang="en-US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represents one customer</a:t>
            </a:r>
            <a:r>
              <a:rPr b="0" i="0" lang="en-US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5" name="Google Shape;395;p12"/>
          <p:cNvSpPr/>
          <p:nvPr/>
        </p:nvSpPr>
        <p:spPr>
          <a:xfrm>
            <a:off x="8839200" y="8297890"/>
            <a:ext cx="8454513" cy="13388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So, if there is a </a:t>
            </a:r>
            <a:r>
              <a:rPr b="1" lang="en-U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dot on the top right</a:t>
            </a:r>
            <a:r>
              <a:rPr lang="en-U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it means that the customer buys frequently (</a:t>
            </a:r>
            <a:r>
              <a:rPr b="1" lang="en-U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high frequency</a:t>
            </a:r>
            <a:r>
              <a:rPr lang="en-U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) and with a large transaction value (</a:t>
            </a:r>
            <a:r>
              <a:rPr b="1" lang="en-U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high monetary</a:t>
            </a:r>
            <a:r>
              <a:rPr lang="en-U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).</a:t>
            </a:r>
            <a:endParaRPr/>
          </a:p>
        </p:txBody>
      </p:sp>
      <p:sp>
        <p:nvSpPr>
          <p:cNvPr id="396" name="Google Shape;396;p12"/>
          <p:cNvSpPr/>
          <p:nvPr/>
        </p:nvSpPr>
        <p:spPr>
          <a:xfrm>
            <a:off x="449203" y="2823984"/>
            <a:ext cx="712406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From the previous elbow plot analysis, </a:t>
            </a:r>
            <a:r>
              <a:rPr b="1" lang="en-U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3 clusters</a:t>
            </a:r>
            <a:r>
              <a:rPr lang="en-U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were obtained, 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namely clusters 0, 1 and 2.</a:t>
            </a:r>
            <a:endParaRPr/>
          </a:p>
        </p:txBody>
      </p:sp>
      <p:sp>
        <p:nvSpPr>
          <p:cNvPr id="397" name="Google Shape;397;p12"/>
          <p:cNvSpPr/>
          <p:nvPr/>
        </p:nvSpPr>
        <p:spPr>
          <a:xfrm>
            <a:off x="6172200" y="4914900"/>
            <a:ext cx="609600" cy="25908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8" name="Google Shape;398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32864" y="1485900"/>
            <a:ext cx="8183536" cy="6277570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12"/>
          <p:cNvSpPr/>
          <p:nvPr/>
        </p:nvSpPr>
        <p:spPr>
          <a:xfrm>
            <a:off x="14478000" y="1804839"/>
            <a:ext cx="457200" cy="381000"/>
          </a:xfrm>
          <a:prstGeom prst="flowChartConnector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5" name="Google Shape;405;p13"/>
          <p:cNvGrpSpPr/>
          <p:nvPr/>
        </p:nvGrpSpPr>
        <p:grpSpPr>
          <a:xfrm>
            <a:off x="7924800" y="-106561"/>
            <a:ext cx="10363200" cy="10431661"/>
            <a:chOff x="0" y="-38100"/>
            <a:chExt cx="2408296" cy="2747433"/>
          </a:xfrm>
        </p:grpSpPr>
        <p:sp>
          <p:nvSpPr>
            <p:cNvPr id="406" name="Google Shape;406;p13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7E9EB"/>
            </a:solidFill>
            <a:ln>
              <a:noFill/>
            </a:ln>
          </p:spPr>
        </p:sp>
        <p:sp>
          <p:nvSpPr>
            <p:cNvPr id="407" name="Google Shape;407;p13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8" name="Google Shape;408;p13"/>
          <p:cNvGrpSpPr/>
          <p:nvPr/>
        </p:nvGrpSpPr>
        <p:grpSpPr>
          <a:xfrm>
            <a:off x="0" y="-112276"/>
            <a:ext cx="1028700" cy="10399276"/>
            <a:chOff x="0" y="-38100"/>
            <a:chExt cx="270933" cy="2738904"/>
          </a:xfrm>
        </p:grpSpPr>
        <p:sp>
          <p:nvSpPr>
            <p:cNvPr id="409" name="Google Shape;409;p13"/>
            <p:cNvSpPr/>
            <p:nvPr/>
          </p:nvSpPr>
          <p:spPr>
            <a:xfrm>
              <a:off x="0" y="0"/>
              <a:ext cx="270933" cy="2700804"/>
            </a:xfrm>
            <a:custGeom>
              <a:rect b="b" l="l" r="r" t="t"/>
              <a:pathLst>
                <a:path extrusionOk="0" h="2700804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0804"/>
                  </a:lnTo>
                  <a:lnTo>
                    <a:pt x="0" y="2700804"/>
                  </a:lnTo>
                  <a:close/>
                </a:path>
              </a:pathLst>
            </a:custGeom>
            <a:solidFill>
              <a:srgbClr val="D7E9EB"/>
            </a:solidFill>
            <a:ln>
              <a:noFill/>
            </a:ln>
          </p:spPr>
        </p:sp>
        <p:sp>
          <p:nvSpPr>
            <p:cNvPr id="410" name="Google Shape;410;p13"/>
            <p:cNvSpPr txBox="1"/>
            <p:nvPr/>
          </p:nvSpPr>
          <p:spPr>
            <a:xfrm>
              <a:off x="0" y="-38100"/>
              <a:ext cx="270933" cy="27389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1" name="Google Shape;411;p13"/>
          <p:cNvSpPr txBox="1"/>
          <p:nvPr/>
        </p:nvSpPr>
        <p:spPr>
          <a:xfrm>
            <a:off x="1198496" y="-419100"/>
            <a:ext cx="8555104" cy="1140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290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4B4545"/>
                </a:solidFill>
                <a:latin typeface="Corben"/>
                <a:ea typeface="Corben"/>
                <a:cs typeface="Corben"/>
                <a:sym typeface="Corben"/>
              </a:rPr>
              <a:t>Customer Segmentation </a:t>
            </a:r>
            <a:endParaRPr sz="4400">
              <a:solidFill>
                <a:srgbClr val="4B4545"/>
              </a:solidFill>
              <a:latin typeface="Corben"/>
              <a:ea typeface="Corben"/>
              <a:cs typeface="Corben"/>
              <a:sym typeface="Corben"/>
            </a:endParaRPr>
          </a:p>
        </p:txBody>
      </p:sp>
      <p:grpSp>
        <p:nvGrpSpPr>
          <p:cNvPr id="412" name="Google Shape;412;p13"/>
          <p:cNvGrpSpPr/>
          <p:nvPr/>
        </p:nvGrpSpPr>
        <p:grpSpPr>
          <a:xfrm>
            <a:off x="1216660" y="-254786"/>
            <a:ext cx="10213340" cy="4560086"/>
            <a:chOff x="-99842" y="-38100"/>
            <a:chExt cx="1977134" cy="1705555"/>
          </a:xfrm>
        </p:grpSpPr>
        <p:sp>
          <p:nvSpPr>
            <p:cNvPr id="413" name="Google Shape;413;p13"/>
            <p:cNvSpPr/>
            <p:nvPr/>
          </p:nvSpPr>
          <p:spPr>
            <a:xfrm>
              <a:off x="-99842" y="418343"/>
              <a:ext cx="1254332" cy="1025566"/>
            </a:xfrm>
            <a:custGeom>
              <a:rect b="b" l="l" r="r" t="t"/>
              <a:pathLst>
                <a:path extrusionOk="0" h="1667455" w="1877292">
                  <a:moveTo>
                    <a:pt x="55394" y="0"/>
                  </a:moveTo>
                  <a:lnTo>
                    <a:pt x="1821898" y="0"/>
                  </a:lnTo>
                  <a:cubicBezTo>
                    <a:pt x="1852491" y="0"/>
                    <a:pt x="1877292" y="24801"/>
                    <a:pt x="1877292" y="55394"/>
                  </a:cubicBezTo>
                  <a:lnTo>
                    <a:pt x="1877292" y="1612061"/>
                  </a:lnTo>
                  <a:cubicBezTo>
                    <a:pt x="1877292" y="1626752"/>
                    <a:pt x="1871456" y="1640842"/>
                    <a:pt x="1861068" y="1651230"/>
                  </a:cubicBezTo>
                  <a:cubicBezTo>
                    <a:pt x="1850679" y="1661619"/>
                    <a:pt x="1836590" y="1667455"/>
                    <a:pt x="1821898" y="1667455"/>
                  </a:cubicBezTo>
                  <a:lnTo>
                    <a:pt x="55394" y="1667455"/>
                  </a:lnTo>
                  <a:cubicBezTo>
                    <a:pt x="24801" y="1667455"/>
                    <a:pt x="0" y="1642654"/>
                    <a:pt x="0" y="1612061"/>
                  </a:cubicBezTo>
                  <a:lnTo>
                    <a:pt x="0" y="55394"/>
                  </a:lnTo>
                  <a:cubicBezTo>
                    <a:pt x="0" y="40702"/>
                    <a:pt x="5836" y="26613"/>
                    <a:pt x="16224" y="16224"/>
                  </a:cubicBezTo>
                  <a:cubicBezTo>
                    <a:pt x="26613" y="5836"/>
                    <a:pt x="40702" y="0"/>
                    <a:pt x="55394" y="0"/>
                  </a:cubicBezTo>
                  <a:close/>
                </a:path>
              </a:pathLst>
            </a:custGeom>
            <a:solidFill>
              <a:srgbClr val="41A3A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13"/>
            <p:cNvSpPr txBox="1"/>
            <p:nvPr/>
          </p:nvSpPr>
          <p:spPr>
            <a:xfrm>
              <a:off x="0" y="-38100"/>
              <a:ext cx="1877292" cy="17055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415" name="Google Shape;415;p13"/>
          <p:cNvGraphicFramePr/>
          <p:nvPr/>
        </p:nvGraphicFramePr>
        <p:xfrm>
          <a:off x="1312796" y="1028700"/>
          <a:ext cx="6172200" cy="2514600"/>
        </p:xfrm>
        <a:graphic>
          <a:graphicData uri="http://schemas.openxmlformats.org/drawingml/2006/chart">
            <c:chart r:id="rId3"/>
          </a:graphicData>
        </a:graphic>
      </p:graphicFrame>
      <p:grpSp>
        <p:nvGrpSpPr>
          <p:cNvPr id="416" name="Google Shape;416;p13"/>
          <p:cNvGrpSpPr/>
          <p:nvPr/>
        </p:nvGrpSpPr>
        <p:grpSpPr>
          <a:xfrm>
            <a:off x="1216660" y="2628900"/>
            <a:ext cx="10213340" cy="4560086"/>
            <a:chOff x="-99842" y="-38100"/>
            <a:chExt cx="1977134" cy="1705555"/>
          </a:xfrm>
        </p:grpSpPr>
        <p:sp>
          <p:nvSpPr>
            <p:cNvPr id="417" name="Google Shape;417;p13"/>
            <p:cNvSpPr/>
            <p:nvPr/>
          </p:nvSpPr>
          <p:spPr>
            <a:xfrm>
              <a:off x="-99842" y="418343"/>
              <a:ext cx="1254332" cy="1025566"/>
            </a:xfrm>
            <a:custGeom>
              <a:rect b="b" l="l" r="r" t="t"/>
              <a:pathLst>
                <a:path extrusionOk="0" h="1667455" w="1877292">
                  <a:moveTo>
                    <a:pt x="55394" y="0"/>
                  </a:moveTo>
                  <a:lnTo>
                    <a:pt x="1821898" y="0"/>
                  </a:lnTo>
                  <a:cubicBezTo>
                    <a:pt x="1852491" y="0"/>
                    <a:pt x="1877292" y="24801"/>
                    <a:pt x="1877292" y="55394"/>
                  </a:cubicBezTo>
                  <a:lnTo>
                    <a:pt x="1877292" y="1612061"/>
                  </a:lnTo>
                  <a:cubicBezTo>
                    <a:pt x="1877292" y="1626752"/>
                    <a:pt x="1871456" y="1640842"/>
                    <a:pt x="1861068" y="1651230"/>
                  </a:cubicBezTo>
                  <a:cubicBezTo>
                    <a:pt x="1850679" y="1661619"/>
                    <a:pt x="1836590" y="1667455"/>
                    <a:pt x="1821898" y="1667455"/>
                  </a:cubicBezTo>
                  <a:lnTo>
                    <a:pt x="55394" y="1667455"/>
                  </a:lnTo>
                  <a:cubicBezTo>
                    <a:pt x="24801" y="1667455"/>
                    <a:pt x="0" y="1642654"/>
                    <a:pt x="0" y="1612061"/>
                  </a:cubicBezTo>
                  <a:lnTo>
                    <a:pt x="0" y="55394"/>
                  </a:lnTo>
                  <a:cubicBezTo>
                    <a:pt x="0" y="40702"/>
                    <a:pt x="5836" y="26613"/>
                    <a:pt x="16224" y="16224"/>
                  </a:cubicBezTo>
                  <a:cubicBezTo>
                    <a:pt x="26613" y="5836"/>
                    <a:pt x="40702" y="0"/>
                    <a:pt x="55394" y="0"/>
                  </a:cubicBezTo>
                  <a:close/>
                </a:path>
              </a:pathLst>
            </a:custGeom>
            <a:solidFill>
              <a:srgbClr val="41A3A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13"/>
            <p:cNvSpPr txBox="1"/>
            <p:nvPr/>
          </p:nvSpPr>
          <p:spPr>
            <a:xfrm>
              <a:off x="0" y="-38100"/>
              <a:ext cx="1877292" cy="17055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419" name="Google Shape;419;p13"/>
          <p:cNvGraphicFramePr/>
          <p:nvPr/>
        </p:nvGraphicFramePr>
        <p:xfrm>
          <a:off x="1293746" y="3962988"/>
          <a:ext cx="6172200" cy="2514600"/>
        </p:xfrm>
        <a:graphic>
          <a:graphicData uri="http://schemas.openxmlformats.org/drawingml/2006/chart">
            <c:chart r:id="rId4"/>
          </a:graphicData>
        </a:graphic>
      </p:graphicFrame>
      <p:grpSp>
        <p:nvGrpSpPr>
          <p:cNvPr id="420" name="Google Shape;420;p13"/>
          <p:cNvGrpSpPr/>
          <p:nvPr/>
        </p:nvGrpSpPr>
        <p:grpSpPr>
          <a:xfrm>
            <a:off x="1292860" y="5600700"/>
            <a:ext cx="10213340" cy="4560086"/>
            <a:chOff x="-99842" y="-38100"/>
            <a:chExt cx="1977134" cy="1705555"/>
          </a:xfrm>
        </p:grpSpPr>
        <p:sp>
          <p:nvSpPr>
            <p:cNvPr id="421" name="Google Shape;421;p13"/>
            <p:cNvSpPr/>
            <p:nvPr/>
          </p:nvSpPr>
          <p:spPr>
            <a:xfrm>
              <a:off x="-99842" y="418343"/>
              <a:ext cx="1254332" cy="1025566"/>
            </a:xfrm>
            <a:custGeom>
              <a:rect b="b" l="l" r="r" t="t"/>
              <a:pathLst>
                <a:path extrusionOk="0" h="1667455" w="1877292">
                  <a:moveTo>
                    <a:pt x="55394" y="0"/>
                  </a:moveTo>
                  <a:lnTo>
                    <a:pt x="1821898" y="0"/>
                  </a:lnTo>
                  <a:cubicBezTo>
                    <a:pt x="1852491" y="0"/>
                    <a:pt x="1877292" y="24801"/>
                    <a:pt x="1877292" y="55394"/>
                  </a:cubicBezTo>
                  <a:lnTo>
                    <a:pt x="1877292" y="1612061"/>
                  </a:lnTo>
                  <a:cubicBezTo>
                    <a:pt x="1877292" y="1626752"/>
                    <a:pt x="1871456" y="1640842"/>
                    <a:pt x="1861068" y="1651230"/>
                  </a:cubicBezTo>
                  <a:cubicBezTo>
                    <a:pt x="1850679" y="1661619"/>
                    <a:pt x="1836590" y="1667455"/>
                    <a:pt x="1821898" y="1667455"/>
                  </a:cubicBezTo>
                  <a:lnTo>
                    <a:pt x="55394" y="1667455"/>
                  </a:lnTo>
                  <a:cubicBezTo>
                    <a:pt x="24801" y="1667455"/>
                    <a:pt x="0" y="1642654"/>
                    <a:pt x="0" y="1612061"/>
                  </a:cubicBezTo>
                  <a:lnTo>
                    <a:pt x="0" y="55394"/>
                  </a:lnTo>
                  <a:cubicBezTo>
                    <a:pt x="0" y="40702"/>
                    <a:pt x="5836" y="26613"/>
                    <a:pt x="16224" y="16224"/>
                  </a:cubicBezTo>
                  <a:cubicBezTo>
                    <a:pt x="26613" y="5836"/>
                    <a:pt x="40702" y="0"/>
                    <a:pt x="55394" y="0"/>
                  </a:cubicBezTo>
                  <a:close/>
                </a:path>
              </a:pathLst>
            </a:custGeom>
            <a:solidFill>
              <a:srgbClr val="41A3A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13"/>
            <p:cNvSpPr txBox="1"/>
            <p:nvPr/>
          </p:nvSpPr>
          <p:spPr>
            <a:xfrm>
              <a:off x="0" y="-38100"/>
              <a:ext cx="1877292" cy="17055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423" name="Google Shape;423;p13"/>
          <p:cNvGraphicFramePr/>
          <p:nvPr/>
        </p:nvGraphicFramePr>
        <p:xfrm>
          <a:off x="1437708" y="6920725"/>
          <a:ext cx="6172200" cy="2514600"/>
        </p:xfrm>
        <a:graphic>
          <a:graphicData uri="http://schemas.openxmlformats.org/drawingml/2006/chart">
            <c:chart r:id="rId5"/>
          </a:graphicData>
        </a:graphic>
      </p:graphicFrame>
      <p:grpSp>
        <p:nvGrpSpPr>
          <p:cNvPr id="424" name="Google Shape;424;p13"/>
          <p:cNvGrpSpPr/>
          <p:nvPr/>
        </p:nvGrpSpPr>
        <p:grpSpPr>
          <a:xfrm>
            <a:off x="8077201" y="-899808"/>
            <a:ext cx="11582400" cy="4749085"/>
            <a:chOff x="-139650" y="-38100"/>
            <a:chExt cx="2016942" cy="1705555"/>
          </a:xfrm>
        </p:grpSpPr>
        <p:sp>
          <p:nvSpPr>
            <p:cNvPr id="425" name="Google Shape;425;p13"/>
            <p:cNvSpPr/>
            <p:nvPr/>
          </p:nvSpPr>
          <p:spPr>
            <a:xfrm>
              <a:off x="-139650" y="352368"/>
              <a:ext cx="1751555" cy="1169732"/>
            </a:xfrm>
            <a:custGeom>
              <a:rect b="b" l="l" r="r" t="t"/>
              <a:pathLst>
                <a:path extrusionOk="0" h="1667455" w="1877292">
                  <a:moveTo>
                    <a:pt x="55394" y="0"/>
                  </a:moveTo>
                  <a:lnTo>
                    <a:pt x="1821898" y="0"/>
                  </a:lnTo>
                  <a:cubicBezTo>
                    <a:pt x="1852491" y="0"/>
                    <a:pt x="1877292" y="24801"/>
                    <a:pt x="1877292" y="55394"/>
                  </a:cubicBezTo>
                  <a:lnTo>
                    <a:pt x="1877292" y="1612061"/>
                  </a:lnTo>
                  <a:cubicBezTo>
                    <a:pt x="1877292" y="1626752"/>
                    <a:pt x="1871456" y="1640842"/>
                    <a:pt x="1861068" y="1651230"/>
                  </a:cubicBezTo>
                  <a:cubicBezTo>
                    <a:pt x="1850679" y="1661619"/>
                    <a:pt x="1836590" y="1667455"/>
                    <a:pt x="1821898" y="1667455"/>
                  </a:cubicBezTo>
                  <a:lnTo>
                    <a:pt x="55394" y="1667455"/>
                  </a:lnTo>
                  <a:cubicBezTo>
                    <a:pt x="24801" y="1667455"/>
                    <a:pt x="0" y="1642654"/>
                    <a:pt x="0" y="1612061"/>
                  </a:cubicBezTo>
                  <a:lnTo>
                    <a:pt x="0" y="55394"/>
                  </a:lnTo>
                  <a:cubicBezTo>
                    <a:pt x="0" y="40702"/>
                    <a:pt x="5836" y="26613"/>
                    <a:pt x="16224" y="16224"/>
                  </a:cubicBezTo>
                  <a:cubicBezTo>
                    <a:pt x="26613" y="5836"/>
                    <a:pt x="40702" y="0"/>
                    <a:pt x="55394" y="0"/>
                  </a:cubicBezTo>
                  <a:close/>
                </a:path>
              </a:pathLst>
            </a:custGeom>
            <a:solidFill>
              <a:srgbClr val="41A3A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13"/>
            <p:cNvSpPr txBox="1"/>
            <p:nvPr/>
          </p:nvSpPr>
          <p:spPr>
            <a:xfrm>
              <a:off x="0" y="-38100"/>
              <a:ext cx="1877292" cy="17055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7" name="Google Shape;427;p13"/>
          <p:cNvGrpSpPr/>
          <p:nvPr/>
        </p:nvGrpSpPr>
        <p:grpSpPr>
          <a:xfrm>
            <a:off x="8354425" y="1257300"/>
            <a:ext cx="865775" cy="957879"/>
            <a:chOff x="870939" y="1975821"/>
            <a:chExt cx="332375" cy="350071"/>
          </a:xfrm>
        </p:grpSpPr>
        <p:sp>
          <p:nvSpPr>
            <p:cNvPr id="428" name="Google Shape;428;p13"/>
            <p:cNvSpPr/>
            <p:nvPr/>
          </p:nvSpPr>
          <p:spPr>
            <a:xfrm>
              <a:off x="870939" y="1975821"/>
              <a:ext cx="332375" cy="350071"/>
            </a:xfrm>
            <a:custGeom>
              <a:rect b="b" l="l" r="r" t="t"/>
              <a:pathLst>
                <a:path extrusionOk="0" h="10999" w="10443">
                  <a:moveTo>
                    <a:pt x="8049" y="334"/>
                  </a:moveTo>
                  <a:lnTo>
                    <a:pt x="5728" y="3573"/>
                  </a:lnTo>
                  <a:lnTo>
                    <a:pt x="5406" y="3120"/>
                  </a:lnTo>
                  <a:lnTo>
                    <a:pt x="7395" y="334"/>
                  </a:lnTo>
                  <a:close/>
                  <a:moveTo>
                    <a:pt x="9109" y="334"/>
                  </a:moveTo>
                  <a:lnTo>
                    <a:pt x="6263" y="4311"/>
                  </a:lnTo>
                  <a:lnTo>
                    <a:pt x="5942" y="3847"/>
                  </a:lnTo>
                  <a:lnTo>
                    <a:pt x="8454" y="334"/>
                  </a:lnTo>
                  <a:close/>
                  <a:moveTo>
                    <a:pt x="3025" y="334"/>
                  </a:moveTo>
                  <a:lnTo>
                    <a:pt x="6025" y="4525"/>
                  </a:lnTo>
                  <a:cubicBezTo>
                    <a:pt x="5998" y="4533"/>
                    <a:pt x="5970" y="4537"/>
                    <a:pt x="5942" y="4537"/>
                  </a:cubicBezTo>
                  <a:cubicBezTo>
                    <a:pt x="5849" y="4537"/>
                    <a:pt x="5759" y="4494"/>
                    <a:pt x="5704" y="4430"/>
                  </a:cubicBezTo>
                  <a:cubicBezTo>
                    <a:pt x="5561" y="4287"/>
                    <a:pt x="5382" y="4228"/>
                    <a:pt x="5228" y="4228"/>
                  </a:cubicBezTo>
                  <a:lnTo>
                    <a:pt x="2430" y="334"/>
                  </a:lnTo>
                  <a:close/>
                  <a:moveTo>
                    <a:pt x="2025" y="334"/>
                  </a:moveTo>
                  <a:lnTo>
                    <a:pt x="4882" y="4323"/>
                  </a:lnTo>
                  <a:cubicBezTo>
                    <a:pt x="4823" y="4347"/>
                    <a:pt x="4775" y="4394"/>
                    <a:pt x="4728" y="4442"/>
                  </a:cubicBezTo>
                  <a:cubicBezTo>
                    <a:pt x="4667" y="4503"/>
                    <a:pt x="4569" y="4544"/>
                    <a:pt x="4474" y="4544"/>
                  </a:cubicBezTo>
                  <a:cubicBezTo>
                    <a:pt x="4438" y="4544"/>
                    <a:pt x="4403" y="4538"/>
                    <a:pt x="4370" y="4525"/>
                  </a:cubicBezTo>
                  <a:lnTo>
                    <a:pt x="1370" y="334"/>
                  </a:lnTo>
                  <a:close/>
                  <a:moveTo>
                    <a:pt x="965" y="334"/>
                  </a:moveTo>
                  <a:lnTo>
                    <a:pt x="3942" y="4490"/>
                  </a:lnTo>
                  <a:cubicBezTo>
                    <a:pt x="3775" y="4525"/>
                    <a:pt x="3632" y="4621"/>
                    <a:pt x="3525" y="4763"/>
                  </a:cubicBezTo>
                  <a:lnTo>
                    <a:pt x="358" y="334"/>
                  </a:lnTo>
                  <a:close/>
                  <a:moveTo>
                    <a:pt x="10062" y="334"/>
                  </a:moveTo>
                  <a:lnTo>
                    <a:pt x="6894" y="4763"/>
                  </a:lnTo>
                  <a:cubicBezTo>
                    <a:pt x="6799" y="4632"/>
                    <a:pt x="6668" y="4549"/>
                    <a:pt x="6513" y="4501"/>
                  </a:cubicBezTo>
                  <a:lnTo>
                    <a:pt x="9514" y="334"/>
                  </a:lnTo>
                  <a:close/>
                  <a:moveTo>
                    <a:pt x="5192" y="4582"/>
                  </a:moveTo>
                  <a:cubicBezTo>
                    <a:pt x="5284" y="4582"/>
                    <a:pt x="5376" y="4615"/>
                    <a:pt x="5442" y="4680"/>
                  </a:cubicBezTo>
                  <a:cubicBezTo>
                    <a:pt x="5577" y="4807"/>
                    <a:pt x="5744" y="4876"/>
                    <a:pt x="5917" y="4876"/>
                  </a:cubicBezTo>
                  <a:cubicBezTo>
                    <a:pt x="6004" y="4876"/>
                    <a:pt x="6093" y="4859"/>
                    <a:pt x="6180" y="4823"/>
                  </a:cubicBezTo>
                  <a:cubicBezTo>
                    <a:pt x="6216" y="4808"/>
                    <a:pt x="6254" y="4801"/>
                    <a:pt x="6293" y="4801"/>
                  </a:cubicBezTo>
                  <a:cubicBezTo>
                    <a:pt x="6436" y="4801"/>
                    <a:pt x="6586" y="4897"/>
                    <a:pt x="6633" y="5037"/>
                  </a:cubicBezTo>
                  <a:cubicBezTo>
                    <a:pt x="6633" y="5049"/>
                    <a:pt x="6644" y="5061"/>
                    <a:pt x="6644" y="5061"/>
                  </a:cubicBezTo>
                  <a:cubicBezTo>
                    <a:pt x="6728" y="5263"/>
                    <a:pt x="6859" y="5335"/>
                    <a:pt x="6859" y="5335"/>
                  </a:cubicBezTo>
                  <a:cubicBezTo>
                    <a:pt x="6990" y="5406"/>
                    <a:pt x="7133" y="5454"/>
                    <a:pt x="7264" y="5466"/>
                  </a:cubicBezTo>
                  <a:cubicBezTo>
                    <a:pt x="7454" y="5478"/>
                    <a:pt x="7621" y="5644"/>
                    <a:pt x="7609" y="5859"/>
                  </a:cubicBezTo>
                  <a:cubicBezTo>
                    <a:pt x="7585" y="6121"/>
                    <a:pt x="7740" y="6371"/>
                    <a:pt x="7978" y="6490"/>
                  </a:cubicBezTo>
                  <a:cubicBezTo>
                    <a:pt x="8157" y="6585"/>
                    <a:pt x="8228" y="6811"/>
                    <a:pt x="8145" y="6990"/>
                  </a:cubicBezTo>
                  <a:cubicBezTo>
                    <a:pt x="8026" y="7228"/>
                    <a:pt x="8049" y="7526"/>
                    <a:pt x="8216" y="7728"/>
                  </a:cubicBezTo>
                  <a:cubicBezTo>
                    <a:pt x="8335" y="7883"/>
                    <a:pt x="8323" y="8121"/>
                    <a:pt x="8157" y="8240"/>
                  </a:cubicBezTo>
                  <a:cubicBezTo>
                    <a:pt x="7942" y="8395"/>
                    <a:pt x="7859" y="8681"/>
                    <a:pt x="7930" y="8931"/>
                  </a:cubicBezTo>
                  <a:cubicBezTo>
                    <a:pt x="7978" y="9133"/>
                    <a:pt x="7871" y="9323"/>
                    <a:pt x="7680" y="9383"/>
                  </a:cubicBezTo>
                  <a:cubicBezTo>
                    <a:pt x="7430" y="9454"/>
                    <a:pt x="7228" y="9669"/>
                    <a:pt x="7192" y="9931"/>
                  </a:cubicBezTo>
                  <a:cubicBezTo>
                    <a:pt x="7160" y="10101"/>
                    <a:pt x="7004" y="10234"/>
                    <a:pt x="6835" y="10234"/>
                  </a:cubicBezTo>
                  <a:cubicBezTo>
                    <a:pt x="6815" y="10234"/>
                    <a:pt x="6795" y="10232"/>
                    <a:pt x="6775" y="10228"/>
                  </a:cubicBezTo>
                  <a:cubicBezTo>
                    <a:pt x="6735" y="10221"/>
                    <a:pt x="6695" y="10218"/>
                    <a:pt x="6656" y="10218"/>
                  </a:cubicBezTo>
                  <a:cubicBezTo>
                    <a:pt x="6427" y="10218"/>
                    <a:pt x="6217" y="10333"/>
                    <a:pt x="6085" y="10526"/>
                  </a:cubicBezTo>
                  <a:cubicBezTo>
                    <a:pt x="6016" y="10633"/>
                    <a:pt x="5904" y="10690"/>
                    <a:pt x="5786" y="10690"/>
                  </a:cubicBezTo>
                  <a:cubicBezTo>
                    <a:pt x="5718" y="10690"/>
                    <a:pt x="5649" y="10672"/>
                    <a:pt x="5585" y="10633"/>
                  </a:cubicBezTo>
                  <a:cubicBezTo>
                    <a:pt x="5454" y="10562"/>
                    <a:pt x="5347" y="10526"/>
                    <a:pt x="5204" y="10526"/>
                  </a:cubicBezTo>
                  <a:cubicBezTo>
                    <a:pt x="5073" y="10526"/>
                    <a:pt x="4954" y="10562"/>
                    <a:pt x="4835" y="10633"/>
                  </a:cubicBezTo>
                  <a:cubicBezTo>
                    <a:pt x="4774" y="10672"/>
                    <a:pt x="4708" y="10690"/>
                    <a:pt x="4642" y="10690"/>
                  </a:cubicBezTo>
                  <a:cubicBezTo>
                    <a:pt x="4524" y="10690"/>
                    <a:pt x="4406" y="10633"/>
                    <a:pt x="4323" y="10526"/>
                  </a:cubicBezTo>
                  <a:cubicBezTo>
                    <a:pt x="4201" y="10333"/>
                    <a:pt x="3983" y="10218"/>
                    <a:pt x="3760" y="10218"/>
                  </a:cubicBezTo>
                  <a:cubicBezTo>
                    <a:pt x="3721" y="10218"/>
                    <a:pt x="3682" y="10221"/>
                    <a:pt x="3644" y="10228"/>
                  </a:cubicBezTo>
                  <a:cubicBezTo>
                    <a:pt x="3624" y="10232"/>
                    <a:pt x="3604" y="10234"/>
                    <a:pt x="3585" y="10234"/>
                  </a:cubicBezTo>
                  <a:cubicBezTo>
                    <a:pt x="3416" y="10234"/>
                    <a:pt x="3259" y="10101"/>
                    <a:pt x="3227" y="9931"/>
                  </a:cubicBezTo>
                  <a:cubicBezTo>
                    <a:pt x="3180" y="9669"/>
                    <a:pt x="2989" y="9454"/>
                    <a:pt x="2739" y="9383"/>
                  </a:cubicBezTo>
                  <a:cubicBezTo>
                    <a:pt x="2537" y="9323"/>
                    <a:pt x="2418" y="9133"/>
                    <a:pt x="2477" y="8931"/>
                  </a:cubicBezTo>
                  <a:cubicBezTo>
                    <a:pt x="2561" y="8681"/>
                    <a:pt x="2465" y="8395"/>
                    <a:pt x="2263" y="8240"/>
                  </a:cubicBezTo>
                  <a:cubicBezTo>
                    <a:pt x="2108" y="8121"/>
                    <a:pt x="2084" y="7883"/>
                    <a:pt x="2203" y="7728"/>
                  </a:cubicBezTo>
                  <a:cubicBezTo>
                    <a:pt x="2358" y="7526"/>
                    <a:pt x="2394" y="7228"/>
                    <a:pt x="2275" y="6990"/>
                  </a:cubicBezTo>
                  <a:cubicBezTo>
                    <a:pt x="2180" y="6811"/>
                    <a:pt x="2263" y="6585"/>
                    <a:pt x="2442" y="6490"/>
                  </a:cubicBezTo>
                  <a:cubicBezTo>
                    <a:pt x="2680" y="6371"/>
                    <a:pt x="2823" y="6121"/>
                    <a:pt x="2811" y="5859"/>
                  </a:cubicBezTo>
                  <a:cubicBezTo>
                    <a:pt x="2799" y="5656"/>
                    <a:pt x="2953" y="5478"/>
                    <a:pt x="3156" y="5466"/>
                  </a:cubicBezTo>
                  <a:cubicBezTo>
                    <a:pt x="3358" y="5454"/>
                    <a:pt x="3549" y="5347"/>
                    <a:pt x="3668" y="5180"/>
                  </a:cubicBezTo>
                  <a:lnTo>
                    <a:pt x="3668" y="5168"/>
                  </a:lnTo>
                  <a:cubicBezTo>
                    <a:pt x="3704" y="5121"/>
                    <a:pt x="3727" y="5085"/>
                    <a:pt x="3751" y="5037"/>
                  </a:cubicBezTo>
                  <a:cubicBezTo>
                    <a:pt x="3807" y="4897"/>
                    <a:pt x="3945" y="4801"/>
                    <a:pt x="4087" y="4801"/>
                  </a:cubicBezTo>
                  <a:cubicBezTo>
                    <a:pt x="4126" y="4801"/>
                    <a:pt x="4165" y="4808"/>
                    <a:pt x="4204" y="4823"/>
                  </a:cubicBezTo>
                  <a:cubicBezTo>
                    <a:pt x="4287" y="4853"/>
                    <a:pt x="4372" y="4868"/>
                    <a:pt x="4456" y="4868"/>
                  </a:cubicBezTo>
                  <a:cubicBezTo>
                    <a:pt x="4633" y="4868"/>
                    <a:pt x="4804" y="4802"/>
                    <a:pt x="4942" y="4680"/>
                  </a:cubicBezTo>
                  <a:cubicBezTo>
                    <a:pt x="5007" y="4615"/>
                    <a:pt x="5100" y="4582"/>
                    <a:pt x="5192" y="4582"/>
                  </a:cubicBezTo>
                  <a:close/>
                  <a:moveTo>
                    <a:pt x="286" y="1"/>
                  </a:moveTo>
                  <a:cubicBezTo>
                    <a:pt x="179" y="1"/>
                    <a:pt x="84" y="60"/>
                    <a:pt x="48" y="156"/>
                  </a:cubicBezTo>
                  <a:cubicBezTo>
                    <a:pt x="1" y="239"/>
                    <a:pt x="1" y="346"/>
                    <a:pt x="60" y="441"/>
                  </a:cubicBezTo>
                  <a:lnTo>
                    <a:pt x="3358" y="5049"/>
                  </a:lnTo>
                  <a:cubicBezTo>
                    <a:pt x="3299" y="5097"/>
                    <a:pt x="3227" y="5121"/>
                    <a:pt x="3156" y="5121"/>
                  </a:cubicBezTo>
                  <a:cubicBezTo>
                    <a:pt x="2787" y="5144"/>
                    <a:pt x="2489" y="5466"/>
                    <a:pt x="2513" y="5835"/>
                  </a:cubicBezTo>
                  <a:cubicBezTo>
                    <a:pt x="2513" y="5990"/>
                    <a:pt x="2442" y="6121"/>
                    <a:pt x="2322" y="6180"/>
                  </a:cubicBezTo>
                  <a:cubicBezTo>
                    <a:pt x="1989" y="6359"/>
                    <a:pt x="1858" y="6764"/>
                    <a:pt x="2025" y="7109"/>
                  </a:cubicBezTo>
                  <a:cubicBezTo>
                    <a:pt x="2084" y="7240"/>
                    <a:pt x="2072" y="7383"/>
                    <a:pt x="1977" y="7490"/>
                  </a:cubicBezTo>
                  <a:cubicBezTo>
                    <a:pt x="1739" y="7788"/>
                    <a:pt x="1787" y="8216"/>
                    <a:pt x="2084" y="8454"/>
                  </a:cubicBezTo>
                  <a:cubicBezTo>
                    <a:pt x="2180" y="8550"/>
                    <a:pt x="2239" y="8692"/>
                    <a:pt x="2203" y="8835"/>
                  </a:cubicBezTo>
                  <a:cubicBezTo>
                    <a:pt x="2108" y="9193"/>
                    <a:pt x="2322" y="9574"/>
                    <a:pt x="2680" y="9669"/>
                  </a:cubicBezTo>
                  <a:cubicBezTo>
                    <a:pt x="2811" y="9704"/>
                    <a:pt x="2918" y="9812"/>
                    <a:pt x="2942" y="9966"/>
                  </a:cubicBezTo>
                  <a:cubicBezTo>
                    <a:pt x="2995" y="10299"/>
                    <a:pt x="3290" y="10535"/>
                    <a:pt x="3609" y="10535"/>
                  </a:cubicBezTo>
                  <a:cubicBezTo>
                    <a:pt x="3645" y="10535"/>
                    <a:pt x="3680" y="10532"/>
                    <a:pt x="3715" y="10526"/>
                  </a:cubicBezTo>
                  <a:cubicBezTo>
                    <a:pt x="3726" y="10525"/>
                    <a:pt x="3738" y="10525"/>
                    <a:pt x="3749" y="10525"/>
                  </a:cubicBezTo>
                  <a:cubicBezTo>
                    <a:pt x="3872" y="10525"/>
                    <a:pt x="4007" y="10584"/>
                    <a:pt x="4073" y="10693"/>
                  </a:cubicBezTo>
                  <a:cubicBezTo>
                    <a:pt x="4208" y="10889"/>
                    <a:pt x="4425" y="10999"/>
                    <a:pt x="4645" y="10999"/>
                  </a:cubicBezTo>
                  <a:cubicBezTo>
                    <a:pt x="4772" y="10999"/>
                    <a:pt x="4900" y="10962"/>
                    <a:pt x="5013" y="10883"/>
                  </a:cubicBezTo>
                  <a:cubicBezTo>
                    <a:pt x="5073" y="10847"/>
                    <a:pt x="5141" y="10830"/>
                    <a:pt x="5208" y="10830"/>
                  </a:cubicBezTo>
                  <a:cubicBezTo>
                    <a:pt x="5275" y="10830"/>
                    <a:pt x="5341" y="10847"/>
                    <a:pt x="5394" y="10883"/>
                  </a:cubicBezTo>
                  <a:cubicBezTo>
                    <a:pt x="5513" y="10955"/>
                    <a:pt x="5632" y="10990"/>
                    <a:pt x="5775" y="10990"/>
                  </a:cubicBezTo>
                  <a:cubicBezTo>
                    <a:pt x="5990" y="10990"/>
                    <a:pt x="6216" y="10883"/>
                    <a:pt x="6347" y="10681"/>
                  </a:cubicBezTo>
                  <a:cubicBezTo>
                    <a:pt x="6423" y="10572"/>
                    <a:pt x="6549" y="10513"/>
                    <a:pt x="6671" y="10513"/>
                  </a:cubicBezTo>
                  <a:cubicBezTo>
                    <a:pt x="6682" y="10513"/>
                    <a:pt x="6693" y="10513"/>
                    <a:pt x="6704" y="10514"/>
                  </a:cubicBezTo>
                  <a:cubicBezTo>
                    <a:pt x="6742" y="10520"/>
                    <a:pt x="6779" y="10523"/>
                    <a:pt x="6816" y="10523"/>
                  </a:cubicBezTo>
                  <a:cubicBezTo>
                    <a:pt x="7150" y="10523"/>
                    <a:pt x="7435" y="10286"/>
                    <a:pt x="7478" y="9943"/>
                  </a:cubicBezTo>
                  <a:cubicBezTo>
                    <a:pt x="7514" y="9812"/>
                    <a:pt x="7597" y="9693"/>
                    <a:pt x="7752" y="9645"/>
                  </a:cubicBezTo>
                  <a:cubicBezTo>
                    <a:pt x="8109" y="9550"/>
                    <a:pt x="8335" y="9169"/>
                    <a:pt x="8228" y="8812"/>
                  </a:cubicBezTo>
                  <a:cubicBezTo>
                    <a:pt x="8192" y="8681"/>
                    <a:pt x="8240" y="8538"/>
                    <a:pt x="8347" y="8442"/>
                  </a:cubicBezTo>
                  <a:cubicBezTo>
                    <a:pt x="8645" y="8204"/>
                    <a:pt x="8692" y="7776"/>
                    <a:pt x="8454" y="7478"/>
                  </a:cubicBezTo>
                  <a:cubicBezTo>
                    <a:pt x="8359" y="7371"/>
                    <a:pt x="8347" y="7204"/>
                    <a:pt x="8407" y="7085"/>
                  </a:cubicBezTo>
                  <a:cubicBezTo>
                    <a:pt x="8573" y="6764"/>
                    <a:pt x="8430" y="6347"/>
                    <a:pt x="8109" y="6168"/>
                  </a:cubicBezTo>
                  <a:cubicBezTo>
                    <a:pt x="7990" y="6109"/>
                    <a:pt x="7895" y="5978"/>
                    <a:pt x="7918" y="5823"/>
                  </a:cubicBezTo>
                  <a:cubicBezTo>
                    <a:pt x="7930" y="5454"/>
                    <a:pt x="7645" y="5121"/>
                    <a:pt x="7275" y="5109"/>
                  </a:cubicBezTo>
                  <a:cubicBezTo>
                    <a:pt x="7204" y="5109"/>
                    <a:pt x="7121" y="5085"/>
                    <a:pt x="7061" y="5037"/>
                  </a:cubicBezTo>
                  <a:lnTo>
                    <a:pt x="10371" y="418"/>
                  </a:lnTo>
                  <a:cubicBezTo>
                    <a:pt x="10431" y="358"/>
                    <a:pt x="10443" y="263"/>
                    <a:pt x="10407" y="156"/>
                  </a:cubicBezTo>
                  <a:cubicBezTo>
                    <a:pt x="10359" y="60"/>
                    <a:pt x="10264" y="1"/>
                    <a:pt x="10169" y="1"/>
                  </a:cubicBezTo>
                  <a:lnTo>
                    <a:pt x="7383" y="1"/>
                  </a:lnTo>
                  <a:cubicBezTo>
                    <a:pt x="7287" y="1"/>
                    <a:pt x="7216" y="49"/>
                    <a:pt x="7156" y="120"/>
                  </a:cubicBezTo>
                  <a:lnTo>
                    <a:pt x="5228" y="2835"/>
                  </a:lnTo>
                  <a:lnTo>
                    <a:pt x="3287" y="120"/>
                  </a:lnTo>
                  <a:cubicBezTo>
                    <a:pt x="3239" y="49"/>
                    <a:pt x="3156" y="1"/>
                    <a:pt x="30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9" name="Google Shape;429;p13"/>
            <p:cNvSpPr/>
            <p:nvPr/>
          </p:nvSpPr>
          <p:spPr>
            <a:xfrm>
              <a:off x="955059" y="2135755"/>
              <a:ext cx="164134" cy="75877"/>
            </a:xfrm>
            <a:custGeom>
              <a:rect b="b" l="l" r="r" t="t"/>
              <a:pathLst>
                <a:path extrusionOk="0" h="2384" w="5157">
                  <a:moveTo>
                    <a:pt x="2573" y="0"/>
                  </a:moveTo>
                  <a:cubicBezTo>
                    <a:pt x="1954" y="0"/>
                    <a:pt x="1346" y="215"/>
                    <a:pt x="882" y="631"/>
                  </a:cubicBezTo>
                  <a:cubicBezTo>
                    <a:pt x="418" y="1036"/>
                    <a:pt x="108" y="1608"/>
                    <a:pt x="13" y="2203"/>
                  </a:cubicBezTo>
                  <a:cubicBezTo>
                    <a:pt x="1" y="2286"/>
                    <a:pt x="60" y="2358"/>
                    <a:pt x="156" y="2382"/>
                  </a:cubicBezTo>
                  <a:lnTo>
                    <a:pt x="180" y="2382"/>
                  </a:lnTo>
                  <a:cubicBezTo>
                    <a:pt x="251" y="2382"/>
                    <a:pt x="334" y="2322"/>
                    <a:pt x="346" y="2239"/>
                  </a:cubicBezTo>
                  <a:cubicBezTo>
                    <a:pt x="418" y="1703"/>
                    <a:pt x="703" y="1215"/>
                    <a:pt x="1108" y="870"/>
                  </a:cubicBezTo>
                  <a:cubicBezTo>
                    <a:pt x="1525" y="512"/>
                    <a:pt x="2037" y="322"/>
                    <a:pt x="2596" y="322"/>
                  </a:cubicBezTo>
                  <a:cubicBezTo>
                    <a:pt x="3144" y="322"/>
                    <a:pt x="3668" y="512"/>
                    <a:pt x="4085" y="870"/>
                  </a:cubicBezTo>
                  <a:cubicBezTo>
                    <a:pt x="4478" y="1227"/>
                    <a:pt x="4763" y="1727"/>
                    <a:pt x="4835" y="2239"/>
                  </a:cubicBezTo>
                  <a:cubicBezTo>
                    <a:pt x="4857" y="2326"/>
                    <a:pt x="4918" y="2383"/>
                    <a:pt x="4992" y="2383"/>
                  </a:cubicBezTo>
                  <a:cubicBezTo>
                    <a:pt x="4999" y="2383"/>
                    <a:pt x="5006" y="2383"/>
                    <a:pt x="5013" y="2382"/>
                  </a:cubicBezTo>
                  <a:cubicBezTo>
                    <a:pt x="5085" y="2382"/>
                    <a:pt x="5156" y="2286"/>
                    <a:pt x="5144" y="2203"/>
                  </a:cubicBezTo>
                  <a:cubicBezTo>
                    <a:pt x="5049" y="1584"/>
                    <a:pt x="4740" y="1036"/>
                    <a:pt x="4275" y="631"/>
                  </a:cubicBezTo>
                  <a:cubicBezTo>
                    <a:pt x="3799" y="238"/>
                    <a:pt x="3204" y="0"/>
                    <a:pt x="257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" name="Google Shape;430;p13"/>
            <p:cNvSpPr/>
            <p:nvPr/>
          </p:nvSpPr>
          <p:spPr>
            <a:xfrm>
              <a:off x="955059" y="2224999"/>
              <a:ext cx="164134" cy="75240"/>
            </a:xfrm>
            <a:custGeom>
              <a:rect b="b" l="l" r="r" t="t"/>
              <a:pathLst>
                <a:path extrusionOk="0" h="2364" w="5157">
                  <a:moveTo>
                    <a:pt x="193" y="1"/>
                  </a:moveTo>
                  <a:cubicBezTo>
                    <a:pt x="181" y="1"/>
                    <a:pt x="168" y="3"/>
                    <a:pt x="156" y="6"/>
                  </a:cubicBezTo>
                  <a:cubicBezTo>
                    <a:pt x="60" y="18"/>
                    <a:pt x="1" y="90"/>
                    <a:pt x="25" y="185"/>
                  </a:cubicBezTo>
                  <a:cubicBezTo>
                    <a:pt x="108" y="792"/>
                    <a:pt x="418" y="1340"/>
                    <a:pt x="882" y="1745"/>
                  </a:cubicBezTo>
                  <a:cubicBezTo>
                    <a:pt x="1358" y="2149"/>
                    <a:pt x="1954" y="2364"/>
                    <a:pt x="2585" y="2364"/>
                  </a:cubicBezTo>
                  <a:cubicBezTo>
                    <a:pt x="3204" y="2364"/>
                    <a:pt x="3811" y="2149"/>
                    <a:pt x="4275" y="1733"/>
                  </a:cubicBezTo>
                  <a:cubicBezTo>
                    <a:pt x="4740" y="1328"/>
                    <a:pt x="5049" y="756"/>
                    <a:pt x="5144" y="161"/>
                  </a:cubicBezTo>
                  <a:cubicBezTo>
                    <a:pt x="5156" y="90"/>
                    <a:pt x="5085" y="18"/>
                    <a:pt x="5002" y="6"/>
                  </a:cubicBezTo>
                  <a:cubicBezTo>
                    <a:pt x="4990" y="3"/>
                    <a:pt x="4980" y="2"/>
                    <a:pt x="4969" y="2"/>
                  </a:cubicBezTo>
                  <a:cubicBezTo>
                    <a:pt x="4900" y="2"/>
                    <a:pt x="4844" y="65"/>
                    <a:pt x="4823" y="137"/>
                  </a:cubicBezTo>
                  <a:cubicBezTo>
                    <a:pt x="4752" y="673"/>
                    <a:pt x="4466" y="1161"/>
                    <a:pt x="4073" y="1506"/>
                  </a:cubicBezTo>
                  <a:cubicBezTo>
                    <a:pt x="3656" y="1864"/>
                    <a:pt x="3132" y="2054"/>
                    <a:pt x="2585" y="2054"/>
                  </a:cubicBezTo>
                  <a:cubicBezTo>
                    <a:pt x="2025" y="2054"/>
                    <a:pt x="1513" y="1864"/>
                    <a:pt x="1096" y="1506"/>
                  </a:cubicBezTo>
                  <a:cubicBezTo>
                    <a:pt x="691" y="1149"/>
                    <a:pt x="406" y="673"/>
                    <a:pt x="334" y="137"/>
                  </a:cubicBezTo>
                  <a:cubicBezTo>
                    <a:pt x="324" y="56"/>
                    <a:pt x="262" y="1"/>
                    <a:pt x="1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" name="Google Shape;431;p13"/>
            <p:cNvSpPr/>
            <p:nvPr/>
          </p:nvSpPr>
          <p:spPr>
            <a:xfrm>
              <a:off x="1021387" y="2183496"/>
              <a:ext cx="18969" cy="69766"/>
            </a:xfrm>
            <a:custGeom>
              <a:rect b="b" l="l" r="r" t="t"/>
              <a:pathLst>
                <a:path extrusionOk="0" h="2192" w="596">
                  <a:moveTo>
                    <a:pt x="453" y="1"/>
                  </a:moveTo>
                  <a:cubicBezTo>
                    <a:pt x="417" y="1"/>
                    <a:pt x="393" y="12"/>
                    <a:pt x="382" y="24"/>
                  </a:cubicBezTo>
                  <a:lnTo>
                    <a:pt x="60" y="322"/>
                  </a:lnTo>
                  <a:cubicBezTo>
                    <a:pt x="24" y="358"/>
                    <a:pt x="1" y="405"/>
                    <a:pt x="1" y="441"/>
                  </a:cubicBezTo>
                  <a:cubicBezTo>
                    <a:pt x="1" y="501"/>
                    <a:pt x="48" y="584"/>
                    <a:pt x="108" y="584"/>
                  </a:cubicBezTo>
                  <a:cubicBezTo>
                    <a:pt x="120" y="584"/>
                    <a:pt x="155" y="560"/>
                    <a:pt x="167" y="548"/>
                  </a:cubicBezTo>
                  <a:lnTo>
                    <a:pt x="274" y="417"/>
                  </a:lnTo>
                  <a:lnTo>
                    <a:pt x="274" y="2084"/>
                  </a:lnTo>
                  <a:cubicBezTo>
                    <a:pt x="274" y="2156"/>
                    <a:pt x="346" y="2191"/>
                    <a:pt x="429" y="2191"/>
                  </a:cubicBezTo>
                  <a:cubicBezTo>
                    <a:pt x="512" y="2191"/>
                    <a:pt x="596" y="2156"/>
                    <a:pt x="596" y="2084"/>
                  </a:cubicBezTo>
                  <a:lnTo>
                    <a:pt x="596" y="108"/>
                  </a:lnTo>
                  <a:cubicBezTo>
                    <a:pt x="596" y="48"/>
                    <a:pt x="524" y="1"/>
                    <a:pt x="45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2" name="Google Shape;432;p13"/>
          <p:cNvGrpSpPr/>
          <p:nvPr/>
        </p:nvGrpSpPr>
        <p:grpSpPr>
          <a:xfrm>
            <a:off x="8077200" y="2476500"/>
            <a:ext cx="11582400" cy="4749085"/>
            <a:chOff x="-139650" y="-38100"/>
            <a:chExt cx="2016942" cy="1705555"/>
          </a:xfrm>
        </p:grpSpPr>
        <p:sp>
          <p:nvSpPr>
            <p:cNvPr id="433" name="Google Shape;433;p13"/>
            <p:cNvSpPr/>
            <p:nvPr/>
          </p:nvSpPr>
          <p:spPr>
            <a:xfrm>
              <a:off x="-139650" y="352368"/>
              <a:ext cx="1751555" cy="1169732"/>
            </a:xfrm>
            <a:custGeom>
              <a:rect b="b" l="l" r="r" t="t"/>
              <a:pathLst>
                <a:path extrusionOk="0" h="1667455" w="1877292">
                  <a:moveTo>
                    <a:pt x="55394" y="0"/>
                  </a:moveTo>
                  <a:lnTo>
                    <a:pt x="1821898" y="0"/>
                  </a:lnTo>
                  <a:cubicBezTo>
                    <a:pt x="1852491" y="0"/>
                    <a:pt x="1877292" y="24801"/>
                    <a:pt x="1877292" y="55394"/>
                  </a:cubicBezTo>
                  <a:lnTo>
                    <a:pt x="1877292" y="1612061"/>
                  </a:lnTo>
                  <a:cubicBezTo>
                    <a:pt x="1877292" y="1626752"/>
                    <a:pt x="1871456" y="1640842"/>
                    <a:pt x="1861068" y="1651230"/>
                  </a:cubicBezTo>
                  <a:cubicBezTo>
                    <a:pt x="1850679" y="1661619"/>
                    <a:pt x="1836590" y="1667455"/>
                    <a:pt x="1821898" y="1667455"/>
                  </a:cubicBezTo>
                  <a:lnTo>
                    <a:pt x="55394" y="1667455"/>
                  </a:lnTo>
                  <a:cubicBezTo>
                    <a:pt x="24801" y="1667455"/>
                    <a:pt x="0" y="1642654"/>
                    <a:pt x="0" y="1612061"/>
                  </a:cubicBezTo>
                  <a:lnTo>
                    <a:pt x="0" y="55394"/>
                  </a:lnTo>
                  <a:cubicBezTo>
                    <a:pt x="0" y="40702"/>
                    <a:pt x="5836" y="26613"/>
                    <a:pt x="16224" y="16224"/>
                  </a:cubicBezTo>
                  <a:cubicBezTo>
                    <a:pt x="26613" y="5836"/>
                    <a:pt x="40702" y="0"/>
                    <a:pt x="55394" y="0"/>
                  </a:cubicBezTo>
                  <a:close/>
                </a:path>
              </a:pathLst>
            </a:custGeom>
            <a:solidFill>
              <a:srgbClr val="41A3A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13"/>
            <p:cNvSpPr txBox="1"/>
            <p:nvPr/>
          </p:nvSpPr>
          <p:spPr>
            <a:xfrm>
              <a:off x="0" y="-38100"/>
              <a:ext cx="1877292" cy="17055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5" name="Google Shape;435;p13"/>
          <p:cNvGrpSpPr/>
          <p:nvPr/>
        </p:nvGrpSpPr>
        <p:grpSpPr>
          <a:xfrm>
            <a:off x="8077200" y="5880815"/>
            <a:ext cx="11582400" cy="4749085"/>
            <a:chOff x="-139650" y="-38100"/>
            <a:chExt cx="2016942" cy="1705555"/>
          </a:xfrm>
        </p:grpSpPr>
        <p:sp>
          <p:nvSpPr>
            <p:cNvPr id="436" name="Google Shape;436;p13"/>
            <p:cNvSpPr/>
            <p:nvPr/>
          </p:nvSpPr>
          <p:spPr>
            <a:xfrm>
              <a:off x="-139650" y="352368"/>
              <a:ext cx="1751555" cy="1169732"/>
            </a:xfrm>
            <a:custGeom>
              <a:rect b="b" l="l" r="r" t="t"/>
              <a:pathLst>
                <a:path extrusionOk="0" h="1667455" w="1877292">
                  <a:moveTo>
                    <a:pt x="55394" y="0"/>
                  </a:moveTo>
                  <a:lnTo>
                    <a:pt x="1821898" y="0"/>
                  </a:lnTo>
                  <a:cubicBezTo>
                    <a:pt x="1852491" y="0"/>
                    <a:pt x="1877292" y="24801"/>
                    <a:pt x="1877292" y="55394"/>
                  </a:cubicBezTo>
                  <a:lnTo>
                    <a:pt x="1877292" y="1612061"/>
                  </a:lnTo>
                  <a:cubicBezTo>
                    <a:pt x="1877292" y="1626752"/>
                    <a:pt x="1871456" y="1640842"/>
                    <a:pt x="1861068" y="1651230"/>
                  </a:cubicBezTo>
                  <a:cubicBezTo>
                    <a:pt x="1850679" y="1661619"/>
                    <a:pt x="1836590" y="1667455"/>
                    <a:pt x="1821898" y="1667455"/>
                  </a:cubicBezTo>
                  <a:lnTo>
                    <a:pt x="55394" y="1667455"/>
                  </a:lnTo>
                  <a:cubicBezTo>
                    <a:pt x="24801" y="1667455"/>
                    <a:pt x="0" y="1642654"/>
                    <a:pt x="0" y="1612061"/>
                  </a:cubicBezTo>
                  <a:lnTo>
                    <a:pt x="0" y="55394"/>
                  </a:lnTo>
                  <a:cubicBezTo>
                    <a:pt x="0" y="40702"/>
                    <a:pt x="5836" y="26613"/>
                    <a:pt x="16224" y="16224"/>
                  </a:cubicBezTo>
                  <a:cubicBezTo>
                    <a:pt x="26613" y="5836"/>
                    <a:pt x="40702" y="0"/>
                    <a:pt x="55394" y="0"/>
                  </a:cubicBezTo>
                  <a:close/>
                </a:path>
              </a:pathLst>
            </a:custGeom>
            <a:solidFill>
              <a:srgbClr val="41A3A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13"/>
            <p:cNvSpPr txBox="1"/>
            <p:nvPr/>
          </p:nvSpPr>
          <p:spPr>
            <a:xfrm>
              <a:off x="0" y="-38100"/>
              <a:ext cx="1877292" cy="17055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38" name="Google Shape;438;p13"/>
          <p:cNvSpPr/>
          <p:nvPr/>
        </p:nvSpPr>
        <p:spPr>
          <a:xfrm>
            <a:off x="9334500" y="266700"/>
            <a:ext cx="8648700" cy="3051057"/>
          </a:xfrm>
          <a:custGeom>
            <a:rect b="b" l="l" r="r" t="t"/>
            <a:pathLst>
              <a:path extrusionOk="0" h="1667455" w="1877292">
                <a:moveTo>
                  <a:pt x="55394" y="0"/>
                </a:moveTo>
                <a:lnTo>
                  <a:pt x="1821898" y="0"/>
                </a:lnTo>
                <a:cubicBezTo>
                  <a:pt x="1852491" y="0"/>
                  <a:pt x="1877292" y="24801"/>
                  <a:pt x="1877292" y="55394"/>
                </a:cubicBezTo>
                <a:lnTo>
                  <a:pt x="1877292" y="1612061"/>
                </a:lnTo>
                <a:cubicBezTo>
                  <a:pt x="1877292" y="1626752"/>
                  <a:pt x="1871456" y="1640842"/>
                  <a:pt x="1861068" y="1651230"/>
                </a:cubicBezTo>
                <a:cubicBezTo>
                  <a:pt x="1850679" y="1661619"/>
                  <a:pt x="1836590" y="1667455"/>
                  <a:pt x="1821898" y="1667455"/>
                </a:cubicBezTo>
                <a:lnTo>
                  <a:pt x="55394" y="1667455"/>
                </a:lnTo>
                <a:cubicBezTo>
                  <a:pt x="24801" y="1667455"/>
                  <a:pt x="0" y="1642654"/>
                  <a:pt x="0" y="1612061"/>
                </a:cubicBezTo>
                <a:lnTo>
                  <a:pt x="0" y="55394"/>
                </a:lnTo>
                <a:cubicBezTo>
                  <a:pt x="0" y="40702"/>
                  <a:pt x="5836" y="26613"/>
                  <a:pt x="16224" y="16224"/>
                </a:cubicBezTo>
                <a:cubicBezTo>
                  <a:pt x="26613" y="5836"/>
                  <a:pt x="40702" y="0"/>
                  <a:pt x="5539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3"/>
          <p:cNvSpPr/>
          <p:nvPr/>
        </p:nvSpPr>
        <p:spPr>
          <a:xfrm>
            <a:off x="9334500" y="3695700"/>
            <a:ext cx="8648700" cy="3027549"/>
          </a:xfrm>
          <a:custGeom>
            <a:rect b="b" l="l" r="r" t="t"/>
            <a:pathLst>
              <a:path extrusionOk="0" h="1667455" w="1877292">
                <a:moveTo>
                  <a:pt x="55394" y="0"/>
                </a:moveTo>
                <a:lnTo>
                  <a:pt x="1821898" y="0"/>
                </a:lnTo>
                <a:cubicBezTo>
                  <a:pt x="1852491" y="0"/>
                  <a:pt x="1877292" y="24801"/>
                  <a:pt x="1877292" y="55394"/>
                </a:cubicBezTo>
                <a:lnTo>
                  <a:pt x="1877292" y="1612061"/>
                </a:lnTo>
                <a:cubicBezTo>
                  <a:pt x="1877292" y="1626752"/>
                  <a:pt x="1871456" y="1640842"/>
                  <a:pt x="1861068" y="1651230"/>
                </a:cubicBezTo>
                <a:cubicBezTo>
                  <a:pt x="1850679" y="1661619"/>
                  <a:pt x="1836590" y="1667455"/>
                  <a:pt x="1821898" y="1667455"/>
                </a:cubicBezTo>
                <a:lnTo>
                  <a:pt x="55394" y="1667455"/>
                </a:lnTo>
                <a:cubicBezTo>
                  <a:pt x="24801" y="1667455"/>
                  <a:pt x="0" y="1642654"/>
                  <a:pt x="0" y="1612061"/>
                </a:cubicBezTo>
                <a:lnTo>
                  <a:pt x="0" y="55394"/>
                </a:lnTo>
                <a:cubicBezTo>
                  <a:pt x="0" y="40702"/>
                  <a:pt x="5836" y="26613"/>
                  <a:pt x="16224" y="16224"/>
                </a:cubicBezTo>
                <a:cubicBezTo>
                  <a:pt x="26613" y="5836"/>
                  <a:pt x="40702" y="0"/>
                  <a:pt x="5539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3"/>
          <p:cNvSpPr/>
          <p:nvPr/>
        </p:nvSpPr>
        <p:spPr>
          <a:xfrm>
            <a:off x="9296400" y="7048500"/>
            <a:ext cx="8686800" cy="3052234"/>
          </a:xfrm>
          <a:custGeom>
            <a:rect b="b" l="l" r="r" t="t"/>
            <a:pathLst>
              <a:path extrusionOk="0" h="1667455" w="1877292">
                <a:moveTo>
                  <a:pt x="55394" y="0"/>
                </a:moveTo>
                <a:lnTo>
                  <a:pt x="1821898" y="0"/>
                </a:lnTo>
                <a:cubicBezTo>
                  <a:pt x="1852491" y="0"/>
                  <a:pt x="1877292" y="24801"/>
                  <a:pt x="1877292" y="55394"/>
                </a:cubicBezTo>
                <a:lnTo>
                  <a:pt x="1877292" y="1612061"/>
                </a:lnTo>
                <a:cubicBezTo>
                  <a:pt x="1877292" y="1626752"/>
                  <a:pt x="1871456" y="1640842"/>
                  <a:pt x="1861068" y="1651230"/>
                </a:cubicBezTo>
                <a:cubicBezTo>
                  <a:pt x="1850679" y="1661619"/>
                  <a:pt x="1836590" y="1667455"/>
                  <a:pt x="1821898" y="1667455"/>
                </a:cubicBezTo>
                <a:lnTo>
                  <a:pt x="55394" y="1667455"/>
                </a:lnTo>
                <a:cubicBezTo>
                  <a:pt x="24801" y="1667455"/>
                  <a:pt x="0" y="1642654"/>
                  <a:pt x="0" y="1612061"/>
                </a:cubicBezTo>
                <a:lnTo>
                  <a:pt x="0" y="55394"/>
                </a:lnTo>
                <a:cubicBezTo>
                  <a:pt x="0" y="40702"/>
                  <a:pt x="5836" y="26613"/>
                  <a:pt x="16224" y="16224"/>
                </a:cubicBezTo>
                <a:cubicBezTo>
                  <a:pt x="26613" y="5836"/>
                  <a:pt x="40702" y="0"/>
                  <a:pt x="5539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41" name="Google Shape;441;p13"/>
          <p:cNvGrpSpPr/>
          <p:nvPr/>
        </p:nvGrpSpPr>
        <p:grpSpPr>
          <a:xfrm>
            <a:off x="8208173" y="4534717"/>
            <a:ext cx="1076281" cy="1105290"/>
            <a:chOff x="4670239" y="1541599"/>
            <a:chExt cx="359679" cy="321833"/>
          </a:xfrm>
        </p:grpSpPr>
        <p:sp>
          <p:nvSpPr>
            <p:cNvPr id="442" name="Google Shape;442;p13"/>
            <p:cNvSpPr/>
            <p:nvPr/>
          </p:nvSpPr>
          <p:spPr>
            <a:xfrm>
              <a:off x="4818790" y="1606787"/>
              <a:ext cx="28838" cy="49687"/>
            </a:xfrm>
            <a:custGeom>
              <a:rect b="b" l="l" r="r" t="t"/>
              <a:pathLst>
                <a:path extrusionOk="0" h="1561" w="906">
                  <a:moveTo>
                    <a:pt x="429" y="298"/>
                  </a:moveTo>
                  <a:lnTo>
                    <a:pt x="429" y="584"/>
                  </a:lnTo>
                  <a:cubicBezTo>
                    <a:pt x="310" y="537"/>
                    <a:pt x="287" y="489"/>
                    <a:pt x="287" y="429"/>
                  </a:cubicBezTo>
                  <a:cubicBezTo>
                    <a:pt x="287" y="346"/>
                    <a:pt x="358" y="310"/>
                    <a:pt x="429" y="298"/>
                  </a:cubicBezTo>
                  <a:close/>
                  <a:moveTo>
                    <a:pt x="537" y="882"/>
                  </a:moveTo>
                  <a:cubicBezTo>
                    <a:pt x="656" y="929"/>
                    <a:pt x="680" y="989"/>
                    <a:pt x="680" y="1060"/>
                  </a:cubicBezTo>
                  <a:cubicBezTo>
                    <a:pt x="680" y="1132"/>
                    <a:pt x="620" y="1191"/>
                    <a:pt x="537" y="1203"/>
                  </a:cubicBezTo>
                  <a:lnTo>
                    <a:pt x="537" y="882"/>
                  </a:lnTo>
                  <a:close/>
                  <a:moveTo>
                    <a:pt x="477" y="1"/>
                  </a:moveTo>
                  <a:cubicBezTo>
                    <a:pt x="441" y="1"/>
                    <a:pt x="418" y="13"/>
                    <a:pt x="418" y="48"/>
                  </a:cubicBezTo>
                  <a:lnTo>
                    <a:pt x="418" y="108"/>
                  </a:lnTo>
                  <a:cubicBezTo>
                    <a:pt x="191" y="132"/>
                    <a:pt x="48" y="251"/>
                    <a:pt x="48" y="477"/>
                  </a:cubicBezTo>
                  <a:cubicBezTo>
                    <a:pt x="48" y="715"/>
                    <a:pt x="227" y="787"/>
                    <a:pt x="418" y="870"/>
                  </a:cubicBezTo>
                  <a:lnTo>
                    <a:pt x="418" y="1239"/>
                  </a:lnTo>
                  <a:cubicBezTo>
                    <a:pt x="310" y="1215"/>
                    <a:pt x="263" y="1191"/>
                    <a:pt x="179" y="1120"/>
                  </a:cubicBezTo>
                  <a:cubicBezTo>
                    <a:pt x="159" y="1104"/>
                    <a:pt x="138" y="1096"/>
                    <a:pt x="118" y="1096"/>
                  </a:cubicBezTo>
                  <a:cubicBezTo>
                    <a:pt x="93" y="1096"/>
                    <a:pt x="69" y="1110"/>
                    <a:pt x="48" y="1144"/>
                  </a:cubicBezTo>
                  <a:cubicBezTo>
                    <a:pt x="1" y="1203"/>
                    <a:pt x="1" y="1263"/>
                    <a:pt x="48" y="1310"/>
                  </a:cubicBezTo>
                  <a:cubicBezTo>
                    <a:pt x="120" y="1418"/>
                    <a:pt x="287" y="1465"/>
                    <a:pt x="418" y="1465"/>
                  </a:cubicBezTo>
                  <a:lnTo>
                    <a:pt x="418" y="1513"/>
                  </a:lnTo>
                  <a:cubicBezTo>
                    <a:pt x="418" y="1549"/>
                    <a:pt x="441" y="1560"/>
                    <a:pt x="477" y="1560"/>
                  </a:cubicBezTo>
                  <a:cubicBezTo>
                    <a:pt x="501" y="1560"/>
                    <a:pt x="537" y="1549"/>
                    <a:pt x="537" y="1513"/>
                  </a:cubicBezTo>
                  <a:lnTo>
                    <a:pt x="537" y="1429"/>
                  </a:lnTo>
                  <a:cubicBezTo>
                    <a:pt x="727" y="1406"/>
                    <a:pt x="894" y="1263"/>
                    <a:pt x="894" y="1025"/>
                  </a:cubicBezTo>
                  <a:cubicBezTo>
                    <a:pt x="906" y="787"/>
                    <a:pt x="763" y="703"/>
                    <a:pt x="549" y="632"/>
                  </a:cubicBezTo>
                  <a:lnTo>
                    <a:pt x="549" y="286"/>
                  </a:lnTo>
                  <a:cubicBezTo>
                    <a:pt x="596" y="286"/>
                    <a:pt x="644" y="298"/>
                    <a:pt x="680" y="334"/>
                  </a:cubicBezTo>
                  <a:cubicBezTo>
                    <a:pt x="707" y="341"/>
                    <a:pt x="738" y="363"/>
                    <a:pt x="771" y="363"/>
                  </a:cubicBezTo>
                  <a:cubicBezTo>
                    <a:pt x="795" y="363"/>
                    <a:pt x="821" y="351"/>
                    <a:pt x="846" y="310"/>
                  </a:cubicBezTo>
                  <a:cubicBezTo>
                    <a:pt x="882" y="275"/>
                    <a:pt x="894" y="215"/>
                    <a:pt x="834" y="167"/>
                  </a:cubicBezTo>
                  <a:cubicBezTo>
                    <a:pt x="763" y="108"/>
                    <a:pt x="644" y="96"/>
                    <a:pt x="537" y="96"/>
                  </a:cubicBezTo>
                  <a:lnTo>
                    <a:pt x="537" y="48"/>
                  </a:lnTo>
                  <a:cubicBezTo>
                    <a:pt x="537" y="13"/>
                    <a:pt x="501" y="1"/>
                    <a:pt x="4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3" name="Google Shape;443;p13"/>
            <p:cNvSpPr/>
            <p:nvPr/>
          </p:nvSpPr>
          <p:spPr>
            <a:xfrm>
              <a:off x="4875256" y="1557896"/>
              <a:ext cx="82281" cy="82663"/>
            </a:xfrm>
            <a:custGeom>
              <a:rect b="b" l="l" r="r" t="t"/>
              <a:pathLst>
                <a:path extrusionOk="0" h="2597" w="2585">
                  <a:moveTo>
                    <a:pt x="1287" y="310"/>
                  </a:moveTo>
                  <a:cubicBezTo>
                    <a:pt x="1823" y="310"/>
                    <a:pt x="2275" y="751"/>
                    <a:pt x="2275" y="1299"/>
                  </a:cubicBezTo>
                  <a:cubicBezTo>
                    <a:pt x="2263" y="1834"/>
                    <a:pt x="1823" y="2275"/>
                    <a:pt x="1287" y="2275"/>
                  </a:cubicBezTo>
                  <a:cubicBezTo>
                    <a:pt x="751" y="2275"/>
                    <a:pt x="310" y="1846"/>
                    <a:pt x="310" y="1299"/>
                  </a:cubicBezTo>
                  <a:cubicBezTo>
                    <a:pt x="310" y="763"/>
                    <a:pt x="739" y="310"/>
                    <a:pt x="1287" y="310"/>
                  </a:cubicBezTo>
                  <a:close/>
                  <a:moveTo>
                    <a:pt x="1287" y="1"/>
                  </a:moveTo>
                  <a:cubicBezTo>
                    <a:pt x="572" y="1"/>
                    <a:pt x="1" y="584"/>
                    <a:pt x="1" y="1299"/>
                  </a:cubicBezTo>
                  <a:cubicBezTo>
                    <a:pt x="1" y="2013"/>
                    <a:pt x="572" y="2596"/>
                    <a:pt x="1287" y="2596"/>
                  </a:cubicBezTo>
                  <a:cubicBezTo>
                    <a:pt x="2001" y="2596"/>
                    <a:pt x="2585" y="2013"/>
                    <a:pt x="2585" y="1299"/>
                  </a:cubicBezTo>
                  <a:cubicBezTo>
                    <a:pt x="2585" y="584"/>
                    <a:pt x="2001" y="1"/>
                    <a:pt x="128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4" name="Google Shape;444;p13"/>
            <p:cNvSpPr/>
            <p:nvPr/>
          </p:nvSpPr>
          <p:spPr>
            <a:xfrm>
              <a:off x="4775215" y="1541599"/>
              <a:ext cx="199001" cy="147850"/>
            </a:xfrm>
            <a:custGeom>
              <a:rect b="b" l="l" r="r" t="t"/>
              <a:pathLst>
                <a:path extrusionOk="0" h="4645" w="6252">
                  <a:moveTo>
                    <a:pt x="1834" y="1811"/>
                  </a:moveTo>
                  <a:cubicBezTo>
                    <a:pt x="2168" y="1811"/>
                    <a:pt x="2465" y="1989"/>
                    <a:pt x="2644" y="2239"/>
                  </a:cubicBezTo>
                  <a:cubicBezTo>
                    <a:pt x="2680" y="2394"/>
                    <a:pt x="2739" y="2525"/>
                    <a:pt x="2799" y="2656"/>
                  </a:cubicBezTo>
                  <a:cubicBezTo>
                    <a:pt x="2799" y="2704"/>
                    <a:pt x="2811" y="2751"/>
                    <a:pt x="2811" y="2787"/>
                  </a:cubicBezTo>
                  <a:cubicBezTo>
                    <a:pt x="2811" y="3335"/>
                    <a:pt x="2382" y="3775"/>
                    <a:pt x="1834" y="3775"/>
                  </a:cubicBezTo>
                  <a:cubicBezTo>
                    <a:pt x="1298" y="3775"/>
                    <a:pt x="846" y="3347"/>
                    <a:pt x="846" y="2787"/>
                  </a:cubicBezTo>
                  <a:cubicBezTo>
                    <a:pt x="846" y="2251"/>
                    <a:pt x="1275" y="1811"/>
                    <a:pt x="1834" y="1811"/>
                  </a:cubicBezTo>
                  <a:close/>
                  <a:moveTo>
                    <a:pt x="1834" y="1263"/>
                  </a:moveTo>
                  <a:cubicBezTo>
                    <a:pt x="2108" y="1263"/>
                    <a:pt x="2382" y="1334"/>
                    <a:pt x="2620" y="1489"/>
                  </a:cubicBezTo>
                  <a:cubicBezTo>
                    <a:pt x="2608" y="1561"/>
                    <a:pt x="2608" y="1644"/>
                    <a:pt x="2584" y="1727"/>
                  </a:cubicBezTo>
                  <a:cubicBezTo>
                    <a:pt x="2382" y="1572"/>
                    <a:pt x="2108" y="1465"/>
                    <a:pt x="1822" y="1465"/>
                  </a:cubicBezTo>
                  <a:cubicBezTo>
                    <a:pt x="1120" y="1465"/>
                    <a:pt x="536" y="2049"/>
                    <a:pt x="536" y="2763"/>
                  </a:cubicBezTo>
                  <a:cubicBezTo>
                    <a:pt x="536" y="3477"/>
                    <a:pt x="1108" y="4061"/>
                    <a:pt x="1822" y="4061"/>
                  </a:cubicBezTo>
                  <a:cubicBezTo>
                    <a:pt x="2453" y="4061"/>
                    <a:pt x="2953" y="3632"/>
                    <a:pt x="3096" y="3049"/>
                  </a:cubicBezTo>
                  <a:cubicBezTo>
                    <a:pt x="3156" y="3108"/>
                    <a:pt x="3215" y="3156"/>
                    <a:pt x="3275" y="3216"/>
                  </a:cubicBezTo>
                  <a:cubicBezTo>
                    <a:pt x="3084" y="3870"/>
                    <a:pt x="2501" y="4299"/>
                    <a:pt x="1834" y="4299"/>
                  </a:cubicBezTo>
                  <a:cubicBezTo>
                    <a:pt x="1001" y="4299"/>
                    <a:pt x="310" y="3608"/>
                    <a:pt x="310" y="2775"/>
                  </a:cubicBezTo>
                  <a:cubicBezTo>
                    <a:pt x="310" y="1942"/>
                    <a:pt x="1001" y="1263"/>
                    <a:pt x="1834" y="1263"/>
                  </a:cubicBezTo>
                  <a:close/>
                  <a:moveTo>
                    <a:pt x="4430" y="1"/>
                  </a:moveTo>
                  <a:cubicBezTo>
                    <a:pt x="3644" y="1"/>
                    <a:pt x="2977" y="501"/>
                    <a:pt x="2703" y="1203"/>
                  </a:cubicBezTo>
                  <a:cubicBezTo>
                    <a:pt x="2441" y="1049"/>
                    <a:pt x="2144" y="977"/>
                    <a:pt x="1834" y="977"/>
                  </a:cubicBezTo>
                  <a:cubicBezTo>
                    <a:pt x="822" y="977"/>
                    <a:pt x="1" y="1799"/>
                    <a:pt x="1" y="2811"/>
                  </a:cubicBezTo>
                  <a:cubicBezTo>
                    <a:pt x="1" y="3823"/>
                    <a:pt x="822" y="4644"/>
                    <a:pt x="1834" y="4644"/>
                  </a:cubicBezTo>
                  <a:cubicBezTo>
                    <a:pt x="2608" y="4644"/>
                    <a:pt x="3287" y="4168"/>
                    <a:pt x="3561" y="3430"/>
                  </a:cubicBezTo>
                  <a:cubicBezTo>
                    <a:pt x="3811" y="3573"/>
                    <a:pt x="4108" y="3656"/>
                    <a:pt x="4430" y="3656"/>
                  </a:cubicBezTo>
                  <a:cubicBezTo>
                    <a:pt x="4846" y="3656"/>
                    <a:pt x="5251" y="3513"/>
                    <a:pt x="5585" y="3251"/>
                  </a:cubicBezTo>
                  <a:cubicBezTo>
                    <a:pt x="5894" y="3001"/>
                    <a:pt x="6132" y="2632"/>
                    <a:pt x="6216" y="2239"/>
                  </a:cubicBezTo>
                  <a:cubicBezTo>
                    <a:pt x="6228" y="2144"/>
                    <a:pt x="6192" y="2049"/>
                    <a:pt x="6097" y="2037"/>
                  </a:cubicBezTo>
                  <a:cubicBezTo>
                    <a:pt x="6086" y="2035"/>
                    <a:pt x="6076" y="2035"/>
                    <a:pt x="6065" y="2035"/>
                  </a:cubicBezTo>
                  <a:cubicBezTo>
                    <a:pt x="5991" y="2035"/>
                    <a:pt x="5917" y="2072"/>
                    <a:pt x="5906" y="2156"/>
                  </a:cubicBezTo>
                  <a:cubicBezTo>
                    <a:pt x="5739" y="2835"/>
                    <a:pt x="5144" y="3335"/>
                    <a:pt x="4430" y="3335"/>
                  </a:cubicBezTo>
                  <a:cubicBezTo>
                    <a:pt x="3882" y="3335"/>
                    <a:pt x="3394" y="3037"/>
                    <a:pt x="3120" y="2561"/>
                  </a:cubicBezTo>
                  <a:cubicBezTo>
                    <a:pt x="3096" y="2406"/>
                    <a:pt x="3037" y="2263"/>
                    <a:pt x="2965" y="2120"/>
                  </a:cubicBezTo>
                  <a:cubicBezTo>
                    <a:pt x="2763" y="1191"/>
                    <a:pt x="3477" y="310"/>
                    <a:pt x="4430" y="310"/>
                  </a:cubicBezTo>
                  <a:cubicBezTo>
                    <a:pt x="5144" y="310"/>
                    <a:pt x="5739" y="787"/>
                    <a:pt x="5906" y="1489"/>
                  </a:cubicBezTo>
                  <a:cubicBezTo>
                    <a:pt x="5916" y="1560"/>
                    <a:pt x="5986" y="1613"/>
                    <a:pt x="6058" y="1613"/>
                  </a:cubicBezTo>
                  <a:cubicBezTo>
                    <a:pt x="6071" y="1613"/>
                    <a:pt x="6084" y="1612"/>
                    <a:pt x="6097" y="1608"/>
                  </a:cubicBezTo>
                  <a:cubicBezTo>
                    <a:pt x="6192" y="1584"/>
                    <a:pt x="6251" y="1501"/>
                    <a:pt x="6216" y="1406"/>
                  </a:cubicBezTo>
                  <a:cubicBezTo>
                    <a:pt x="6132" y="1013"/>
                    <a:pt x="5906" y="656"/>
                    <a:pt x="5585" y="394"/>
                  </a:cubicBezTo>
                  <a:cubicBezTo>
                    <a:pt x="5251" y="132"/>
                    <a:pt x="4846" y="1"/>
                    <a:pt x="443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5" name="Google Shape;445;p13"/>
            <p:cNvSpPr/>
            <p:nvPr/>
          </p:nvSpPr>
          <p:spPr>
            <a:xfrm>
              <a:off x="4901803" y="1574957"/>
              <a:ext cx="28838" cy="50069"/>
            </a:xfrm>
            <a:custGeom>
              <a:rect b="b" l="l" r="r" t="t"/>
              <a:pathLst>
                <a:path extrusionOk="0" h="1573" w="906">
                  <a:moveTo>
                    <a:pt x="429" y="322"/>
                  </a:moveTo>
                  <a:lnTo>
                    <a:pt x="429" y="596"/>
                  </a:lnTo>
                  <a:cubicBezTo>
                    <a:pt x="310" y="548"/>
                    <a:pt x="274" y="513"/>
                    <a:pt x="274" y="453"/>
                  </a:cubicBezTo>
                  <a:cubicBezTo>
                    <a:pt x="274" y="358"/>
                    <a:pt x="358" y="334"/>
                    <a:pt x="429" y="322"/>
                  </a:cubicBezTo>
                  <a:close/>
                  <a:moveTo>
                    <a:pt x="512" y="894"/>
                  </a:moveTo>
                  <a:cubicBezTo>
                    <a:pt x="631" y="941"/>
                    <a:pt x="667" y="1001"/>
                    <a:pt x="667" y="1072"/>
                  </a:cubicBezTo>
                  <a:cubicBezTo>
                    <a:pt x="667" y="1167"/>
                    <a:pt x="608" y="1215"/>
                    <a:pt x="512" y="1227"/>
                  </a:cubicBezTo>
                  <a:lnTo>
                    <a:pt x="512" y="894"/>
                  </a:lnTo>
                  <a:close/>
                  <a:moveTo>
                    <a:pt x="453" y="1"/>
                  </a:moveTo>
                  <a:cubicBezTo>
                    <a:pt x="429" y="1"/>
                    <a:pt x="393" y="24"/>
                    <a:pt x="393" y="48"/>
                  </a:cubicBezTo>
                  <a:lnTo>
                    <a:pt x="393" y="108"/>
                  </a:lnTo>
                  <a:cubicBezTo>
                    <a:pt x="167" y="132"/>
                    <a:pt x="24" y="251"/>
                    <a:pt x="24" y="477"/>
                  </a:cubicBezTo>
                  <a:cubicBezTo>
                    <a:pt x="24" y="715"/>
                    <a:pt x="203" y="798"/>
                    <a:pt x="393" y="870"/>
                  </a:cubicBezTo>
                  <a:lnTo>
                    <a:pt x="393" y="1239"/>
                  </a:lnTo>
                  <a:cubicBezTo>
                    <a:pt x="286" y="1227"/>
                    <a:pt x="250" y="1179"/>
                    <a:pt x="155" y="1120"/>
                  </a:cubicBezTo>
                  <a:cubicBezTo>
                    <a:pt x="138" y="1108"/>
                    <a:pt x="122" y="1102"/>
                    <a:pt x="106" y="1102"/>
                  </a:cubicBezTo>
                  <a:cubicBezTo>
                    <a:pt x="46" y="1102"/>
                    <a:pt x="0" y="1182"/>
                    <a:pt x="0" y="1239"/>
                  </a:cubicBezTo>
                  <a:cubicBezTo>
                    <a:pt x="0" y="1275"/>
                    <a:pt x="12" y="1298"/>
                    <a:pt x="24" y="1310"/>
                  </a:cubicBezTo>
                  <a:cubicBezTo>
                    <a:pt x="96" y="1417"/>
                    <a:pt x="262" y="1465"/>
                    <a:pt x="393" y="1465"/>
                  </a:cubicBezTo>
                  <a:lnTo>
                    <a:pt x="393" y="1525"/>
                  </a:lnTo>
                  <a:cubicBezTo>
                    <a:pt x="393" y="1548"/>
                    <a:pt x="429" y="1572"/>
                    <a:pt x="453" y="1572"/>
                  </a:cubicBezTo>
                  <a:cubicBezTo>
                    <a:pt x="488" y="1572"/>
                    <a:pt x="512" y="1548"/>
                    <a:pt x="512" y="1525"/>
                  </a:cubicBezTo>
                  <a:lnTo>
                    <a:pt x="512" y="1465"/>
                  </a:lnTo>
                  <a:cubicBezTo>
                    <a:pt x="715" y="1429"/>
                    <a:pt x="869" y="1298"/>
                    <a:pt x="869" y="1060"/>
                  </a:cubicBezTo>
                  <a:cubicBezTo>
                    <a:pt x="905" y="810"/>
                    <a:pt x="739" y="715"/>
                    <a:pt x="536" y="644"/>
                  </a:cubicBezTo>
                  <a:lnTo>
                    <a:pt x="536" y="298"/>
                  </a:lnTo>
                  <a:cubicBezTo>
                    <a:pt x="608" y="298"/>
                    <a:pt x="631" y="322"/>
                    <a:pt x="715" y="358"/>
                  </a:cubicBezTo>
                  <a:cubicBezTo>
                    <a:pt x="728" y="367"/>
                    <a:pt x="742" y="372"/>
                    <a:pt x="758" y="372"/>
                  </a:cubicBezTo>
                  <a:cubicBezTo>
                    <a:pt x="784" y="372"/>
                    <a:pt x="811" y="355"/>
                    <a:pt x="834" y="310"/>
                  </a:cubicBezTo>
                  <a:cubicBezTo>
                    <a:pt x="858" y="274"/>
                    <a:pt x="869" y="215"/>
                    <a:pt x="810" y="167"/>
                  </a:cubicBezTo>
                  <a:cubicBezTo>
                    <a:pt x="739" y="108"/>
                    <a:pt x="619" y="96"/>
                    <a:pt x="512" y="96"/>
                  </a:cubicBezTo>
                  <a:lnTo>
                    <a:pt x="512" y="48"/>
                  </a:lnTo>
                  <a:cubicBezTo>
                    <a:pt x="512" y="24"/>
                    <a:pt x="488" y="1"/>
                    <a:pt x="45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6" name="Google Shape;446;p13"/>
            <p:cNvSpPr/>
            <p:nvPr/>
          </p:nvSpPr>
          <p:spPr>
            <a:xfrm>
              <a:off x="4670239" y="1657269"/>
              <a:ext cx="359679" cy="206163"/>
            </a:xfrm>
            <a:custGeom>
              <a:rect b="b" l="l" r="r" t="t"/>
              <a:pathLst>
                <a:path extrusionOk="0" h="6477" w="11300">
                  <a:moveTo>
                    <a:pt x="3590" y="1935"/>
                  </a:moveTo>
                  <a:cubicBezTo>
                    <a:pt x="3607" y="1935"/>
                    <a:pt x="3623" y="1948"/>
                    <a:pt x="3632" y="1975"/>
                  </a:cubicBezTo>
                  <a:cubicBezTo>
                    <a:pt x="3715" y="2129"/>
                    <a:pt x="4727" y="4832"/>
                    <a:pt x="4751" y="4939"/>
                  </a:cubicBezTo>
                  <a:cubicBezTo>
                    <a:pt x="4775" y="4951"/>
                    <a:pt x="4751" y="4975"/>
                    <a:pt x="4727" y="4987"/>
                  </a:cubicBezTo>
                  <a:lnTo>
                    <a:pt x="4013" y="5261"/>
                  </a:lnTo>
                  <a:cubicBezTo>
                    <a:pt x="3965" y="5130"/>
                    <a:pt x="2941" y="2403"/>
                    <a:pt x="2870" y="2213"/>
                  </a:cubicBezTo>
                  <a:lnTo>
                    <a:pt x="3572" y="1939"/>
                  </a:lnTo>
                  <a:cubicBezTo>
                    <a:pt x="3578" y="1936"/>
                    <a:pt x="3584" y="1935"/>
                    <a:pt x="3590" y="1935"/>
                  </a:cubicBezTo>
                  <a:close/>
                  <a:moveTo>
                    <a:pt x="2584" y="2308"/>
                  </a:moveTo>
                  <a:lnTo>
                    <a:pt x="3727" y="5368"/>
                  </a:lnTo>
                  <a:cubicBezTo>
                    <a:pt x="3180" y="5570"/>
                    <a:pt x="1810" y="6082"/>
                    <a:pt x="1584" y="6166"/>
                  </a:cubicBezTo>
                  <a:cubicBezTo>
                    <a:pt x="1577" y="6172"/>
                    <a:pt x="1569" y="6175"/>
                    <a:pt x="1560" y="6175"/>
                  </a:cubicBezTo>
                  <a:cubicBezTo>
                    <a:pt x="1537" y="6175"/>
                    <a:pt x="1509" y="6156"/>
                    <a:pt x="1501" y="6130"/>
                  </a:cubicBezTo>
                  <a:lnTo>
                    <a:pt x="394" y="3201"/>
                  </a:lnTo>
                  <a:cubicBezTo>
                    <a:pt x="382" y="3177"/>
                    <a:pt x="394" y="3130"/>
                    <a:pt x="441" y="3118"/>
                  </a:cubicBezTo>
                  <a:cubicBezTo>
                    <a:pt x="1144" y="2844"/>
                    <a:pt x="2096" y="2487"/>
                    <a:pt x="2584" y="2308"/>
                  </a:cubicBezTo>
                  <a:close/>
                  <a:moveTo>
                    <a:pt x="10358" y="1"/>
                  </a:moveTo>
                  <a:cubicBezTo>
                    <a:pt x="10108" y="1"/>
                    <a:pt x="9869" y="131"/>
                    <a:pt x="9692" y="308"/>
                  </a:cubicBezTo>
                  <a:lnTo>
                    <a:pt x="7966" y="1737"/>
                  </a:lnTo>
                  <a:cubicBezTo>
                    <a:pt x="7883" y="1522"/>
                    <a:pt x="7668" y="1308"/>
                    <a:pt x="7263" y="1308"/>
                  </a:cubicBezTo>
                  <a:cubicBezTo>
                    <a:pt x="6756" y="1308"/>
                    <a:pt x="6387" y="1304"/>
                    <a:pt x="6108" y="1304"/>
                  </a:cubicBezTo>
                  <a:cubicBezTo>
                    <a:pt x="5503" y="1304"/>
                    <a:pt x="5318" y="1321"/>
                    <a:pt x="5049" y="1427"/>
                  </a:cubicBezTo>
                  <a:lnTo>
                    <a:pt x="3953" y="1868"/>
                  </a:lnTo>
                  <a:lnTo>
                    <a:pt x="3930" y="1820"/>
                  </a:lnTo>
                  <a:cubicBezTo>
                    <a:pt x="3875" y="1675"/>
                    <a:pt x="3745" y="1592"/>
                    <a:pt x="3597" y="1592"/>
                  </a:cubicBezTo>
                  <a:cubicBezTo>
                    <a:pt x="3550" y="1592"/>
                    <a:pt x="3502" y="1600"/>
                    <a:pt x="3453" y="1618"/>
                  </a:cubicBezTo>
                  <a:lnTo>
                    <a:pt x="2620" y="1927"/>
                  </a:lnTo>
                  <a:cubicBezTo>
                    <a:pt x="2251" y="2058"/>
                    <a:pt x="1108" y="2510"/>
                    <a:pt x="298" y="2808"/>
                  </a:cubicBezTo>
                  <a:cubicBezTo>
                    <a:pt x="96" y="2880"/>
                    <a:pt x="1" y="3106"/>
                    <a:pt x="84" y="3308"/>
                  </a:cubicBezTo>
                  <a:lnTo>
                    <a:pt x="1179" y="6225"/>
                  </a:lnTo>
                  <a:cubicBezTo>
                    <a:pt x="1234" y="6389"/>
                    <a:pt x="1379" y="6476"/>
                    <a:pt x="1540" y="6476"/>
                  </a:cubicBezTo>
                  <a:cubicBezTo>
                    <a:pt x="1590" y="6476"/>
                    <a:pt x="1641" y="6468"/>
                    <a:pt x="1691" y="6451"/>
                  </a:cubicBezTo>
                  <a:cubicBezTo>
                    <a:pt x="1941" y="6368"/>
                    <a:pt x="3608" y="5725"/>
                    <a:pt x="3977" y="5594"/>
                  </a:cubicBezTo>
                  <a:lnTo>
                    <a:pt x="4858" y="5261"/>
                  </a:lnTo>
                  <a:cubicBezTo>
                    <a:pt x="5049" y="5189"/>
                    <a:pt x="5144" y="4975"/>
                    <a:pt x="5061" y="4785"/>
                  </a:cubicBezTo>
                  <a:lnTo>
                    <a:pt x="5049" y="4737"/>
                  </a:lnTo>
                  <a:cubicBezTo>
                    <a:pt x="5620" y="4499"/>
                    <a:pt x="5632" y="4475"/>
                    <a:pt x="6228" y="4475"/>
                  </a:cubicBezTo>
                  <a:cubicBezTo>
                    <a:pt x="6311" y="4475"/>
                    <a:pt x="6394" y="4404"/>
                    <a:pt x="6394" y="4308"/>
                  </a:cubicBezTo>
                  <a:cubicBezTo>
                    <a:pt x="6394" y="4225"/>
                    <a:pt x="6311" y="4142"/>
                    <a:pt x="6228" y="4142"/>
                  </a:cubicBezTo>
                  <a:cubicBezTo>
                    <a:pt x="5585" y="4142"/>
                    <a:pt x="5525" y="4189"/>
                    <a:pt x="4930" y="4439"/>
                  </a:cubicBezTo>
                  <a:lnTo>
                    <a:pt x="4073" y="2153"/>
                  </a:lnTo>
                  <a:lnTo>
                    <a:pt x="5168" y="1689"/>
                  </a:lnTo>
                  <a:cubicBezTo>
                    <a:pt x="5361" y="1615"/>
                    <a:pt x="5513" y="1601"/>
                    <a:pt x="5986" y="1601"/>
                  </a:cubicBezTo>
                  <a:cubicBezTo>
                    <a:pt x="6270" y="1601"/>
                    <a:pt x="6670" y="1606"/>
                    <a:pt x="7263" y="1606"/>
                  </a:cubicBezTo>
                  <a:cubicBezTo>
                    <a:pt x="7442" y="1606"/>
                    <a:pt x="7561" y="1665"/>
                    <a:pt x="7644" y="1784"/>
                  </a:cubicBezTo>
                  <a:cubicBezTo>
                    <a:pt x="7704" y="1868"/>
                    <a:pt x="7704" y="1963"/>
                    <a:pt x="7716" y="1987"/>
                  </a:cubicBezTo>
                  <a:cubicBezTo>
                    <a:pt x="7716" y="2046"/>
                    <a:pt x="7668" y="2344"/>
                    <a:pt x="7382" y="2391"/>
                  </a:cubicBezTo>
                  <a:cubicBezTo>
                    <a:pt x="6942" y="2463"/>
                    <a:pt x="5989" y="2594"/>
                    <a:pt x="5978" y="2594"/>
                  </a:cubicBezTo>
                  <a:cubicBezTo>
                    <a:pt x="5882" y="2606"/>
                    <a:pt x="5823" y="2689"/>
                    <a:pt x="5835" y="2772"/>
                  </a:cubicBezTo>
                  <a:cubicBezTo>
                    <a:pt x="5858" y="2844"/>
                    <a:pt x="5918" y="2903"/>
                    <a:pt x="6001" y="2903"/>
                  </a:cubicBezTo>
                  <a:lnTo>
                    <a:pt x="6037" y="2903"/>
                  </a:lnTo>
                  <a:cubicBezTo>
                    <a:pt x="6049" y="2903"/>
                    <a:pt x="7001" y="2772"/>
                    <a:pt x="7442" y="2701"/>
                  </a:cubicBezTo>
                  <a:cubicBezTo>
                    <a:pt x="7859" y="2630"/>
                    <a:pt x="8014" y="2284"/>
                    <a:pt x="8037" y="2046"/>
                  </a:cubicBezTo>
                  <a:lnTo>
                    <a:pt x="9919" y="498"/>
                  </a:lnTo>
                  <a:cubicBezTo>
                    <a:pt x="10039" y="385"/>
                    <a:pt x="10193" y="287"/>
                    <a:pt x="10356" y="287"/>
                  </a:cubicBezTo>
                  <a:cubicBezTo>
                    <a:pt x="10451" y="287"/>
                    <a:pt x="10549" y="320"/>
                    <a:pt x="10645" y="403"/>
                  </a:cubicBezTo>
                  <a:cubicBezTo>
                    <a:pt x="10942" y="701"/>
                    <a:pt x="10681" y="1058"/>
                    <a:pt x="10597" y="1141"/>
                  </a:cubicBezTo>
                  <a:cubicBezTo>
                    <a:pt x="10526" y="1213"/>
                    <a:pt x="8240" y="3677"/>
                    <a:pt x="8240" y="3677"/>
                  </a:cubicBezTo>
                  <a:cubicBezTo>
                    <a:pt x="7906" y="4070"/>
                    <a:pt x="7466" y="4130"/>
                    <a:pt x="7263" y="4130"/>
                  </a:cubicBezTo>
                  <a:lnTo>
                    <a:pt x="6966" y="4130"/>
                  </a:lnTo>
                  <a:cubicBezTo>
                    <a:pt x="6882" y="4130"/>
                    <a:pt x="6811" y="4201"/>
                    <a:pt x="6811" y="4296"/>
                  </a:cubicBezTo>
                  <a:cubicBezTo>
                    <a:pt x="6811" y="4380"/>
                    <a:pt x="6882" y="4463"/>
                    <a:pt x="6966" y="4463"/>
                  </a:cubicBezTo>
                  <a:lnTo>
                    <a:pt x="7287" y="4463"/>
                  </a:lnTo>
                  <a:cubicBezTo>
                    <a:pt x="7502" y="4439"/>
                    <a:pt x="8061" y="4368"/>
                    <a:pt x="8478" y="3892"/>
                  </a:cubicBezTo>
                  <a:lnTo>
                    <a:pt x="10835" y="1344"/>
                  </a:lnTo>
                  <a:cubicBezTo>
                    <a:pt x="11062" y="1153"/>
                    <a:pt x="11300" y="629"/>
                    <a:pt x="10871" y="213"/>
                  </a:cubicBezTo>
                  <a:cubicBezTo>
                    <a:pt x="10706" y="62"/>
                    <a:pt x="10530" y="1"/>
                    <a:pt x="1035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7" name="Google Shape;447;p13"/>
          <p:cNvGrpSpPr/>
          <p:nvPr/>
        </p:nvGrpSpPr>
        <p:grpSpPr>
          <a:xfrm>
            <a:off x="8299917" y="8115300"/>
            <a:ext cx="878128" cy="859331"/>
            <a:chOff x="2753373" y="2902523"/>
            <a:chExt cx="347552" cy="325557"/>
          </a:xfrm>
        </p:grpSpPr>
        <p:sp>
          <p:nvSpPr>
            <p:cNvPr id="448" name="Google Shape;448;p13"/>
            <p:cNvSpPr/>
            <p:nvPr/>
          </p:nvSpPr>
          <p:spPr>
            <a:xfrm>
              <a:off x="2807962" y="3018575"/>
              <a:ext cx="86418" cy="29506"/>
            </a:xfrm>
            <a:custGeom>
              <a:rect b="b" l="l" r="r" t="t"/>
              <a:pathLst>
                <a:path extrusionOk="0" h="927" w="2715">
                  <a:moveTo>
                    <a:pt x="1070" y="0"/>
                  </a:moveTo>
                  <a:cubicBezTo>
                    <a:pt x="752" y="0"/>
                    <a:pt x="464" y="31"/>
                    <a:pt x="274" y="57"/>
                  </a:cubicBezTo>
                  <a:cubicBezTo>
                    <a:pt x="107" y="93"/>
                    <a:pt x="0" y="224"/>
                    <a:pt x="0" y="390"/>
                  </a:cubicBezTo>
                  <a:lnTo>
                    <a:pt x="0" y="759"/>
                  </a:lnTo>
                  <a:cubicBezTo>
                    <a:pt x="0" y="843"/>
                    <a:pt x="72" y="926"/>
                    <a:pt x="155" y="926"/>
                  </a:cubicBezTo>
                  <a:cubicBezTo>
                    <a:pt x="250" y="926"/>
                    <a:pt x="322" y="843"/>
                    <a:pt x="322" y="759"/>
                  </a:cubicBezTo>
                  <a:lnTo>
                    <a:pt x="322" y="390"/>
                  </a:lnTo>
                  <a:cubicBezTo>
                    <a:pt x="322" y="390"/>
                    <a:pt x="322" y="367"/>
                    <a:pt x="334" y="367"/>
                  </a:cubicBezTo>
                  <a:cubicBezTo>
                    <a:pt x="493" y="349"/>
                    <a:pt x="758" y="318"/>
                    <a:pt x="1059" y="318"/>
                  </a:cubicBezTo>
                  <a:cubicBezTo>
                    <a:pt x="1163" y="318"/>
                    <a:pt x="1271" y="322"/>
                    <a:pt x="1381" y="331"/>
                  </a:cubicBezTo>
                  <a:cubicBezTo>
                    <a:pt x="1870" y="355"/>
                    <a:pt x="2239" y="486"/>
                    <a:pt x="2453" y="700"/>
                  </a:cubicBezTo>
                  <a:cubicBezTo>
                    <a:pt x="2483" y="730"/>
                    <a:pt x="2524" y="745"/>
                    <a:pt x="2566" y="745"/>
                  </a:cubicBezTo>
                  <a:cubicBezTo>
                    <a:pt x="2608" y="745"/>
                    <a:pt x="2649" y="730"/>
                    <a:pt x="2679" y="700"/>
                  </a:cubicBezTo>
                  <a:cubicBezTo>
                    <a:pt x="2715" y="640"/>
                    <a:pt x="2715" y="533"/>
                    <a:pt x="2655" y="474"/>
                  </a:cubicBezTo>
                  <a:cubicBezTo>
                    <a:pt x="2276" y="95"/>
                    <a:pt x="1627" y="0"/>
                    <a:pt x="107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9" name="Google Shape;449;p13"/>
            <p:cNvSpPr/>
            <p:nvPr/>
          </p:nvSpPr>
          <p:spPr>
            <a:xfrm>
              <a:off x="2753373" y="2973376"/>
              <a:ext cx="195213" cy="254704"/>
            </a:xfrm>
            <a:custGeom>
              <a:rect b="b" l="l" r="r" t="t"/>
              <a:pathLst>
                <a:path extrusionOk="0" h="8002" w="6133">
                  <a:moveTo>
                    <a:pt x="4787" y="298"/>
                  </a:moveTo>
                  <a:lnTo>
                    <a:pt x="4787" y="1846"/>
                  </a:lnTo>
                  <a:cubicBezTo>
                    <a:pt x="4787" y="2084"/>
                    <a:pt x="4751" y="2310"/>
                    <a:pt x="4644" y="2513"/>
                  </a:cubicBezTo>
                  <a:cubicBezTo>
                    <a:pt x="4632" y="2537"/>
                    <a:pt x="4632" y="2560"/>
                    <a:pt x="4632" y="2596"/>
                  </a:cubicBezTo>
                  <a:lnTo>
                    <a:pt x="4632" y="3037"/>
                  </a:lnTo>
                  <a:cubicBezTo>
                    <a:pt x="4632" y="3465"/>
                    <a:pt x="4442" y="3870"/>
                    <a:pt x="4132" y="4168"/>
                  </a:cubicBezTo>
                  <a:cubicBezTo>
                    <a:pt x="3852" y="4437"/>
                    <a:pt x="3484" y="4590"/>
                    <a:pt x="3099" y="4590"/>
                  </a:cubicBezTo>
                  <a:cubicBezTo>
                    <a:pt x="3059" y="4590"/>
                    <a:pt x="3018" y="4588"/>
                    <a:pt x="2977" y="4584"/>
                  </a:cubicBezTo>
                  <a:cubicBezTo>
                    <a:pt x="2156" y="4525"/>
                    <a:pt x="1513" y="3811"/>
                    <a:pt x="1513" y="2977"/>
                  </a:cubicBezTo>
                  <a:lnTo>
                    <a:pt x="1513" y="2572"/>
                  </a:lnTo>
                  <a:cubicBezTo>
                    <a:pt x="1513" y="2549"/>
                    <a:pt x="1513" y="2537"/>
                    <a:pt x="1501" y="2501"/>
                  </a:cubicBezTo>
                  <a:cubicBezTo>
                    <a:pt x="1394" y="2298"/>
                    <a:pt x="1358" y="2072"/>
                    <a:pt x="1358" y="1834"/>
                  </a:cubicBezTo>
                  <a:lnTo>
                    <a:pt x="1358" y="1513"/>
                  </a:lnTo>
                  <a:cubicBezTo>
                    <a:pt x="1358" y="834"/>
                    <a:pt x="1894" y="298"/>
                    <a:pt x="2561" y="298"/>
                  </a:cubicBezTo>
                  <a:close/>
                  <a:moveTo>
                    <a:pt x="3930" y="4680"/>
                  </a:moveTo>
                  <a:lnTo>
                    <a:pt x="3930" y="4977"/>
                  </a:lnTo>
                  <a:lnTo>
                    <a:pt x="3061" y="5573"/>
                  </a:lnTo>
                  <a:lnTo>
                    <a:pt x="2203" y="4977"/>
                  </a:lnTo>
                  <a:lnTo>
                    <a:pt x="2203" y="4680"/>
                  </a:lnTo>
                  <a:cubicBezTo>
                    <a:pt x="2430" y="4799"/>
                    <a:pt x="2680" y="4870"/>
                    <a:pt x="2942" y="4882"/>
                  </a:cubicBezTo>
                  <a:lnTo>
                    <a:pt x="3061" y="4882"/>
                  </a:lnTo>
                  <a:cubicBezTo>
                    <a:pt x="3358" y="4882"/>
                    <a:pt x="3656" y="4811"/>
                    <a:pt x="3930" y="4680"/>
                  </a:cubicBezTo>
                  <a:close/>
                  <a:moveTo>
                    <a:pt x="2084" y="5275"/>
                  </a:moveTo>
                  <a:lnTo>
                    <a:pt x="2846" y="5787"/>
                  </a:lnTo>
                  <a:lnTo>
                    <a:pt x="2430" y="6180"/>
                  </a:lnTo>
                  <a:lnTo>
                    <a:pt x="2406" y="6180"/>
                  </a:lnTo>
                  <a:lnTo>
                    <a:pt x="1918" y="5442"/>
                  </a:lnTo>
                  <a:lnTo>
                    <a:pt x="2084" y="5275"/>
                  </a:lnTo>
                  <a:close/>
                  <a:moveTo>
                    <a:pt x="4073" y="5251"/>
                  </a:moveTo>
                  <a:lnTo>
                    <a:pt x="4239" y="5418"/>
                  </a:lnTo>
                  <a:lnTo>
                    <a:pt x="3739" y="6180"/>
                  </a:lnTo>
                  <a:lnTo>
                    <a:pt x="3716" y="6180"/>
                  </a:lnTo>
                  <a:lnTo>
                    <a:pt x="3311" y="5775"/>
                  </a:lnTo>
                  <a:lnTo>
                    <a:pt x="4073" y="5251"/>
                  </a:lnTo>
                  <a:close/>
                  <a:moveTo>
                    <a:pt x="2549" y="1"/>
                  </a:moveTo>
                  <a:cubicBezTo>
                    <a:pt x="1715" y="1"/>
                    <a:pt x="1025" y="691"/>
                    <a:pt x="1025" y="1525"/>
                  </a:cubicBezTo>
                  <a:lnTo>
                    <a:pt x="1025" y="1870"/>
                  </a:lnTo>
                  <a:cubicBezTo>
                    <a:pt x="1025" y="2132"/>
                    <a:pt x="1084" y="2406"/>
                    <a:pt x="1191" y="2644"/>
                  </a:cubicBezTo>
                  <a:lnTo>
                    <a:pt x="1191" y="3001"/>
                  </a:lnTo>
                  <a:cubicBezTo>
                    <a:pt x="1191" y="3596"/>
                    <a:pt x="1453" y="4132"/>
                    <a:pt x="1870" y="4489"/>
                  </a:cubicBezTo>
                  <a:lnTo>
                    <a:pt x="1870" y="5025"/>
                  </a:lnTo>
                  <a:lnTo>
                    <a:pt x="1572" y="5335"/>
                  </a:lnTo>
                  <a:cubicBezTo>
                    <a:pt x="1549" y="5358"/>
                    <a:pt x="1537" y="5406"/>
                    <a:pt x="1537" y="5454"/>
                  </a:cubicBezTo>
                  <a:lnTo>
                    <a:pt x="548" y="5811"/>
                  </a:lnTo>
                  <a:cubicBezTo>
                    <a:pt x="227" y="5930"/>
                    <a:pt x="1" y="6239"/>
                    <a:pt x="1" y="6597"/>
                  </a:cubicBezTo>
                  <a:lnTo>
                    <a:pt x="1" y="7823"/>
                  </a:lnTo>
                  <a:cubicBezTo>
                    <a:pt x="1" y="7906"/>
                    <a:pt x="72" y="7978"/>
                    <a:pt x="167" y="7978"/>
                  </a:cubicBezTo>
                  <a:cubicBezTo>
                    <a:pt x="251" y="7978"/>
                    <a:pt x="322" y="7906"/>
                    <a:pt x="322" y="7823"/>
                  </a:cubicBezTo>
                  <a:lnTo>
                    <a:pt x="322" y="6597"/>
                  </a:lnTo>
                  <a:cubicBezTo>
                    <a:pt x="322" y="6370"/>
                    <a:pt x="465" y="6180"/>
                    <a:pt x="668" y="6108"/>
                  </a:cubicBezTo>
                  <a:lnTo>
                    <a:pt x="1691" y="5739"/>
                  </a:lnTo>
                  <a:lnTo>
                    <a:pt x="2120" y="6370"/>
                  </a:lnTo>
                  <a:cubicBezTo>
                    <a:pt x="2180" y="6466"/>
                    <a:pt x="2275" y="6501"/>
                    <a:pt x="2358" y="6525"/>
                  </a:cubicBezTo>
                  <a:lnTo>
                    <a:pt x="2394" y="6525"/>
                  </a:lnTo>
                  <a:cubicBezTo>
                    <a:pt x="2489" y="6525"/>
                    <a:pt x="2561" y="6489"/>
                    <a:pt x="2632" y="6430"/>
                  </a:cubicBezTo>
                  <a:lnTo>
                    <a:pt x="2906" y="6168"/>
                  </a:lnTo>
                  <a:lnTo>
                    <a:pt x="2906" y="7835"/>
                  </a:lnTo>
                  <a:cubicBezTo>
                    <a:pt x="2906" y="7918"/>
                    <a:pt x="2977" y="8002"/>
                    <a:pt x="3061" y="8002"/>
                  </a:cubicBezTo>
                  <a:cubicBezTo>
                    <a:pt x="3156" y="8002"/>
                    <a:pt x="3227" y="7918"/>
                    <a:pt x="3227" y="7835"/>
                  </a:cubicBezTo>
                  <a:lnTo>
                    <a:pt x="3227" y="6168"/>
                  </a:lnTo>
                  <a:lnTo>
                    <a:pt x="3501" y="6430"/>
                  </a:lnTo>
                  <a:cubicBezTo>
                    <a:pt x="3549" y="6489"/>
                    <a:pt x="3644" y="6525"/>
                    <a:pt x="3739" y="6525"/>
                  </a:cubicBezTo>
                  <a:lnTo>
                    <a:pt x="3763" y="6525"/>
                  </a:lnTo>
                  <a:cubicBezTo>
                    <a:pt x="3870" y="6501"/>
                    <a:pt x="3954" y="6466"/>
                    <a:pt x="4001" y="6370"/>
                  </a:cubicBezTo>
                  <a:lnTo>
                    <a:pt x="4430" y="5739"/>
                  </a:lnTo>
                  <a:lnTo>
                    <a:pt x="5466" y="6108"/>
                  </a:lnTo>
                  <a:cubicBezTo>
                    <a:pt x="5668" y="6180"/>
                    <a:pt x="5799" y="6370"/>
                    <a:pt x="5799" y="6597"/>
                  </a:cubicBezTo>
                  <a:lnTo>
                    <a:pt x="5799" y="7823"/>
                  </a:lnTo>
                  <a:cubicBezTo>
                    <a:pt x="5799" y="7906"/>
                    <a:pt x="5882" y="7978"/>
                    <a:pt x="5966" y="7978"/>
                  </a:cubicBezTo>
                  <a:cubicBezTo>
                    <a:pt x="6061" y="7978"/>
                    <a:pt x="6133" y="7906"/>
                    <a:pt x="6133" y="7823"/>
                  </a:cubicBezTo>
                  <a:lnTo>
                    <a:pt x="6133" y="6597"/>
                  </a:lnTo>
                  <a:cubicBezTo>
                    <a:pt x="6121" y="6228"/>
                    <a:pt x="5894" y="5918"/>
                    <a:pt x="5561" y="5787"/>
                  </a:cubicBezTo>
                  <a:lnTo>
                    <a:pt x="4585" y="5442"/>
                  </a:lnTo>
                  <a:cubicBezTo>
                    <a:pt x="4585" y="5394"/>
                    <a:pt x="4561" y="5346"/>
                    <a:pt x="4537" y="5323"/>
                  </a:cubicBezTo>
                  <a:lnTo>
                    <a:pt x="4239" y="5001"/>
                  </a:lnTo>
                  <a:lnTo>
                    <a:pt x="4239" y="4489"/>
                  </a:lnTo>
                  <a:cubicBezTo>
                    <a:pt x="4275" y="4454"/>
                    <a:pt x="4299" y="4430"/>
                    <a:pt x="4335" y="4406"/>
                  </a:cubicBezTo>
                  <a:cubicBezTo>
                    <a:pt x="4704" y="4049"/>
                    <a:pt x="4930" y="3561"/>
                    <a:pt x="4930" y="3060"/>
                  </a:cubicBezTo>
                  <a:lnTo>
                    <a:pt x="4930" y="2644"/>
                  </a:lnTo>
                  <a:cubicBezTo>
                    <a:pt x="5037" y="2382"/>
                    <a:pt x="5085" y="2132"/>
                    <a:pt x="5085" y="1870"/>
                  </a:cubicBezTo>
                  <a:lnTo>
                    <a:pt x="5085" y="167"/>
                  </a:lnTo>
                  <a:cubicBezTo>
                    <a:pt x="5085" y="84"/>
                    <a:pt x="5013" y="1"/>
                    <a:pt x="493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0" name="Google Shape;450;p13"/>
            <p:cNvSpPr/>
            <p:nvPr/>
          </p:nvSpPr>
          <p:spPr>
            <a:xfrm>
              <a:off x="2905361" y="3195072"/>
              <a:ext cx="10631" cy="32244"/>
            </a:xfrm>
            <a:custGeom>
              <a:rect b="b" l="l" r="r" t="t"/>
              <a:pathLst>
                <a:path extrusionOk="0" h="1013" w="334">
                  <a:moveTo>
                    <a:pt x="167" y="1"/>
                  </a:moveTo>
                  <a:cubicBezTo>
                    <a:pt x="72" y="1"/>
                    <a:pt x="0" y="84"/>
                    <a:pt x="0" y="167"/>
                  </a:cubicBezTo>
                  <a:lnTo>
                    <a:pt x="0" y="858"/>
                  </a:lnTo>
                  <a:cubicBezTo>
                    <a:pt x="0" y="941"/>
                    <a:pt x="72" y="1013"/>
                    <a:pt x="167" y="1013"/>
                  </a:cubicBezTo>
                  <a:cubicBezTo>
                    <a:pt x="250" y="1013"/>
                    <a:pt x="334" y="941"/>
                    <a:pt x="334" y="858"/>
                  </a:cubicBezTo>
                  <a:lnTo>
                    <a:pt x="334" y="167"/>
                  </a:lnTo>
                  <a:cubicBezTo>
                    <a:pt x="334" y="60"/>
                    <a:pt x="250" y="1"/>
                    <a:pt x="1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1" name="Google Shape;451;p13"/>
            <p:cNvSpPr/>
            <p:nvPr/>
          </p:nvSpPr>
          <p:spPr>
            <a:xfrm>
              <a:off x="2939069" y="2934735"/>
              <a:ext cx="161856" cy="169049"/>
            </a:xfrm>
            <a:custGeom>
              <a:rect b="b" l="l" r="r" t="t"/>
              <a:pathLst>
                <a:path extrusionOk="0" h="5311" w="5085">
                  <a:moveTo>
                    <a:pt x="668" y="0"/>
                  </a:moveTo>
                  <a:cubicBezTo>
                    <a:pt x="299" y="0"/>
                    <a:pt x="1" y="298"/>
                    <a:pt x="1" y="667"/>
                  </a:cubicBezTo>
                  <a:lnTo>
                    <a:pt x="1" y="3393"/>
                  </a:lnTo>
                  <a:cubicBezTo>
                    <a:pt x="1" y="3763"/>
                    <a:pt x="299" y="4060"/>
                    <a:pt x="668" y="4060"/>
                  </a:cubicBezTo>
                  <a:lnTo>
                    <a:pt x="977" y="4060"/>
                  </a:lnTo>
                  <a:lnTo>
                    <a:pt x="739" y="5001"/>
                  </a:lnTo>
                  <a:cubicBezTo>
                    <a:pt x="715" y="5108"/>
                    <a:pt x="763" y="5203"/>
                    <a:pt x="846" y="5263"/>
                  </a:cubicBezTo>
                  <a:cubicBezTo>
                    <a:pt x="894" y="5298"/>
                    <a:pt x="941" y="5310"/>
                    <a:pt x="977" y="5310"/>
                  </a:cubicBezTo>
                  <a:cubicBezTo>
                    <a:pt x="1025" y="5310"/>
                    <a:pt x="1084" y="5298"/>
                    <a:pt x="1132" y="5263"/>
                  </a:cubicBezTo>
                  <a:lnTo>
                    <a:pt x="2763" y="4072"/>
                  </a:lnTo>
                  <a:lnTo>
                    <a:pt x="4418" y="4072"/>
                  </a:lnTo>
                  <a:cubicBezTo>
                    <a:pt x="4787" y="4072"/>
                    <a:pt x="5085" y="3774"/>
                    <a:pt x="5085" y="3405"/>
                  </a:cubicBezTo>
                  <a:lnTo>
                    <a:pt x="5085" y="679"/>
                  </a:lnTo>
                  <a:cubicBezTo>
                    <a:pt x="5061" y="298"/>
                    <a:pt x="4751" y="0"/>
                    <a:pt x="4394" y="0"/>
                  </a:cubicBezTo>
                  <a:lnTo>
                    <a:pt x="3537" y="0"/>
                  </a:lnTo>
                  <a:cubicBezTo>
                    <a:pt x="3454" y="0"/>
                    <a:pt x="3370" y="72"/>
                    <a:pt x="3370" y="167"/>
                  </a:cubicBezTo>
                  <a:cubicBezTo>
                    <a:pt x="3370" y="250"/>
                    <a:pt x="3454" y="322"/>
                    <a:pt x="3537" y="322"/>
                  </a:cubicBezTo>
                  <a:lnTo>
                    <a:pt x="4394" y="322"/>
                  </a:lnTo>
                  <a:cubicBezTo>
                    <a:pt x="4585" y="322"/>
                    <a:pt x="4751" y="488"/>
                    <a:pt x="4751" y="679"/>
                  </a:cubicBezTo>
                  <a:lnTo>
                    <a:pt x="4751" y="3405"/>
                  </a:lnTo>
                  <a:cubicBezTo>
                    <a:pt x="4751" y="3596"/>
                    <a:pt x="4585" y="3763"/>
                    <a:pt x="4394" y="3763"/>
                  </a:cubicBezTo>
                  <a:lnTo>
                    <a:pt x="2692" y="3763"/>
                  </a:lnTo>
                  <a:cubicBezTo>
                    <a:pt x="2668" y="3763"/>
                    <a:pt x="2632" y="3774"/>
                    <a:pt x="2608" y="3798"/>
                  </a:cubicBezTo>
                  <a:lnTo>
                    <a:pt x="1084" y="4894"/>
                  </a:lnTo>
                  <a:lnTo>
                    <a:pt x="1322" y="3953"/>
                  </a:lnTo>
                  <a:cubicBezTo>
                    <a:pt x="1334" y="3917"/>
                    <a:pt x="1322" y="3858"/>
                    <a:pt x="1287" y="3822"/>
                  </a:cubicBezTo>
                  <a:cubicBezTo>
                    <a:pt x="1263" y="3774"/>
                    <a:pt x="1215" y="3763"/>
                    <a:pt x="1180" y="3763"/>
                  </a:cubicBezTo>
                  <a:lnTo>
                    <a:pt x="668" y="3763"/>
                  </a:lnTo>
                  <a:cubicBezTo>
                    <a:pt x="477" y="3763"/>
                    <a:pt x="310" y="3596"/>
                    <a:pt x="310" y="3405"/>
                  </a:cubicBezTo>
                  <a:lnTo>
                    <a:pt x="310" y="679"/>
                  </a:lnTo>
                  <a:cubicBezTo>
                    <a:pt x="310" y="488"/>
                    <a:pt x="477" y="322"/>
                    <a:pt x="668" y="322"/>
                  </a:cubicBezTo>
                  <a:lnTo>
                    <a:pt x="1513" y="322"/>
                  </a:lnTo>
                  <a:cubicBezTo>
                    <a:pt x="1608" y="322"/>
                    <a:pt x="1680" y="250"/>
                    <a:pt x="1680" y="167"/>
                  </a:cubicBezTo>
                  <a:cubicBezTo>
                    <a:pt x="1680" y="72"/>
                    <a:pt x="1608" y="0"/>
                    <a:pt x="151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2" name="Google Shape;452;p13"/>
            <p:cNvSpPr/>
            <p:nvPr/>
          </p:nvSpPr>
          <p:spPr>
            <a:xfrm>
              <a:off x="3002379" y="2902523"/>
              <a:ext cx="32244" cy="96668"/>
            </a:xfrm>
            <a:custGeom>
              <a:rect b="b" l="l" r="r" t="t"/>
              <a:pathLst>
                <a:path extrusionOk="0" h="3037" w="1013">
                  <a:moveTo>
                    <a:pt x="691" y="310"/>
                  </a:moveTo>
                  <a:lnTo>
                    <a:pt x="536" y="2727"/>
                  </a:lnTo>
                  <a:lnTo>
                    <a:pt x="500" y="2727"/>
                  </a:lnTo>
                  <a:lnTo>
                    <a:pt x="345" y="310"/>
                  </a:lnTo>
                  <a:close/>
                  <a:moveTo>
                    <a:pt x="167" y="0"/>
                  </a:moveTo>
                  <a:cubicBezTo>
                    <a:pt x="119" y="0"/>
                    <a:pt x="84" y="12"/>
                    <a:pt x="48" y="48"/>
                  </a:cubicBezTo>
                  <a:cubicBezTo>
                    <a:pt x="24" y="72"/>
                    <a:pt x="0" y="119"/>
                    <a:pt x="0" y="167"/>
                  </a:cubicBezTo>
                  <a:lnTo>
                    <a:pt x="167" y="2881"/>
                  </a:lnTo>
                  <a:cubicBezTo>
                    <a:pt x="167" y="2977"/>
                    <a:pt x="238" y="3036"/>
                    <a:pt x="334" y="3036"/>
                  </a:cubicBezTo>
                  <a:lnTo>
                    <a:pt x="679" y="3036"/>
                  </a:lnTo>
                  <a:cubicBezTo>
                    <a:pt x="762" y="3036"/>
                    <a:pt x="822" y="2977"/>
                    <a:pt x="834" y="2881"/>
                  </a:cubicBezTo>
                  <a:lnTo>
                    <a:pt x="1000" y="167"/>
                  </a:lnTo>
                  <a:cubicBezTo>
                    <a:pt x="1012" y="119"/>
                    <a:pt x="1000" y="72"/>
                    <a:pt x="977" y="48"/>
                  </a:cubicBezTo>
                  <a:cubicBezTo>
                    <a:pt x="941" y="12"/>
                    <a:pt x="893" y="0"/>
                    <a:pt x="8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3" name="Google Shape;453;p13"/>
            <p:cNvSpPr/>
            <p:nvPr/>
          </p:nvSpPr>
          <p:spPr>
            <a:xfrm>
              <a:off x="3003143" y="3005206"/>
              <a:ext cx="32244" cy="32244"/>
            </a:xfrm>
            <a:custGeom>
              <a:rect b="b" l="l" r="r" t="t"/>
              <a:pathLst>
                <a:path extrusionOk="0" h="1013" w="1013">
                  <a:moveTo>
                    <a:pt x="500" y="322"/>
                  </a:moveTo>
                  <a:cubicBezTo>
                    <a:pt x="607" y="322"/>
                    <a:pt x="679" y="406"/>
                    <a:pt x="679" y="513"/>
                  </a:cubicBezTo>
                  <a:cubicBezTo>
                    <a:pt x="679" y="608"/>
                    <a:pt x="595" y="691"/>
                    <a:pt x="500" y="691"/>
                  </a:cubicBezTo>
                  <a:cubicBezTo>
                    <a:pt x="393" y="691"/>
                    <a:pt x="321" y="608"/>
                    <a:pt x="321" y="513"/>
                  </a:cubicBezTo>
                  <a:cubicBezTo>
                    <a:pt x="321" y="406"/>
                    <a:pt x="393" y="322"/>
                    <a:pt x="500" y="322"/>
                  </a:cubicBezTo>
                  <a:close/>
                  <a:moveTo>
                    <a:pt x="500" y="1"/>
                  </a:moveTo>
                  <a:cubicBezTo>
                    <a:pt x="214" y="1"/>
                    <a:pt x="0" y="227"/>
                    <a:pt x="0" y="513"/>
                  </a:cubicBezTo>
                  <a:cubicBezTo>
                    <a:pt x="0" y="787"/>
                    <a:pt x="214" y="1013"/>
                    <a:pt x="500" y="1013"/>
                  </a:cubicBezTo>
                  <a:cubicBezTo>
                    <a:pt x="786" y="1013"/>
                    <a:pt x="1012" y="787"/>
                    <a:pt x="1012" y="513"/>
                  </a:cubicBezTo>
                  <a:cubicBezTo>
                    <a:pt x="988" y="227"/>
                    <a:pt x="762" y="1"/>
                    <a:pt x="50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54" name="Google Shape;454;p13"/>
          <p:cNvSpPr txBox="1"/>
          <p:nvPr/>
        </p:nvSpPr>
        <p:spPr>
          <a:xfrm>
            <a:off x="9525000" y="876300"/>
            <a:ext cx="8267700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US"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The smallest</a:t>
            </a:r>
            <a:r>
              <a:rPr lang="en-US"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number of customers </a:t>
            </a:r>
            <a:r>
              <a:rPr b="1" lang="en-US"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(99 customers).</a:t>
            </a:r>
            <a:endParaRPr/>
          </a:p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Total </a:t>
            </a:r>
            <a:r>
              <a:rPr b="1" lang="en-US"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revenue</a:t>
            </a:r>
            <a:r>
              <a:rPr lang="en-US"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is quite large </a:t>
            </a:r>
            <a:r>
              <a:rPr b="1" lang="en-US"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($3.2 billion).</a:t>
            </a:r>
            <a:endParaRPr/>
          </a:p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The highest average monetary value per customer ($32.32 million). 👉 </a:t>
            </a:r>
            <a:r>
              <a:rPr b="1" lang="en-US"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Characteristics: Few customers but very valuable because their average spending is higher than others.</a:t>
            </a:r>
            <a:endParaRPr/>
          </a:p>
        </p:txBody>
      </p:sp>
      <p:sp>
        <p:nvSpPr>
          <p:cNvPr id="455" name="Google Shape;455;p13"/>
          <p:cNvSpPr txBox="1"/>
          <p:nvPr/>
        </p:nvSpPr>
        <p:spPr>
          <a:xfrm>
            <a:off x="9601200" y="495300"/>
            <a:ext cx="79248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Cluster 2 (VIP / High Value Customers)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56" name="Google Shape;456;p13"/>
          <p:cNvSpPr txBox="1"/>
          <p:nvPr/>
        </p:nvSpPr>
        <p:spPr>
          <a:xfrm>
            <a:off x="9601200" y="4610100"/>
            <a:ext cx="8191500" cy="18466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US"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Largest</a:t>
            </a:r>
            <a:r>
              <a:rPr lang="en-US"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number of customers </a:t>
            </a:r>
            <a:r>
              <a:rPr b="1" lang="en-US"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(452 ​​customers)</a:t>
            </a:r>
            <a:r>
              <a:rPr lang="en-US"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US"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Largest revenue</a:t>
            </a:r>
            <a:r>
              <a:rPr lang="en-US"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(</a:t>
            </a:r>
            <a:r>
              <a:rPr b="1" lang="en-US"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$8.05 billion</a:t>
            </a:r>
            <a:r>
              <a:rPr lang="en-US"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) due to high customer base.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Average Monetary per customer is still moderate ($17.86 million). 👉</a:t>
            </a:r>
            <a:r>
              <a:rPr b="1" lang="en-US"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Characteristics: Many customers with moderate contribution.</a:t>
            </a:r>
            <a:endParaRPr/>
          </a:p>
        </p:txBody>
      </p:sp>
      <p:sp>
        <p:nvSpPr>
          <p:cNvPr id="457" name="Google Shape;457;p13"/>
          <p:cNvSpPr txBox="1"/>
          <p:nvPr/>
        </p:nvSpPr>
        <p:spPr>
          <a:xfrm>
            <a:off x="9677400" y="7711976"/>
            <a:ext cx="8115300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Decent customer base </a:t>
            </a:r>
            <a:r>
              <a:rPr b="1" lang="en-US"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(200 customers).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US"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Revenue</a:t>
            </a:r>
            <a:r>
              <a:rPr lang="en-US"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is relatively </a:t>
            </a:r>
            <a:r>
              <a:rPr b="1" lang="en-US"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small ($0.68 billion)</a:t>
            </a:r>
            <a:r>
              <a:rPr lang="en-US"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Lowest average monetary ($3.24 million). </a:t>
            </a:r>
            <a:endParaRPr sz="2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👉 Characteristics: </a:t>
            </a:r>
            <a:r>
              <a:rPr b="1" lang="en-US"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low-value customers, possibly disloyal/low volume.</a:t>
            </a:r>
            <a:endParaRPr/>
          </a:p>
        </p:txBody>
      </p:sp>
      <p:sp>
        <p:nvSpPr>
          <p:cNvPr id="458" name="Google Shape;458;p13"/>
          <p:cNvSpPr txBox="1"/>
          <p:nvPr/>
        </p:nvSpPr>
        <p:spPr>
          <a:xfrm>
            <a:off x="9582150" y="3859768"/>
            <a:ext cx="79248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Cluster 0 (Mass Customers, Mid Value)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59" name="Google Shape;459;p13"/>
          <p:cNvSpPr txBox="1"/>
          <p:nvPr/>
        </p:nvSpPr>
        <p:spPr>
          <a:xfrm>
            <a:off x="9601200" y="7279660"/>
            <a:ext cx="79248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Cluster 1 (Low Value Customers)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14"/>
          <p:cNvSpPr txBox="1"/>
          <p:nvPr/>
        </p:nvSpPr>
        <p:spPr>
          <a:xfrm>
            <a:off x="17259300" y="-144661"/>
            <a:ext cx="1028700" cy="10431661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47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4"/>
          <p:cNvSpPr/>
          <p:nvPr/>
        </p:nvSpPr>
        <p:spPr>
          <a:xfrm>
            <a:off x="996359" y="523430"/>
            <a:ext cx="2948212" cy="748366"/>
          </a:xfrm>
          <a:custGeom>
            <a:rect b="b" l="l" r="r" t="t"/>
            <a:pathLst>
              <a:path extrusionOk="0" h="748366" w="2948212">
                <a:moveTo>
                  <a:pt x="0" y="0"/>
                </a:moveTo>
                <a:lnTo>
                  <a:pt x="2948212" y="0"/>
                </a:lnTo>
                <a:lnTo>
                  <a:pt x="2948212" y="748365"/>
                </a:lnTo>
                <a:lnTo>
                  <a:pt x="0" y="7483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66" name="Google Shape;466;p14"/>
          <p:cNvSpPr/>
          <p:nvPr/>
        </p:nvSpPr>
        <p:spPr>
          <a:xfrm>
            <a:off x="13106400" y="525693"/>
            <a:ext cx="2948212" cy="748366"/>
          </a:xfrm>
          <a:custGeom>
            <a:rect b="b" l="l" r="r" t="t"/>
            <a:pathLst>
              <a:path extrusionOk="0" h="748366" w="2948212">
                <a:moveTo>
                  <a:pt x="0" y="0"/>
                </a:moveTo>
                <a:lnTo>
                  <a:pt x="2948212" y="0"/>
                </a:lnTo>
                <a:lnTo>
                  <a:pt x="2948212" y="748365"/>
                </a:lnTo>
                <a:lnTo>
                  <a:pt x="0" y="7483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67" name="Google Shape;467;p14"/>
          <p:cNvGrpSpPr/>
          <p:nvPr/>
        </p:nvGrpSpPr>
        <p:grpSpPr>
          <a:xfrm>
            <a:off x="501198" y="-1315674"/>
            <a:ext cx="10910174" cy="5179466"/>
            <a:chOff x="-37277" y="-38100"/>
            <a:chExt cx="1914569" cy="1840225"/>
          </a:xfrm>
        </p:grpSpPr>
        <p:sp>
          <p:nvSpPr>
            <p:cNvPr id="468" name="Google Shape;468;p14"/>
            <p:cNvSpPr/>
            <p:nvPr/>
          </p:nvSpPr>
          <p:spPr>
            <a:xfrm>
              <a:off x="-37277" y="1120315"/>
              <a:ext cx="1914569" cy="681810"/>
            </a:xfrm>
            <a:custGeom>
              <a:rect b="b" l="l" r="r" t="t"/>
              <a:pathLst>
                <a:path extrusionOk="0" h="1667455" w="1877292">
                  <a:moveTo>
                    <a:pt x="55394" y="0"/>
                  </a:moveTo>
                  <a:lnTo>
                    <a:pt x="1821898" y="0"/>
                  </a:lnTo>
                  <a:cubicBezTo>
                    <a:pt x="1852491" y="0"/>
                    <a:pt x="1877292" y="24801"/>
                    <a:pt x="1877292" y="55394"/>
                  </a:cubicBezTo>
                  <a:lnTo>
                    <a:pt x="1877292" y="1612061"/>
                  </a:lnTo>
                  <a:cubicBezTo>
                    <a:pt x="1877292" y="1626752"/>
                    <a:pt x="1871456" y="1640842"/>
                    <a:pt x="1861068" y="1651230"/>
                  </a:cubicBezTo>
                  <a:cubicBezTo>
                    <a:pt x="1850679" y="1661619"/>
                    <a:pt x="1836590" y="1667455"/>
                    <a:pt x="1821898" y="1667455"/>
                  </a:cubicBezTo>
                  <a:lnTo>
                    <a:pt x="55394" y="1667455"/>
                  </a:lnTo>
                  <a:cubicBezTo>
                    <a:pt x="24801" y="1667455"/>
                    <a:pt x="0" y="1642654"/>
                    <a:pt x="0" y="1612061"/>
                  </a:cubicBezTo>
                  <a:lnTo>
                    <a:pt x="0" y="55394"/>
                  </a:lnTo>
                  <a:cubicBezTo>
                    <a:pt x="0" y="40702"/>
                    <a:pt x="5836" y="26613"/>
                    <a:pt x="16224" y="16224"/>
                  </a:cubicBezTo>
                  <a:cubicBezTo>
                    <a:pt x="26613" y="5836"/>
                    <a:pt x="40702" y="0"/>
                    <a:pt x="55394" y="0"/>
                  </a:cubicBezTo>
                  <a:close/>
                </a:path>
              </a:pathLst>
            </a:custGeom>
            <a:solidFill>
              <a:srgbClr val="41A3A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14"/>
            <p:cNvSpPr txBox="1"/>
            <p:nvPr/>
          </p:nvSpPr>
          <p:spPr>
            <a:xfrm>
              <a:off x="0" y="-38100"/>
              <a:ext cx="1877292" cy="17055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470" name="Google Shape;470;p14"/>
          <p:cNvGraphicFramePr/>
          <p:nvPr/>
        </p:nvGraphicFramePr>
        <p:xfrm>
          <a:off x="708184" y="227330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{3544428E-F410-42F9-ADE3-3E539B698486}</a:tableStyleId>
              </a:tblPr>
              <a:tblGrid>
                <a:gridCol w="1120625"/>
                <a:gridCol w="2209800"/>
                <a:gridCol w="2362200"/>
                <a:gridCol w="1828800"/>
                <a:gridCol w="2514600"/>
              </a:tblGrid>
              <a:tr h="472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/>
                        <a:t>Cluster</a:t>
                      </a:r>
                      <a:endParaRPr b="0" i="0" sz="2000" u="none" strike="noStrike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6350" marB="0" marR="6350" marL="63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/>
                        <a:t>Customer Count</a:t>
                      </a:r>
                      <a:endParaRPr b="0" i="0" sz="2000" u="none" strike="noStrike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6350" marB="0" marR="6350" marL="63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/>
                        <a:t>Avg Frequency</a:t>
                      </a:r>
                      <a:endParaRPr b="0" i="0" sz="2000" u="none" strike="noStrike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6350" marB="0" marR="6350" marL="63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/>
                        <a:t>Avg Monetary</a:t>
                      </a:r>
                      <a:endParaRPr b="0" i="0" sz="2000" u="none" strike="noStrike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6350" marB="0" marR="6350" marL="63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/>
                        <a:t>Total Revenue</a:t>
                      </a:r>
                      <a:endParaRPr b="0" i="0" sz="2000" u="none" strike="noStrike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6350" marB="0" marR="6350" marL="6350" anchor="ctr"/>
                </a:tc>
              </a:tr>
              <a:tr h="184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/>
                        <a:t>0</a:t>
                      </a:r>
                      <a:endParaRPr b="0" i="0" sz="2000" u="none" strike="noStrike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/>
                        <a:t>452</a:t>
                      </a:r>
                      <a:endParaRPr b="0" i="0" sz="2000" u="none" strike="noStrike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/>
                        <a:t>381.79</a:t>
                      </a:r>
                      <a:endParaRPr b="0" i="0" sz="2000" u="none" strike="noStrike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/>
                        <a:t>$17.830.673</a:t>
                      </a:r>
                      <a:endParaRPr b="0" i="0" sz="2000" u="none" strike="noStrike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/>
                        <a:t>$8.059.464.442</a:t>
                      </a:r>
                      <a:endParaRPr b="0" i="0" sz="2000" u="none" strike="noStrike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6350" marB="0" marR="6350" marL="6350" anchor="b"/>
                </a:tc>
              </a:tr>
              <a:tr h="184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/>
                        <a:t>1</a:t>
                      </a:r>
                      <a:endParaRPr b="0" i="0" sz="2000" u="none" strike="noStrike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/>
                        <a:t>200</a:t>
                      </a:r>
                      <a:endParaRPr b="0" i="0" sz="2000" u="none" strike="noStrike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/>
                        <a:t>202.32</a:t>
                      </a:r>
                      <a:endParaRPr b="0" i="0" sz="2000" u="none" strike="noStrike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/>
                        <a:t>$3.405.283</a:t>
                      </a:r>
                      <a:endParaRPr b="0" i="0" sz="2000" u="none" strike="noStrike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/>
                        <a:t>$681.056.671</a:t>
                      </a:r>
                      <a:endParaRPr b="0" i="0" sz="2000" u="none" strike="noStrike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6350" marB="0" marR="6350" marL="6350" anchor="b"/>
                </a:tc>
              </a:tr>
              <a:tr h="184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/>
                        <a:t>2</a:t>
                      </a:r>
                      <a:endParaRPr b="0" i="0" sz="2000" u="none" strike="noStrike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/>
                        <a:t>99</a:t>
                      </a:r>
                      <a:endParaRPr b="0" i="0" sz="2000" u="none" strike="noStrike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/>
                        <a:t>387.99</a:t>
                      </a:r>
                      <a:endParaRPr b="0" i="0" sz="2000" u="none" strike="noStrike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/>
                        <a:t>$32.373.092</a:t>
                      </a:r>
                      <a:endParaRPr b="0" i="0" sz="2000" u="none" strike="noStrike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/>
                        <a:t>$3.204.936.177</a:t>
                      </a:r>
                      <a:endParaRPr b="0" i="0" sz="2000" u="none" strike="noStrike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6350" marB="0" marR="6350" marL="6350" anchor="b"/>
                </a:tc>
              </a:tr>
            </a:tbl>
          </a:graphicData>
        </a:graphic>
      </p:graphicFrame>
      <p:sp>
        <p:nvSpPr>
          <p:cNvPr id="471" name="Google Shape;471;p14"/>
          <p:cNvSpPr/>
          <p:nvPr/>
        </p:nvSpPr>
        <p:spPr>
          <a:xfrm>
            <a:off x="684000" y="4000499"/>
            <a:ext cx="6555000" cy="6181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6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4B4545"/>
                </a:solidFill>
                <a:latin typeface="Open Sans"/>
                <a:ea typeface="Open Sans"/>
                <a:cs typeface="Open Sans"/>
                <a:sym typeface="Open Sans"/>
              </a:rPr>
              <a:t>Trend Line sales  Cluster by month &amp; year</a:t>
            </a:r>
            <a:endParaRPr b="1" sz="2400">
              <a:solidFill>
                <a:srgbClr val="4B454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472" name="Google Shape;472;p14"/>
          <p:cNvGrpSpPr/>
          <p:nvPr/>
        </p:nvGrpSpPr>
        <p:grpSpPr>
          <a:xfrm>
            <a:off x="11458575" y="1826933"/>
            <a:ext cx="6829425" cy="8498166"/>
            <a:chOff x="0" y="-38100"/>
            <a:chExt cx="2408296" cy="2747433"/>
          </a:xfrm>
        </p:grpSpPr>
        <p:sp>
          <p:nvSpPr>
            <p:cNvPr id="473" name="Google Shape;473;p14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7E9EB"/>
            </a:solidFill>
            <a:ln>
              <a:noFill/>
            </a:ln>
          </p:spPr>
        </p:sp>
        <p:sp>
          <p:nvSpPr>
            <p:cNvPr id="474" name="Google Shape;474;p14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75" name="Google Shape;475;p14"/>
          <p:cNvSpPr/>
          <p:nvPr/>
        </p:nvSpPr>
        <p:spPr>
          <a:xfrm>
            <a:off x="12183385" y="2183368"/>
            <a:ext cx="496161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Customer Segmentation – Insight</a:t>
            </a:r>
            <a:endParaRPr/>
          </a:p>
        </p:txBody>
      </p:sp>
      <p:sp>
        <p:nvSpPr>
          <p:cNvPr id="476" name="Google Shape;476;p14"/>
          <p:cNvSpPr/>
          <p:nvPr/>
        </p:nvSpPr>
        <p:spPr>
          <a:xfrm>
            <a:off x="11661093" y="2703478"/>
            <a:ext cx="6424388" cy="7235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Cluster 0 </a:t>
            </a:r>
            <a:r>
              <a:rPr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→ consistently contributes the </a:t>
            </a:r>
            <a:r>
              <a:rPr b="1"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largest revenue</a:t>
            </a:r>
            <a:r>
              <a:rPr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with an upward trend after 2020. This indicates they are backbone customers.</a:t>
            </a:r>
            <a:endParaRPr/>
          </a:p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Cluster 1</a:t>
            </a:r>
            <a:r>
              <a:rPr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→ contributes the </a:t>
            </a:r>
            <a:r>
              <a:rPr b="1"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smallest </a:t>
            </a:r>
            <a:r>
              <a:rPr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amount, tends to be flat and shows no significant growth. They are considered low-value customers.</a:t>
            </a:r>
            <a:endParaRPr/>
          </a:p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Cluster 2</a:t>
            </a:r>
            <a:r>
              <a:rPr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→ despite having fewer customers, contributes significantly to revenue, even experiencing a </a:t>
            </a:r>
            <a:r>
              <a:rPr b="1"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sharp spike</a:t>
            </a:r>
            <a:r>
              <a:rPr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in mid-2019. It has high potential, but is also more volatile.</a:t>
            </a:r>
            <a:endParaRPr/>
          </a:p>
        </p:txBody>
      </p:sp>
      <p:sp>
        <p:nvSpPr>
          <p:cNvPr id="477" name="Google Shape;477;p14"/>
          <p:cNvSpPr/>
          <p:nvPr/>
        </p:nvSpPr>
        <p:spPr>
          <a:xfrm>
            <a:off x="7620000" y="5753100"/>
            <a:ext cx="533400" cy="381840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8" name="Google Shape;47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0248" y="4599567"/>
            <a:ext cx="10420350" cy="53391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3" name="Google Shape;483;p15"/>
          <p:cNvGrpSpPr/>
          <p:nvPr/>
        </p:nvGrpSpPr>
        <p:grpSpPr>
          <a:xfrm>
            <a:off x="0" y="-144661"/>
            <a:ext cx="9144000" cy="10431661"/>
            <a:chOff x="0" y="-38100"/>
            <a:chExt cx="2408296" cy="2747433"/>
          </a:xfrm>
        </p:grpSpPr>
        <p:sp>
          <p:nvSpPr>
            <p:cNvPr id="484" name="Google Shape;484;p15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7E9EB"/>
            </a:solidFill>
            <a:ln>
              <a:noFill/>
            </a:ln>
          </p:spPr>
        </p:sp>
        <p:sp>
          <p:nvSpPr>
            <p:cNvPr id="485" name="Google Shape;485;p15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86" name="Google Shape;486;p15"/>
          <p:cNvSpPr txBox="1"/>
          <p:nvPr/>
        </p:nvSpPr>
        <p:spPr>
          <a:xfrm>
            <a:off x="10046224" y="723097"/>
            <a:ext cx="7127351" cy="1202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0C4E50"/>
                </a:solidFill>
                <a:latin typeface="Corben"/>
                <a:ea typeface="Corben"/>
                <a:cs typeface="Corben"/>
                <a:sym typeface="Corben"/>
              </a:rPr>
              <a:t>Recommendations</a:t>
            </a:r>
            <a:endParaRPr/>
          </a:p>
        </p:txBody>
      </p:sp>
      <p:sp>
        <p:nvSpPr>
          <p:cNvPr id="487" name="Google Shape;487;p15"/>
          <p:cNvSpPr txBox="1"/>
          <p:nvPr/>
        </p:nvSpPr>
        <p:spPr>
          <a:xfrm>
            <a:off x="9821672" y="2245192"/>
            <a:ext cx="6759956" cy="32649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59079" lvl="1" marL="51816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4545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4B4545"/>
                </a:solidFill>
                <a:latin typeface="Open Sans"/>
                <a:ea typeface="Open Sans"/>
                <a:cs typeface="Open Sans"/>
                <a:sym typeface="Open Sans"/>
              </a:rPr>
              <a:t>⭐ </a:t>
            </a:r>
            <a:r>
              <a:rPr b="1" i="0" lang="en-US" sz="2400" u="none" cap="none" strike="noStrike">
                <a:solidFill>
                  <a:srgbClr val="4B4545"/>
                </a:solidFill>
                <a:latin typeface="Open Sans"/>
                <a:ea typeface="Open Sans"/>
                <a:cs typeface="Open Sans"/>
                <a:sym typeface="Open Sans"/>
              </a:rPr>
              <a:t>Retain VIP Customers (Clusters 0 &amp; 2)</a:t>
            </a:r>
            <a:r>
              <a:rPr b="0" i="0" lang="en-US" sz="2400" u="none" cap="none" strike="noStrike">
                <a:solidFill>
                  <a:srgbClr val="4B4545"/>
                </a:solidFill>
                <a:latin typeface="Open Sans"/>
                <a:ea typeface="Open Sans"/>
                <a:cs typeface="Open Sans"/>
                <a:sym typeface="Open Sans"/>
              </a:rPr>
              <a:t>: loyalty programs &amp; premium service.</a:t>
            </a:r>
            <a:endParaRPr/>
          </a:p>
          <a:p>
            <a:pPr indent="-259079" lvl="1" marL="51816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4545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4B4545"/>
                </a:solidFill>
                <a:latin typeface="Open Sans"/>
                <a:ea typeface="Open Sans"/>
                <a:cs typeface="Open Sans"/>
                <a:sym typeface="Open Sans"/>
              </a:rPr>
              <a:t>🔄 </a:t>
            </a:r>
            <a:r>
              <a:rPr b="1" i="0" lang="en-US" sz="2400" u="none" cap="none" strike="noStrike">
                <a:solidFill>
                  <a:srgbClr val="4B4545"/>
                </a:solidFill>
                <a:latin typeface="Open Sans"/>
                <a:ea typeface="Open Sans"/>
                <a:cs typeface="Open Sans"/>
                <a:sym typeface="Open Sans"/>
              </a:rPr>
              <a:t>Re-engage Cluster 1</a:t>
            </a:r>
            <a:r>
              <a:rPr b="0" i="0" lang="en-US" sz="2400" u="none" cap="none" strike="noStrike">
                <a:solidFill>
                  <a:srgbClr val="4B4545"/>
                </a:solidFill>
                <a:latin typeface="Open Sans"/>
                <a:ea typeface="Open Sans"/>
                <a:cs typeface="Open Sans"/>
                <a:sym typeface="Open Sans"/>
              </a:rPr>
              <a:t>: targeted promos, digital campaigns, trial offers.</a:t>
            </a:r>
            <a:endParaRPr/>
          </a:p>
          <a:p>
            <a:pPr indent="-259079" lvl="1" marL="51816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4545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4B4545"/>
                </a:solidFill>
                <a:latin typeface="Open Sans"/>
                <a:ea typeface="Open Sans"/>
                <a:cs typeface="Open Sans"/>
                <a:sym typeface="Open Sans"/>
              </a:rPr>
              <a:t>🌍 </a:t>
            </a:r>
            <a:r>
              <a:rPr b="1" i="0" lang="en-US" sz="2400" u="none" cap="none" strike="noStrike">
                <a:solidFill>
                  <a:srgbClr val="4B4545"/>
                </a:solidFill>
                <a:latin typeface="Open Sans"/>
                <a:ea typeface="Open Sans"/>
                <a:cs typeface="Open Sans"/>
                <a:sym typeface="Open Sans"/>
              </a:rPr>
              <a:t>Diversify products &amp; markets</a:t>
            </a:r>
            <a:r>
              <a:rPr b="0" i="0" lang="en-US" sz="2400" u="none" cap="none" strike="noStrike">
                <a:solidFill>
                  <a:srgbClr val="4B4545"/>
                </a:solidFill>
                <a:latin typeface="Open Sans"/>
                <a:ea typeface="Open Sans"/>
                <a:cs typeface="Open Sans"/>
                <a:sym typeface="Open Sans"/>
              </a:rPr>
              <a:t>: reduce stagnation risk.</a:t>
            </a:r>
            <a:endParaRPr/>
          </a:p>
        </p:txBody>
      </p:sp>
      <p:grpSp>
        <p:nvGrpSpPr>
          <p:cNvPr id="488" name="Google Shape;488;p15"/>
          <p:cNvGrpSpPr/>
          <p:nvPr/>
        </p:nvGrpSpPr>
        <p:grpSpPr>
          <a:xfrm>
            <a:off x="981075" y="1600227"/>
            <a:ext cx="0" cy="7032538"/>
            <a:chOff x="63500" y="0"/>
            <a:chExt cx="0" cy="9376718"/>
          </a:xfrm>
        </p:grpSpPr>
        <p:cxnSp>
          <p:nvCxnSpPr>
            <p:cNvPr id="489" name="Google Shape;489;p15"/>
            <p:cNvCxnSpPr/>
            <p:nvPr/>
          </p:nvCxnSpPr>
          <p:spPr>
            <a:xfrm>
              <a:off x="63500" y="2874121"/>
              <a:ext cx="0" cy="6502597"/>
            </a:xfrm>
            <a:prstGeom prst="straightConnector1">
              <a:avLst/>
            </a:prstGeom>
            <a:noFill/>
            <a:ln cap="rnd" cmpd="sng" w="127000">
              <a:solidFill>
                <a:srgbClr val="F2542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90" name="Google Shape;490;p15"/>
            <p:cNvCxnSpPr/>
            <p:nvPr/>
          </p:nvCxnSpPr>
          <p:spPr>
            <a:xfrm>
              <a:off x="63500" y="0"/>
              <a:ext cx="0" cy="1898345"/>
            </a:xfrm>
            <a:prstGeom prst="straightConnector1">
              <a:avLst/>
            </a:prstGeom>
            <a:noFill/>
            <a:ln cap="rnd" cmpd="sng" w="127000">
              <a:solidFill>
                <a:srgbClr val="F2542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491" name="Google Shape;491;p15"/>
          <p:cNvGrpSpPr/>
          <p:nvPr/>
        </p:nvGrpSpPr>
        <p:grpSpPr>
          <a:xfrm>
            <a:off x="17259300" y="-144661"/>
            <a:ext cx="1028700" cy="10431661"/>
            <a:chOff x="0" y="-38100"/>
            <a:chExt cx="270933" cy="2747433"/>
          </a:xfrm>
        </p:grpSpPr>
        <p:sp>
          <p:nvSpPr>
            <p:cNvPr id="492" name="Google Shape;492;p15"/>
            <p:cNvSpPr/>
            <p:nvPr/>
          </p:nvSpPr>
          <p:spPr>
            <a:xfrm>
              <a:off x="0" y="0"/>
              <a:ext cx="270933" cy="2709333"/>
            </a:xfrm>
            <a:custGeom>
              <a:rect b="b" l="l" r="r" t="t"/>
              <a:pathLst>
                <a:path extrusionOk="0" h="270933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1A3A6"/>
            </a:solidFill>
            <a:ln>
              <a:noFill/>
            </a:ln>
          </p:spPr>
        </p:sp>
        <p:sp>
          <p:nvSpPr>
            <p:cNvPr id="493" name="Google Shape;493;p15"/>
            <p:cNvSpPr txBox="1"/>
            <p:nvPr/>
          </p:nvSpPr>
          <p:spPr>
            <a:xfrm>
              <a:off x="0" y="-38100"/>
              <a:ext cx="270933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494" name="Google Shape;494;p15"/>
          <p:cNvCxnSpPr/>
          <p:nvPr/>
        </p:nvCxnSpPr>
        <p:spPr>
          <a:xfrm>
            <a:off x="17836053" y="4892858"/>
            <a:ext cx="0" cy="4876948"/>
          </a:xfrm>
          <a:prstGeom prst="straightConnector1">
            <a:avLst/>
          </a:prstGeom>
          <a:noFill/>
          <a:ln cap="rnd" cmpd="sng" w="123825">
            <a:solidFill>
              <a:srgbClr val="FFFFFF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495" name="Google Shape;495;p15"/>
          <p:cNvSpPr/>
          <p:nvPr/>
        </p:nvSpPr>
        <p:spPr>
          <a:xfrm>
            <a:off x="1347108" y="8509934"/>
            <a:ext cx="2948212" cy="748366"/>
          </a:xfrm>
          <a:custGeom>
            <a:rect b="b" l="l" r="r" t="t"/>
            <a:pathLst>
              <a:path extrusionOk="0" h="748366" w="2948212">
                <a:moveTo>
                  <a:pt x="0" y="0"/>
                </a:moveTo>
                <a:lnTo>
                  <a:pt x="2948212" y="0"/>
                </a:lnTo>
                <a:lnTo>
                  <a:pt x="2948212" y="748366"/>
                </a:lnTo>
                <a:lnTo>
                  <a:pt x="0" y="7483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96" name="Google Shape;496;p15"/>
          <p:cNvSpPr/>
          <p:nvPr/>
        </p:nvSpPr>
        <p:spPr>
          <a:xfrm>
            <a:off x="1347108" y="1028999"/>
            <a:ext cx="2948212" cy="748366"/>
          </a:xfrm>
          <a:custGeom>
            <a:rect b="b" l="l" r="r" t="t"/>
            <a:pathLst>
              <a:path extrusionOk="0" h="748366" w="2948212">
                <a:moveTo>
                  <a:pt x="0" y="0"/>
                </a:moveTo>
                <a:lnTo>
                  <a:pt x="2948212" y="0"/>
                </a:lnTo>
                <a:lnTo>
                  <a:pt x="2948212" y="748366"/>
                </a:lnTo>
                <a:lnTo>
                  <a:pt x="0" y="7483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97" name="Google Shape;497;p15"/>
          <p:cNvSpPr txBox="1"/>
          <p:nvPr/>
        </p:nvSpPr>
        <p:spPr>
          <a:xfrm>
            <a:off x="1066800" y="3568626"/>
            <a:ext cx="6759956" cy="32649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59079" lvl="1" marL="51816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4545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4B4545"/>
                </a:solidFill>
                <a:latin typeface="Open Sans"/>
                <a:ea typeface="Open Sans"/>
                <a:cs typeface="Open Sans"/>
                <a:sym typeface="Open Sans"/>
              </a:rPr>
              <a:t>📉 </a:t>
            </a:r>
            <a:r>
              <a:rPr b="1" i="0" lang="en-US" sz="2400" u="none" cap="none" strike="noStrike">
                <a:solidFill>
                  <a:srgbClr val="4B4545"/>
                </a:solidFill>
                <a:latin typeface="Open Sans"/>
                <a:ea typeface="Open Sans"/>
                <a:cs typeface="Open Sans"/>
                <a:sym typeface="Open Sans"/>
              </a:rPr>
              <a:t>Revenue declining since 2018</a:t>
            </a:r>
            <a:r>
              <a:rPr b="0" i="0" lang="en-US" sz="2400" u="none" cap="none" strike="noStrike">
                <a:solidFill>
                  <a:srgbClr val="4B4545"/>
                </a:solidFill>
                <a:latin typeface="Open Sans"/>
                <a:ea typeface="Open Sans"/>
                <a:cs typeface="Open Sans"/>
                <a:sym typeface="Open Sans"/>
              </a:rPr>
              <a:t> → needs action.</a:t>
            </a:r>
            <a:endParaRPr/>
          </a:p>
          <a:p>
            <a:pPr indent="-259079" lvl="1" marL="51816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4545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4B4545"/>
                </a:solidFill>
                <a:latin typeface="Open Sans"/>
                <a:ea typeface="Open Sans"/>
                <a:cs typeface="Open Sans"/>
                <a:sym typeface="Open Sans"/>
              </a:rPr>
              <a:t>🏥 </a:t>
            </a:r>
            <a:r>
              <a:rPr b="1" i="0" lang="en-US" sz="2400" u="none" cap="none" strike="noStrike">
                <a:solidFill>
                  <a:srgbClr val="4B4545"/>
                </a:solidFill>
                <a:latin typeface="Open Sans"/>
                <a:ea typeface="Open Sans"/>
                <a:cs typeface="Open Sans"/>
                <a:sym typeface="Open Sans"/>
              </a:rPr>
              <a:t>Highly dependent on VIP customers</a:t>
            </a:r>
            <a:r>
              <a:rPr b="0" i="0" lang="en-US" sz="2400" u="none" cap="none" strike="noStrike">
                <a:solidFill>
                  <a:srgbClr val="4B4545"/>
                </a:solidFill>
                <a:latin typeface="Open Sans"/>
                <a:ea typeface="Open Sans"/>
                <a:cs typeface="Open Sans"/>
                <a:sym typeface="Open Sans"/>
              </a:rPr>
              <a:t> → concentration risk.</a:t>
            </a:r>
            <a:endParaRPr/>
          </a:p>
          <a:p>
            <a:pPr indent="-259079" lvl="1" marL="51816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4545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4B4545"/>
                </a:solidFill>
                <a:latin typeface="Open Sans"/>
                <a:ea typeface="Open Sans"/>
                <a:cs typeface="Open Sans"/>
                <a:sym typeface="Open Sans"/>
              </a:rPr>
              <a:t>👥 </a:t>
            </a:r>
            <a:r>
              <a:rPr b="1" i="0" lang="en-US" sz="2400" u="none" cap="none" strike="noStrike">
                <a:solidFill>
                  <a:srgbClr val="4B4545"/>
                </a:solidFill>
                <a:latin typeface="Open Sans"/>
                <a:ea typeface="Open Sans"/>
                <a:cs typeface="Open Sans"/>
                <a:sym typeface="Open Sans"/>
              </a:rPr>
              <a:t>Cluster 0 &amp; 2 dominate</a:t>
            </a:r>
            <a:r>
              <a:rPr b="0" i="0" lang="en-US" sz="2400" u="none" cap="none" strike="noStrike">
                <a:solidFill>
                  <a:srgbClr val="4B4545"/>
                </a:solidFill>
                <a:latin typeface="Open Sans"/>
                <a:ea typeface="Open Sans"/>
                <a:cs typeface="Open Sans"/>
                <a:sym typeface="Open Sans"/>
              </a:rPr>
              <a:t>, Cluster 1 adds little value.</a:t>
            </a:r>
            <a:endParaRPr/>
          </a:p>
        </p:txBody>
      </p:sp>
      <p:sp>
        <p:nvSpPr>
          <p:cNvPr id="498" name="Google Shape;498;p15"/>
          <p:cNvSpPr txBox="1"/>
          <p:nvPr/>
        </p:nvSpPr>
        <p:spPr>
          <a:xfrm>
            <a:off x="1347108" y="2086798"/>
            <a:ext cx="7127351" cy="1248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>
                <a:solidFill>
                  <a:srgbClr val="0C4E50"/>
                </a:solidFill>
                <a:latin typeface="Corben"/>
                <a:ea typeface="Corben"/>
                <a:cs typeface="Corben"/>
                <a:sym typeface="Corben"/>
              </a:rPr>
              <a:t>Conclusions</a:t>
            </a:r>
            <a:endParaRPr sz="7200">
              <a:solidFill>
                <a:srgbClr val="0C4E50"/>
              </a:solidFill>
              <a:latin typeface="Corben"/>
              <a:ea typeface="Corben"/>
              <a:cs typeface="Corben"/>
              <a:sym typeface="Corbe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16"/>
          <p:cNvSpPr/>
          <p:nvPr/>
        </p:nvSpPr>
        <p:spPr>
          <a:xfrm>
            <a:off x="8748961" y="2035651"/>
            <a:ext cx="787036" cy="1251069"/>
          </a:xfrm>
          <a:custGeom>
            <a:rect b="b" l="l" r="r" t="t"/>
            <a:pathLst>
              <a:path extrusionOk="0" h="1251069" w="787036">
                <a:moveTo>
                  <a:pt x="0" y="0"/>
                </a:moveTo>
                <a:lnTo>
                  <a:pt x="787036" y="0"/>
                </a:lnTo>
                <a:lnTo>
                  <a:pt x="787036" y="1251069"/>
                </a:lnTo>
                <a:lnTo>
                  <a:pt x="0" y="12510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504" name="Google Shape;504;p16"/>
          <p:cNvGrpSpPr/>
          <p:nvPr/>
        </p:nvGrpSpPr>
        <p:grpSpPr>
          <a:xfrm>
            <a:off x="0" y="-144661"/>
            <a:ext cx="1028700" cy="10431661"/>
            <a:chOff x="0" y="-38100"/>
            <a:chExt cx="270933" cy="2747433"/>
          </a:xfrm>
        </p:grpSpPr>
        <p:sp>
          <p:nvSpPr>
            <p:cNvPr id="505" name="Google Shape;505;p16"/>
            <p:cNvSpPr/>
            <p:nvPr/>
          </p:nvSpPr>
          <p:spPr>
            <a:xfrm>
              <a:off x="0" y="0"/>
              <a:ext cx="270933" cy="2709333"/>
            </a:xfrm>
            <a:custGeom>
              <a:rect b="b" l="l" r="r" t="t"/>
              <a:pathLst>
                <a:path extrusionOk="0" h="270933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E7476"/>
            </a:solidFill>
            <a:ln>
              <a:noFill/>
            </a:ln>
          </p:spPr>
        </p:sp>
        <p:sp>
          <p:nvSpPr>
            <p:cNvPr id="506" name="Google Shape;506;p16"/>
            <p:cNvSpPr txBox="1"/>
            <p:nvPr/>
          </p:nvSpPr>
          <p:spPr>
            <a:xfrm>
              <a:off x="0" y="-38100"/>
              <a:ext cx="270933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07" name="Google Shape;507;p16"/>
          <p:cNvSpPr txBox="1"/>
          <p:nvPr/>
        </p:nvSpPr>
        <p:spPr>
          <a:xfrm>
            <a:off x="2600348" y="4309627"/>
            <a:ext cx="13087304" cy="26704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614">
                <a:solidFill>
                  <a:srgbClr val="4B4545"/>
                </a:solidFill>
                <a:latin typeface="Corben"/>
                <a:ea typeface="Corben"/>
                <a:cs typeface="Corben"/>
                <a:sym typeface="Corben"/>
              </a:rPr>
              <a:t>Thank You</a:t>
            </a:r>
            <a:endParaRPr/>
          </a:p>
        </p:txBody>
      </p:sp>
      <p:grpSp>
        <p:nvGrpSpPr>
          <p:cNvPr id="508" name="Google Shape;508;p16"/>
          <p:cNvGrpSpPr/>
          <p:nvPr/>
        </p:nvGrpSpPr>
        <p:grpSpPr>
          <a:xfrm>
            <a:off x="17256258" y="-144661"/>
            <a:ext cx="1028700" cy="10431661"/>
            <a:chOff x="0" y="-38100"/>
            <a:chExt cx="270933" cy="2747433"/>
          </a:xfrm>
        </p:grpSpPr>
        <p:sp>
          <p:nvSpPr>
            <p:cNvPr id="509" name="Google Shape;509;p16"/>
            <p:cNvSpPr/>
            <p:nvPr/>
          </p:nvSpPr>
          <p:spPr>
            <a:xfrm>
              <a:off x="0" y="0"/>
              <a:ext cx="270933" cy="2709333"/>
            </a:xfrm>
            <a:custGeom>
              <a:rect b="b" l="l" r="r" t="t"/>
              <a:pathLst>
                <a:path extrusionOk="0" h="270933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E7476"/>
            </a:solidFill>
            <a:ln>
              <a:noFill/>
            </a:ln>
          </p:spPr>
        </p:sp>
        <p:sp>
          <p:nvSpPr>
            <p:cNvPr id="510" name="Google Shape;510;p16"/>
            <p:cNvSpPr txBox="1"/>
            <p:nvPr/>
          </p:nvSpPr>
          <p:spPr>
            <a:xfrm>
              <a:off x="0" y="-38100"/>
              <a:ext cx="270933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511" name="Google Shape;511;p16"/>
          <p:cNvCxnSpPr/>
          <p:nvPr/>
        </p:nvCxnSpPr>
        <p:spPr>
          <a:xfrm>
            <a:off x="1828578" y="966788"/>
            <a:ext cx="4876948" cy="0"/>
          </a:xfrm>
          <a:prstGeom prst="straightConnector1">
            <a:avLst/>
          </a:prstGeom>
          <a:noFill/>
          <a:ln cap="rnd" cmpd="sng" w="123825">
            <a:solidFill>
              <a:srgbClr val="F25426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512" name="Google Shape;512;p16"/>
          <p:cNvCxnSpPr/>
          <p:nvPr/>
        </p:nvCxnSpPr>
        <p:spPr>
          <a:xfrm>
            <a:off x="11563397" y="9258300"/>
            <a:ext cx="4876948" cy="0"/>
          </a:xfrm>
          <a:prstGeom prst="straightConnector1">
            <a:avLst/>
          </a:prstGeom>
          <a:noFill/>
          <a:ln cap="rnd" cmpd="sng" w="123825">
            <a:solidFill>
              <a:srgbClr val="F25426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513" name="Google Shape;513;p16"/>
          <p:cNvSpPr txBox="1"/>
          <p:nvPr/>
        </p:nvSpPr>
        <p:spPr>
          <a:xfrm>
            <a:off x="7595968" y="3505082"/>
            <a:ext cx="3093022" cy="1099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4B4545"/>
                </a:solidFill>
                <a:latin typeface="Open Sans"/>
                <a:ea typeface="Open Sans"/>
                <a:cs typeface="Open Sans"/>
                <a:sym typeface="Open Sans"/>
              </a:rPr>
              <a:t>Pharmaceutical Company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8" name="Google Shape;51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3472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5851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8" name="Google Shape;528;p19"/>
          <p:cNvPicPr preferRelativeResize="0"/>
          <p:nvPr/>
        </p:nvPicPr>
        <p:blipFill rotWithShape="1">
          <a:blip r:embed="rId3">
            <a:alphaModFix/>
          </a:blip>
          <a:srcRect b="-1" l="208" r="0" t="558"/>
          <a:stretch/>
        </p:blipFill>
        <p:spPr>
          <a:xfrm>
            <a:off x="0" y="0"/>
            <a:ext cx="18355437" cy="1032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3" name="Google Shape;53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326246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8" name="Google Shape;53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65896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MyBook Hype AMD</dc:creator>
</cp:coreProperties>
</file>